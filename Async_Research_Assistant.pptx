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problem: three slow sources, one cited answer. Say who will speak for which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project is not the AI. It is making three slow network calls behave like one fast one, and keeping the program standing when one of them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dependency direction. The Protocol is the reason researcher.py and orchestrator.py could be written by two different people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seven steps once, slowly. Point out that steps 1-3 and 5-7 are strictly ordered, and only step 4 fans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on one slide. Trace it left to right, band by band. Band 3 is the only one where three things happen at the same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arrow on the left is the retry. Stress that the deadline wraps the retries, so three attempts must fit inside eight seconds — that is why the fetch backoff is 0.5s and not 1s.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Graceful degradation is the row about Wikipedia. Point out that four of the nine failures still produce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speaks to their own column. Commit counts come from git shortlog -sn on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Nigar presents this. The three asyncio primitives are the concurrency marks: gather with return_exceptions, per-task wait_for, and the Semaphore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Sahib presents this. The cache-aside pattern is the vocabulary word: check cache, fetch misses, store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Farid presents. The C++ example is the one to say out loud — it shows the decision prevents a silent wrong answer, not just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Farid presents. to_thread is the single most important line to be able to defend in a project graded on concurrency.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invented numbers. Say the shape of the result and fill the blanks once the benchmark script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bugs are worth the time: they show the tests were read and understood, not generated and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these. An examiner who finds a limitation you did not mention asks three more questions; one you did mention usually ends the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plain about the process failures. Examiners read the git history anyway, and owning it reads better than hoping they do not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working command, not on a list. Leave the four numbers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2B"/>
        </a:solidFill>
      </p:bgPr>
    </p:bg>
    <p:spTree>
      <p:nvGrpSpPr>
        <p:cNvPr id="1" name=""/>
        <p:cNvGrpSpPr/>
        <p:nvPr/>
      </p:nvGrpSpPr>
      <p:grpSpPr>
        <a:xfrm>
          <a:off x="0" y="0"/>
          <a:ext cx="0" cy="0"/>
          <a:chOff x="0" y="0"/>
          <a:chExt cx="0" cy="0"/>
        </a:xfrm>
      </p:grpSpPr>
      <p:sp>
        <p:nvSpPr>
          <p:cNvPr id="2" name="Text 0"/>
          <p:cNvSpPr txBox="1"/>
          <p:nvPr/>
        </p:nvSpPr>
        <p:spPr>
          <a:xfrm>
            <a:off x="566928" y="1874520"/>
            <a:ext cx="10058400" cy="274320"/>
          </a:xfrm>
          <a:prstGeom prst="rect">
            <a:avLst/>
          </a:prstGeom>
          <a:noFill/>
          <a:ln/>
        </p:spPr>
        <p:txBody>
          <a:bodyPr wrap="square" lIns="0" tIns="0" rIns="0" bIns="0" rtlCol="0" anchor="ctr"/>
          <a:lstStyle/>
          <a:p>
            <a:pPr indent="0" marL="0">
              <a:buNone/>
            </a:pPr>
            <a:r>
              <a:rPr lang="en-US" sz="1200" spc="200" kern="0" dirty="0">
                <a:solidFill>
                  <a:srgbClr val="02C39A"/>
                </a:solidFill>
                <a:latin typeface="Courier New" pitchFamily="34" charset="0"/>
                <a:ea typeface="Courier New" pitchFamily="34" charset="-122"/>
                <a:cs typeface="Courier New" pitchFamily="34" charset="-120"/>
              </a:rPr>
              <a:t>AI-ENG-110  ·  TOPIC 4</a:t>
            </a:r>
            <a:endParaRPr lang="en-US" sz="1200" dirty="0"/>
          </a:p>
        </p:txBody>
      </p:sp>
      <p:sp>
        <p:nvSpPr>
          <p:cNvPr id="3" name="Text 1"/>
          <p:cNvSpPr txBox="1"/>
          <p:nvPr/>
        </p:nvSpPr>
        <p:spPr>
          <a:xfrm>
            <a:off x="566928" y="2240280"/>
            <a:ext cx="1060704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Async Research Assistant</a:t>
            </a:r>
            <a:endParaRPr lang="en-US" sz="5200" dirty="0"/>
          </a:p>
        </p:txBody>
      </p:sp>
      <p:sp>
        <p:nvSpPr>
          <p:cNvPr id="4" name="Text 2"/>
          <p:cNvSpPr txBox="1"/>
          <p:nvPr/>
        </p:nvSpPr>
        <p:spPr>
          <a:xfrm>
            <a:off x="566928" y="3200400"/>
            <a:ext cx="10058400" cy="365760"/>
          </a:xfrm>
          <a:prstGeom prst="rect">
            <a:avLst/>
          </a:prstGeom>
          <a:noFill/>
          <a:ln/>
        </p:spPr>
        <p:txBody>
          <a:bodyPr wrap="square" lIns="0" tIns="0" rIns="0" bIns="0" rtlCol="0" anchor="ctr"/>
          <a:lstStyle/>
          <a:p>
            <a:pPr indent="0" marL="0">
              <a:buNone/>
            </a:pPr>
            <a:r>
              <a:rPr lang="en-US" sz="1900" i="1" dirty="0">
                <a:solidFill>
                  <a:srgbClr val="BBD4D4"/>
                </a:solidFill>
                <a:latin typeface="Cambria" pitchFamily="34" charset="0"/>
                <a:ea typeface="Cambria" pitchFamily="34" charset="-122"/>
                <a:cs typeface="Cambria" pitchFamily="34" charset="-120"/>
              </a:rPr>
              <a:t>One question · three sources fetched at once · one cited answer</a:t>
            </a:r>
            <a:endParaRPr lang="en-US" sz="1900" dirty="0"/>
          </a:p>
        </p:txBody>
      </p:sp>
      <p:sp>
        <p:nvSpPr>
          <p:cNvPr id="5" name="Shape 3"/>
          <p:cNvSpPr/>
          <p:nvPr/>
        </p:nvSpPr>
        <p:spPr>
          <a:xfrm>
            <a:off x="566928" y="4206240"/>
            <a:ext cx="3474720" cy="1005840"/>
          </a:xfrm>
          <a:prstGeom prst="roundRect">
            <a:avLst>
              <a:gd name="adj" fmla="val 5455"/>
            </a:avLst>
          </a:prstGeom>
          <a:solidFill>
            <a:srgbClr val="17343C"/>
          </a:solidFill>
          <a:ln w="9525">
            <a:solidFill>
              <a:srgbClr val="2A4A53"/>
            </a:solidFill>
            <a:prstDash val="solid"/>
          </a:ln>
        </p:spPr>
      </p:sp>
      <p:sp>
        <p:nvSpPr>
          <p:cNvPr id="6" name="Text 4"/>
          <p:cNvSpPr txBox="1"/>
          <p:nvPr/>
        </p:nvSpPr>
        <p:spPr>
          <a:xfrm>
            <a:off x="795528" y="4370832"/>
            <a:ext cx="30175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Nigar Alimammadova</a:t>
            </a:r>
            <a:endParaRPr lang="en-US" sz="1400" dirty="0"/>
          </a:p>
        </p:txBody>
      </p:sp>
      <p:sp>
        <p:nvSpPr>
          <p:cNvPr id="7" name="Text 5"/>
          <p:cNvSpPr txBox="1"/>
          <p:nvPr/>
        </p:nvSpPr>
        <p:spPr>
          <a:xfrm>
            <a:off x="795528" y="4681728"/>
            <a:ext cx="3063240" cy="411480"/>
          </a:xfrm>
          <a:prstGeom prst="rect">
            <a:avLst/>
          </a:prstGeom>
          <a:noFill/>
          <a:ln/>
        </p:spPr>
        <p:txBody>
          <a:bodyPr wrap="square" lIns="0" tIns="0" rIns="0" bIns="0" rtlCol="0" anchor="ctr"/>
          <a:lstStyle/>
          <a:p>
            <a:pPr indent="0" marL="0">
              <a:buNone/>
            </a:pPr>
            <a:r>
              <a:rPr lang="en-US" sz="950" dirty="0">
                <a:solidFill>
                  <a:srgbClr val="9FBCBC"/>
                </a:solidFill>
                <a:latin typeface="Courier New" pitchFamily="34" charset="0"/>
                <a:ea typeface="Courier New" pitchFamily="34" charset="-122"/>
                <a:cs typeface="Courier New" pitchFamily="34" charset="-120"/>
              </a:rPr>
              <a:t>config · models · orchestrator · Docker</a:t>
            </a:r>
            <a:endParaRPr lang="en-US" sz="950" dirty="0"/>
          </a:p>
        </p:txBody>
      </p:sp>
      <p:sp>
        <p:nvSpPr>
          <p:cNvPr id="8" name="Shape 6"/>
          <p:cNvSpPr/>
          <p:nvPr/>
        </p:nvSpPr>
        <p:spPr>
          <a:xfrm>
            <a:off x="4270248" y="4206240"/>
            <a:ext cx="3474720" cy="1005840"/>
          </a:xfrm>
          <a:prstGeom prst="roundRect">
            <a:avLst>
              <a:gd name="adj" fmla="val 5455"/>
            </a:avLst>
          </a:prstGeom>
          <a:solidFill>
            <a:srgbClr val="17343C"/>
          </a:solidFill>
          <a:ln w="9525">
            <a:solidFill>
              <a:srgbClr val="2A4A53"/>
            </a:solidFill>
            <a:prstDash val="solid"/>
          </a:ln>
        </p:spPr>
      </p:sp>
      <p:sp>
        <p:nvSpPr>
          <p:cNvPr id="9" name="Text 7"/>
          <p:cNvSpPr txBox="1"/>
          <p:nvPr/>
        </p:nvSpPr>
        <p:spPr>
          <a:xfrm>
            <a:off x="4498848" y="4370832"/>
            <a:ext cx="30175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Sahib Aliyev</a:t>
            </a:r>
            <a:endParaRPr lang="en-US" sz="1400" dirty="0"/>
          </a:p>
        </p:txBody>
      </p:sp>
      <p:sp>
        <p:nvSpPr>
          <p:cNvPr id="10" name="Text 8"/>
          <p:cNvSpPr txBox="1"/>
          <p:nvPr/>
        </p:nvSpPr>
        <p:spPr>
          <a:xfrm>
            <a:off x="4498848" y="4681728"/>
            <a:ext cx="3063240" cy="411480"/>
          </a:xfrm>
          <a:prstGeom prst="rect">
            <a:avLst/>
          </a:prstGeom>
          <a:noFill/>
          <a:ln/>
        </p:spPr>
        <p:txBody>
          <a:bodyPr wrap="square" lIns="0" tIns="0" rIns="0" bIns="0" rtlCol="0" anchor="ctr"/>
          <a:lstStyle/>
          <a:p>
            <a:pPr indent="0" marL="0">
              <a:buNone/>
            </a:pPr>
            <a:r>
              <a:rPr lang="en-US" sz="950" dirty="0">
                <a:solidFill>
                  <a:srgbClr val="9FBCBC"/>
                </a:solidFill>
                <a:latin typeface="Courier New" pitchFamily="34" charset="0"/>
                <a:ea typeface="Courier New" pitchFamily="34" charset="-122"/>
                <a:cs typeface="Courier New" pitchFamily="34" charset="-120"/>
              </a:rPr>
              <a:t>cache service · shared HTTP client · docs</a:t>
            </a:r>
            <a:endParaRPr lang="en-US" sz="950" dirty="0"/>
          </a:p>
        </p:txBody>
      </p:sp>
      <p:sp>
        <p:nvSpPr>
          <p:cNvPr id="11" name="Shape 9"/>
          <p:cNvSpPr/>
          <p:nvPr/>
        </p:nvSpPr>
        <p:spPr>
          <a:xfrm>
            <a:off x="7973568" y="4206240"/>
            <a:ext cx="3474720" cy="1005840"/>
          </a:xfrm>
          <a:prstGeom prst="roundRect">
            <a:avLst>
              <a:gd name="adj" fmla="val 5455"/>
            </a:avLst>
          </a:prstGeom>
          <a:solidFill>
            <a:srgbClr val="17343C"/>
          </a:solidFill>
          <a:ln w="9525">
            <a:solidFill>
              <a:srgbClr val="2A4A53"/>
            </a:solidFill>
            <a:prstDash val="solid"/>
          </a:ln>
        </p:spPr>
      </p:sp>
      <p:sp>
        <p:nvSpPr>
          <p:cNvPr id="12" name="Text 10"/>
          <p:cNvSpPr txBox="1"/>
          <p:nvPr/>
        </p:nvSpPr>
        <p:spPr>
          <a:xfrm>
            <a:off x="8202168" y="4370832"/>
            <a:ext cx="30175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Farid Dilaverli</a:t>
            </a:r>
            <a:endParaRPr lang="en-US" sz="1400" dirty="0"/>
          </a:p>
        </p:txBody>
      </p:sp>
      <p:sp>
        <p:nvSpPr>
          <p:cNvPr id="13" name="Text 11"/>
          <p:cNvSpPr txBox="1"/>
          <p:nvPr/>
        </p:nvSpPr>
        <p:spPr>
          <a:xfrm>
            <a:off x="8202168" y="4681728"/>
            <a:ext cx="3063240" cy="411480"/>
          </a:xfrm>
          <a:prstGeom prst="rect">
            <a:avLst/>
          </a:prstGeom>
          <a:noFill/>
          <a:ln/>
        </p:spPr>
        <p:txBody>
          <a:bodyPr wrap="square" lIns="0" tIns="0" rIns="0" bIns="0" rtlCol="0" anchor="ctr"/>
          <a:lstStyle/>
          <a:p>
            <a:pPr indent="0" marL="0">
              <a:buNone/>
            </a:pPr>
            <a:r>
              <a:rPr lang="en-US" sz="950" dirty="0">
                <a:solidFill>
                  <a:srgbClr val="9FBCBC"/>
                </a:solidFill>
                <a:latin typeface="Courier New" pitchFamily="34" charset="0"/>
                <a:ea typeface="Courier New" pitchFamily="34" charset="-122"/>
                <a:cs typeface="Courier New" pitchFamily="34" charset="-120"/>
              </a:rPr>
              <a:t>cache store · retries · workflow · CLI</a:t>
            </a:r>
            <a:endParaRPr lang="en-US" sz="950" dirty="0"/>
          </a:p>
        </p:txBody>
      </p:sp>
      <p:sp>
        <p:nvSpPr>
          <p:cNvPr id="14" name="Text 12"/>
          <p:cNvSpPr txBox="1"/>
          <p:nvPr/>
        </p:nvSpPr>
        <p:spPr>
          <a:xfrm>
            <a:off x="566928" y="5989320"/>
            <a:ext cx="10058400" cy="274320"/>
          </a:xfrm>
          <a:prstGeom prst="rect">
            <a:avLst/>
          </a:prstGeom>
          <a:noFill/>
          <a:ln/>
        </p:spPr>
        <p:txBody>
          <a:bodyPr wrap="square" lIns="0" tIns="0" rIns="0" bIns="0" rtlCol="0" anchor="ctr"/>
          <a:lstStyle/>
          <a:p>
            <a:pPr indent="0" marL="0">
              <a:buNone/>
            </a:pPr>
            <a:r>
              <a:rPr lang="en-US" sz="1100" dirty="0">
                <a:solidFill>
                  <a:srgbClr val="7FA0A0"/>
                </a:solidFill>
                <a:latin typeface="Calibri" pitchFamily="34" charset="0"/>
                <a:ea typeface="Calibri" pitchFamily="34" charset="-122"/>
                <a:cs typeface="Calibri" pitchFamily="34" charset="-120"/>
              </a:rPr>
              <a:t>Team Researches   ·   github.com/nigar001/Research_Assistant_project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THE PROBLEM</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Three slow sources, one answer</a:t>
            </a:r>
            <a:endParaRPr lang="en-US" sz="3400" dirty="0"/>
          </a:p>
        </p:txBody>
      </p:sp>
      <p:sp>
        <p:nvSpPr>
          <p:cNvPr id="4" name="Text 2"/>
          <p:cNvSpPr txBox="1"/>
          <p:nvPr/>
        </p:nvSpPr>
        <p:spPr>
          <a:xfrm>
            <a:off x="566928" y="1481328"/>
            <a:ext cx="5852160" cy="1005840"/>
          </a:xfrm>
          <a:prstGeom prst="rect">
            <a:avLst/>
          </a:prstGeom>
          <a:noFill/>
          <a:ln/>
        </p:spPr>
        <p:txBody>
          <a:bodyPr wrap="square" lIns="0" tIns="0" rIns="0" bIns="0" rtlCol="0" anchor="ctr"/>
          <a:lstStyle/>
          <a:p>
            <a:pPr indent="0" marL="0">
              <a:lnSpc>
                <a:spcPts val="2200"/>
              </a:lnSpc>
              <a:buNone/>
            </a:pPr>
            <a:r>
              <a:rPr lang="en-US" sz="1500" dirty="0">
                <a:solidFill>
                  <a:srgbClr val="10262B"/>
                </a:solidFill>
                <a:latin typeface="Calibri" pitchFamily="34" charset="0"/>
                <a:ea typeface="Calibri" pitchFamily="34" charset="-122"/>
                <a:cs typeface="Calibri" pitchFamily="34" charset="-120"/>
              </a:rPr>
              <a:t>A research question needs more than one source. Wikipedia, arXiv and a web search each take roughly a second — asking them one after another wastes most of that time waiting.</a:t>
            </a:r>
            <a:endParaRPr lang="en-US" sz="1500" dirty="0"/>
          </a:p>
        </p:txBody>
      </p:sp>
      <p:sp>
        <p:nvSpPr>
          <p:cNvPr id="5" name="Text 3"/>
          <p:cNvSpPr txBox="1"/>
          <p:nvPr/>
        </p:nvSpPr>
        <p:spPr>
          <a:xfrm>
            <a:off x="566928" y="2560320"/>
            <a:ext cx="5852160" cy="731520"/>
          </a:xfrm>
          <a:prstGeom prst="rect">
            <a:avLst/>
          </a:prstGeom>
          <a:noFill/>
          <a:ln/>
        </p:spPr>
        <p:txBody>
          <a:bodyPr wrap="square" lIns="0" tIns="0" rIns="0" bIns="0" rtlCol="0" anchor="ctr"/>
          <a:lstStyle/>
          <a:p>
            <a:pPr indent="0" marL="0">
              <a:lnSpc>
                <a:spcPts val="2200"/>
              </a:lnSpc>
              <a:buNone/>
            </a:pPr>
            <a:r>
              <a:rPr lang="en-US" sz="1500" dirty="0">
                <a:solidFill>
                  <a:srgbClr val="10262B"/>
                </a:solidFill>
                <a:latin typeface="Calibri" pitchFamily="34" charset="0"/>
                <a:ea typeface="Calibri" pitchFamily="34" charset="-122"/>
                <a:cs typeface="Calibri" pitchFamily="34" charset="-120"/>
              </a:rPr>
              <a:t>The AI layer was given to us and may not be edited. We built the entire software-engineering layer around it.</a:t>
            </a:r>
            <a:endParaRPr lang="en-US" sz="1500" dirty="0"/>
          </a:p>
        </p:txBody>
      </p:sp>
      <p:sp>
        <p:nvSpPr>
          <p:cNvPr id="6" name="Shape 4"/>
          <p:cNvSpPr/>
          <p:nvPr/>
        </p:nvSpPr>
        <p:spPr>
          <a:xfrm>
            <a:off x="566928" y="3429000"/>
            <a:ext cx="5852160" cy="1874520"/>
          </a:xfrm>
          <a:prstGeom prst="roundRect">
            <a:avLst>
              <a:gd name="adj" fmla="val 2927"/>
            </a:avLst>
          </a:prstGeom>
          <a:solidFill>
            <a:srgbClr val="10262B"/>
          </a:solidFill>
          <a:ln w="9525">
            <a:solidFill>
              <a:srgbClr val="D7E2E2"/>
            </a:solidFill>
            <a:prstDash val="solid"/>
          </a:ln>
        </p:spPr>
      </p:sp>
      <p:sp>
        <p:nvSpPr>
          <p:cNvPr id="7" name="Text 5"/>
          <p:cNvSpPr txBox="1"/>
          <p:nvPr/>
        </p:nvSpPr>
        <p:spPr>
          <a:xfrm>
            <a:off x="841248" y="3611880"/>
            <a:ext cx="5303520" cy="228600"/>
          </a:xfrm>
          <a:prstGeom prst="rect">
            <a:avLst/>
          </a:prstGeom>
          <a:noFill/>
          <a:ln/>
        </p:spPr>
        <p:txBody>
          <a:bodyPr wrap="square" lIns="0" tIns="0" rIns="0" bIns="0" rtlCol="0" anchor="ctr"/>
          <a:lstStyle/>
          <a:p>
            <a:pPr indent="0" marL="0">
              <a:buNone/>
            </a:pPr>
            <a:r>
              <a:rPr lang="en-US" sz="950" spc="150" kern="0" dirty="0">
                <a:solidFill>
                  <a:srgbClr val="02C39A"/>
                </a:solidFill>
                <a:latin typeface="Courier New" pitchFamily="34" charset="0"/>
                <a:ea typeface="Courier New" pitchFamily="34" charset="-122"/>
                <a:cs typeface="Courier New" pitchFamily="34" charset="-120"/>
              </a:rPr>
              <a:t>THE COMMAND WE MUST SUPPORT</a:t>
            </a:r>
            <a:endParaRPr lang="en-US" sz="950" dirty="0"/>
          </a:p>
        </p:txBody>
      </p:sp>
      <p:sp>
        <p:nvSpPr>
          <p:cNvPr id="8" name="Text 6"/>
          <p:cNvSpPr txBox="1"/>
          <p:nvPr/>
        </p:nvSpPr>
        <p:spPr>
          <a:xfrm>
            <a:off x="841248" y="3931920"/>
            <a:ext cx="5394960" cy="1188720"/>
          </a:xfrm>
          <a:prstGeom prst="rect">
            <a:avLst/>
          </a:prstGeom>
          <a:noFill/>
          <a:ln/>
        </p:spPr>
        <p:txBody>
          <a:bodyPr wrap="square" lIns="0" tIns="0" rIns="0" bIns="0" rtlCol="0" anchor="ctr"/>
          <a:lstStyle/>
          <a:p>
            <a:pPr indent="0" marL="0">
              <a:lnSpc>
                <a:spcPts val="2000"/>
              </a:lnSpc>
              <a:buNone/>
            </a:pPr>
            <a:r>
              <a:rPr lang="en-US" sz="1200" dirty="0">
                <a:solidFill>
                  <a:srgbClr val="FFFFFF"/>
                </a:solidFill>
                <a:latin typeface="Courier New" pitchFamily="34" charset="0"/>
                <a:ea typeface="Courier New" pitchFamily="34" charset="-122"/>
                <a:cs typeface="Courier New" pitchFamily="34" charset="-120"/>
              </a:rPr>
              <a:t>python -m researcher ask "What is photosynthesis?"</a:t>
            </a:r>
            <a:endParaRPr lang="en-US" sz="1200" dirty="0"/>
          </a:p>
          <a:p>
            <a:pPr indent="0" marL="0">
              <a:lnSpc>
                <a:spcPts val="2000"/>
              </a:lnSpc>
              <a:buNone/>
            </a:pPr>
            <a:r>
              <a:rPr lang="en-US" sz="1200" dirty="0">
                <a:solidFill>
                  <a:srgbClr val="FFFFFF"/>
                </a:solidFill>
                <a:latin typeface="Courier New" pitchFamily="34" charset="0"/>
                <a:ea typeface="Courier New" pitchFamily="34" charset="-122"/>
                <a:cs typeface="Courier New" pitchFamily="34" charset="-120"/>
              </a:rPr>
              <a:t>   --sources wiki,arxiv</a:t>
            </a:r>
            <a:endParaRPr lang="en-US" sz="1200" dirty="0"/>
          </a:p>
          <a:p>
            <a:pPr indent="0" marL="0">
              <a:lnSpc>
                <a:spcPts val="2000"/>
              </a:lnSpc>
              <a:buNone/>
            </a:pPr>
            <a:r>
              <a:rPr lang="en-US" sz="1200" dirty="0">
                <a:solidFill>
                  <a:srgbClr val="FFFFFF"/>
                </a:solidFill>
                <a:latin typeface="Courier New" pitchFamily="34" charset="0"/>
                <a:ea typeface="Courier New" pitchFamily="34" charset="-122"/>
                <a:cs typeface="Courier New" pitchFamily="34" charset="-120"/>
              </a:rPr>
              <a:t>   --no-cache</a:t>
            </a:r>
            <a:endParaRPr lang="en-US" sz="1200" dirty="0"/>
          </a:p>
        </p:txBody>
      </p:sp>
      <p:sp>
        <p:nvSpPr>
          <p:cNvPr id="9" name="Text 7"/>
          <p:cNvSpPr txBox="1"/>
          <p:nvPr/>
        </p:nvSpPr>
        <p:spPr>
          <a:xfrm>
            <a:off x="6766560" y="1481328"/>
            <a:ext cx="4846320" cy="228600"/>
          </a:xfrm>
          <a:prstGeom prst="rect">
            <a:avLst/>
          </a:prstGeom>
          <a:noFill/>
          <a:ln/>
        </p:spPr>
        <p:txBody>
          <a:bodyPr wrap="square" lIns="0" tIns="0" rIns="0" bIns="0" rtlCol="0" anchor="ctr"/>
          <a:lstStyle/>
          <a:p>
            <a:pPr indent="0" marL="0">
              <a:buNone/>
            </a:pPr>
            <a:r>
              <a:rPr lang="en-US" sz="950" spc="150" kern="0" dirty="0">
                <a:solidFill>
                  <a:srgbClr val="028090"/>
                </a:solidFill>
                <a:latin typeface="Courier New" pitchFamily="34" charset="0"/>
                <a:ea typeface="Courier New" pitchFamily="34" charset="-122"/>
                <a:cs typeface="Courier New" pitchFamily="34" charset="-120"/>
              </a:rPr>
              <a:t>WHAT WE BUILT</a:t>
            </a:r>
            <a:endParaRPr lang="en-US" sz="950" dirty="0"/>
          </a:p>
        </p:txBody>
      </p:sp>
      <p:sp>
        <p:nvSpPr>
          <p:cNvPr id="10" name="Shape 8"/>
          <p:cNvSpPr/>
          <p:nvPr/>
        </p:nvSpPr>
        <p:spPr>
          <a:xfrm>
            <a:off x="6766560" y="1810512"/>
            <a:ext cx="4855464" cy="621792"/>
          </a:xfrm>
          <a:prstGeom prst="roundRect">
            <a:avLst>
              <a:gd name="adj" fmla="val 8824"/>
            </a:avLst>
          </a:prstGeom>
          <a:solidFill>
            <a:srgbClr val="EEF4F4"/>
          </a:solidFill>
          <a:ln w="9525">
            <a:solidFill>
              <a:srgbClr val="D7E2E2"/>
            </a:solidFill>
            <a:prstDash val="solid"/>
          </a:ln>
        </p:spPr>
      </p:sp>
      <p:sp>
        <p:nvSpPr>
          <p:cNvPr id="11" name="Shape 9"/>
          <p:cNvSpPr/>
          <p:nvPr/>
        </p:nvSpPr>
        <p:spPr>
          <a:xfrm>
            <a:off x="6967728" y="1956816"/>
            <a:ext cx="329184" cy="329184"/>
          </a:xfrm>
          <a:prstGeom prst="ellipse">
            <a:avLst/>
          </a:prstGeom>
          <a:solidFill>
            <a:srgbClr val="00A896"/>
          </a:solidFill>
          <a:ln/>
        </p:spPr>
      </p:sp>
      <p:sp>
        <p:nvSpPr>
          <p:cNvPr id="12" name="Text 10"/>
          <p:cNvSpPr txBox="1"/>
          <p:nvPr/>
        </p:nvSpPr>
        <p:spPr>
          <a:xfrm>
            <a:off x="7424928" y="1883664"/>
            <a:ext cx="1737360" cy="256032"/>
          </a:xfrm>
          <a:prstGeom prst="rect">
            <a:avLst/>
          </a:prstGeom>
          <a:noFill/>
          <a:ln/>
        </p:spPr>
        <p:txBody>
          <a:bodyPr wrap="square" lIns="0" tIns="0" rIns="0" bIns="0" rtlCol="0" anchor="ctr"/>
          <a:lstStyle/>
          <a:p>
            <a:pPr indent="0" marL="0">
              <a:buNone/>
            </a:pPr>
            <a:r>
              <a:rPr lang="en-US" sz="1300" b="1" dirty="0">
                <a:solidFill>
                  <a:srgbClr val="10262B"/>
                </a:solidFill>
                <a:latin typeface="Calibri" pitchFamily="34" charset="0"/>
                <a:ea typeface="Calibri" pitchFamily="34" charset="-122"/>
                <a:cs typeface="Calibri" pitchFamily="34" charset="-120"/>
              </a:rPr>
              <a:t>Concurrency</a:t>
            </a:r>
            <a:endParaRPr lang="en-US" sz="1300" dirty="0"/>
          </a:p>
        </p:txBody>
      </p:sp>
      <p:sp>
        <p:nvSpPr>
          <p:cNvPr id="13" name="Text 11"/>
          <p:cNvSpPr txBox="1"/>
          <p:nvPr/>
        </p:nvSpPr>
        <p:spPr>
          <a:xfrm>
            <a:off x="7424928" y="2130552"/>
            <a:ext cx="4023360" cy="256032"/>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three fetches at once, bounded</a:t>
            </a:r>
            <a:endParaRPr lang="en-US" sz="1100" dirty="0"/>
          </a:p>
        </p:txBody>
      </p:sp>
      <p:sp>
        <p:nvSpPr>
          <p:cNvPr id="14" name="Shape 12"/>
          <p:cNvSpPr/>
          <p:nvPr/>
        </p:nvSpPr>
        <p:spPr>
          <a:xfrm>
            <a:off x="6766560" y="2542032"/>
            <a:ext cx="4855464" cy="621792"/>
          </a:xfrm>
          <a:prstGeom prst="roundRect">
            <a:avLst>
              <a:gd name="adj" fmla="val 8824"/>
            </a:avLst>
          </a:prstGeom>
          <a:solidFill>
            <a:srgbClr val="EEF4F4"/>
          </a:solidFill>
          <a:ln w="9525">
            <a:solidFill>
              <a:srgbClr val="D7E2E2"/>
            </a:solidFill>
            <a:prstDash val="solid"/>
          </a:ln>
        </p:spPr>
      </p:sp>
      <p:sp>
        <p:nvSpPr>
          <p:cNvPr id="15" name="Shape 13"/>
          <p:cNvSpPr/>
          <p:nvPr/>
        </p:nvSpPr>
        <p:spPr>
          <a:xfrm>
            <a:off x="6967728" y="2688336"/>
            <a:ext cx="329184" cy="329184"/>
          </a:xfrm>
          <a:prstGeom prst="ellipse">
            <a:avLst/>
          </a:prstGeom>
          <a:solidFill>
            <a:srgbClr val="00A896"/>
          </a:solidFill>
          <a:ln/>
        </p:spPr>
      </p:sp>
      <p:sp>
        <p:nvSpPr>
          <p:cNvPr id="16" name="Text 14"/>
          <p:cNvSpPr txBox="1"/>
          <p:nvPr/>
        </p:nvSpPr>
        <p:spPr>
          <a:xfrm>
            <a:off x="7424928" y="2615184"/>
            <a:ext cx="1737360" cy="256032"/>
          </a:xfrm>
          <a:prstGeom prst="rect">
            <a:avLst/>
          </a:prstGeom>
          <a:noFill/>
          <a:ln/>
        </p:spPr>
        <p:txBody>
          <a:bodyPr wrap="square" lIns="0" tIns="0" rIns="0" bIns="0" rtlCol="0" anchor="ctr"/>
          <a:lstStyle/>
          <a:p>
            <a:pPr indent="0" marL="0">
              <a:buNone/>
            </a:pPr>
            <a:r>
              <a:rPr lang="en-US" sz="1300" b="1" dirty="0">
                <a:solidFill>
                  <a:srgbClr val="10262B"/>
                </a:solidFill>
                <a:latin typeface="Calibri" pitchFamily="34" charset="0"/>
                <a:ea typeface="Calibri" pitchFamily="34" charset="-122"/>
                <a:cs typeface="Calibri" pitchFamily="34" charset="-120"/>
              </a:rPr>
              <a:t>Caching</a:t>
            </a:r>
            <a:endParaRPr lang="en-US" sz="1300" dirty="0"/>
          </a:p>
        </p:txBody>
      </p:sp>
      <p:sp>
        <p:nvSpPr>
          <p:cNvPr id="17" name="Text 15"/>
          <p:cNvSpPr txBox="1"/>
          <p:nvPr/>
        </p:nvSpPr>
        <p:spPr>
          <a:xfrm>
            <a:off x="7424928" y="2862072"/>
            <a:ext cx="4023360" cy="256032"/>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same question twice = no network</a:t>
            </a:r>
            <a:endParaRPr lang="en-US" sz="1100" dirty="0"/>
          </a:p>
        </p:txBody>
      </p:sp>
      <p:sp>
        <p:nvSpPr>
          <p:cNvPr id="18" name="Shape 16"/>
          <p:cNvSpPr/>
          <p:nvPr/>
        </p:nvSpPr>
        <p:spPr>
          <a:xfrm>
            <a:off x="6766560" y="3273552"/>
            <a:ext cx="4855464" cy="621792"/>
          </a:xfrm>
          <a:prstGeom prst="roundRect">
            <a:avLst>
              <a:gd name="adj" fmla="val 8824"/>
            </a:avLst>
          </a:prstGeom>
          <a:solidFill>
            <a:srgbClr val="EEF4F4"/>
          </a:solidFill>
          <a:ln w="9525">
            <a:solidFill>
              <a:srgbClr val="D7E2E2"/>
            </a:solidFill>
            <a:prstDash val="solid"/>
          </a:ln>
        </p:spPr>
      </p:sp>
      <p:sp>
        <p:nvSpPr>
          <p:cNvPr id="19" name="Shape 17"/>
          <p:cNvSpPr/>
          <p:nvPr/>
        </p:nvSpPr>
        <p:spPr>
          <a:xfrm>
            <a:off x="6967728" y="3419856"/>
            <a:ext cx="329184" cy="329184"/>
          </a:xfrm>
          <a:prstGeom prst="ellipse">
            <a:avLst/>
          </a:prstGeom>
          <a:solidFill>
            <a:srgbClr val="00A896"/>
          </a:solidFill>
          <a:ln/>
        </p:spPr>
      </p:sp>
      <p:sp>
        <p:nvSpPr>
          <p:cNvPr id="20" name="Text 18"/>
          <p:cNvSpPr txBox="1"/>
          <p:nvPr/>
        </p:nvSpPr>
        <p:spPr>
          <a:xfrm>
            <a:off x="7424928" y="3346704"/>
            <a:ext cx="1737360" cy="256032"/>
          </a:xfrm>
          <a:prstGeom prst="rect">
            <a:avLst/>
          </a:prstGeom>
          <a:noFill/>
          <a:ln/>
        </p:spPr>
        <p:txBody>
          <a:bodyPr wrap="square" lIns="0" tIns="0" rIns="0" bIns="0" rtlCol="0" anchor="ctr"/>
          <a:lstStyle/>
          <a:p>
            <a:pPr indent="0" marL="0">
              <a:buNone/>
            </a:pPr>
            <a:r>
              <a:rPr lang="en-US" sz="1300" b="1" dirty="0">
                <a:solidFill>
                  <a:srgbClr val="10262B"/>
                </a:solidFill>
                <a:latin typeface="Calibri" pitchFamily="34" charset="0"/>
                <a:ea typeface="Calibri" pitchFamily="34" charset="-122"/>
                <a:cs typeface="Calibri" pitchFamily="34" charset="-120"/>
              </a:rPr>
              <a:t>Resilience</a:t>
            </a:r>
            <a:endParaRPr lang="en-US" sz="1300" dirty="0"/>
          </a:p>
        </p:txBody>
      </p:sp>
      <p:sp>
        <p:nvSpPr>
          <p:cNvPr id="21" name="Text 19"/>
          <p:cNvSpPr txBox="1"/>
          <p:nvPr/>
        </p:nvSpPr>
        <p:spPr>
          <a:xfrm>
            <a:off x="7424928" y="3593592"/>
            <a:ext cx="4023360" cy="256032"/>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retries, timeouts, degradation</a:t>
            </a:r>
            <a:endParaRPr lang="en-US" sz="1100" dirty="0"/>
          </a:p>
        </p:txBody>
      </p:sp>
      <p:sp>
        <p:nvSpPr>
          <p:cNvPr id="22" name="Shape 20"/>
          <p:cNvSpPr/>
          <p:nvPr/>
        </p:nvSpPr>
        <p:spPr>
          <a:xfrm>
            <a:off x="6766560" y="4005072"/>
            <a:ext cx="4855464" cy="621792"/>
          </a:xfrm>
          <a:prstGeom prst="roundRect">
            <a:avLst>
              <a:gd name="adj" fmla="val 8824"/>
            </a:avLst>
          </a:prstGeom>
          <a:solidFill>
            <a:srgbClr val="EEF4F4"/>
          </a:solidFill>
          <a:ln w="9525">
            <a:solidFill>
              <a:srgbClr val="D7E2E2"/>
            </a:solidFill>
            <a:prstDash val="solid"/>
          </a:ln>
        </p:spPr>
      </p:sp>
      <p:sp>
        <p:nvSpPr>
          <p:cNvPr id="23" name="Shape 21"/>
          <p:cNvSpPr/>
          <p:nvPr/>
        </p:nvSpPr>
        <p:spPr>
          <a:xfrm>
            <a:off x="6967728" y="4151376"/>
            <a:ext cx="329184" cy="329184"/>
          </a:xfrm>
          <a:prstGeom prst="ellipse">
            <a:avLst/>
          </a:prstGeom>
          <a:solidFill>
            <a:srgbClr val="00A896"/>
          </a:solidFill>
          <a:ln/>
        </p:spPr>
      </p:sp>
      <p:sp>
        <p:nvSpPr>
          <p:cNvPr id="24" name="Text 22"/>
          <p:cNvSpPr txBox="1"/>
          <p:nvPr/>
        </p:nvSpPr>
        <p:spPr>
          <a:xfrm>
            <a:off x="7424928" y="4078224"/>
            <a:ext cx="1737360" cy="256032"/>
          </a:xfrm>
          <a:prstGeom prst="rect">
            <a:avLst/>
          </a:prstGeom>
          <a:noFill/>
          <a:ln/>
        </p:spPr>
        <p:txBody>
          <a:bodyPr wrap="square" lIns="0" tIns="0" rIns="0" bIns="0" rtlCol="0" anchor="ctr"/>
          <a:lstStyle/>
          <a:p>
            <a:pPr indent="0" marL="0">
              <a:buNone/>
            </a:pPr>
            <a:r>
              <a:rPr lang="en-US" sz="1300" b="1" dirty="0">
                <a:solidFill>
                  <a:srgbClr val="10262B"/>
                </a:solidFill>
                <a:latin typeface="Calibri" pitchFamily="34" charset="0"/>
                <a:ea typeface="Calibri" pitchFamily="34" charset="-122"/>
                <a:cs typeface="Calibri" pitchFamily="34" charset="-120"/>
              </a:rPr>
              <a:t>CLI</a:t>
            </a:r>
            <a:endParaRPr lang="en-US" sz="1300" dirty="0"/>
          </a:p>
        </p:txBody>
      </p:sp>
      <p:sp>
        <p:nvSpPr>
          <p:cNvPr id="25" name="Text 23"/>
          <p:cNvSpPr txBox="1"/>
          <p:nvPr/>
        </p:nvSpPr>
        <p:spPr>
          <a:xfrm>
            <a:off x="7424928" y="4325112"/>
            <a:ext cx="4023360" cy="256032"/>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validation, logging, exit codes</a:t>
            </a:r>
            <a:endParaRPr lang="en-US" sz="1100" dirty="0"/>
          </a:p>
        </p:txBody>
      </p:sp>
      <p:sp>
        <p:nvSpPr>
          <p:cNvPr id="26" name="Shape 24"/>
          <p:cNvSpPr/>
          <p:nvPr/>
        </p:nvSpPr>
        <p:spPr>
          <a:xfrm>
            <a:off x="6766560" y="4736592"/>
            <a:ext cx="4855464" cy="621792"/>
          </a:xfrm>
          <a:prstGeom prst="roundRect">
            <a:avLst>
              <a:gd name="adj" fmla="val 8824"/>
            </a:avLst>
          </a:prstGeom>
          <a:solidFill>
            <a:srgbClr val="EEF4F4"/>
          </a:solidFill>
          <a:ln w="9525">
            <a:solidFill>
              <a:srgbClr val="D7E2E2"/>
            </a:solidFill>
            <a:prstDash val="solid"/>
          </a:ln>
        </p:spPr>
      </p:sp>
      <p:sp>
        <p:nvSpPr>
          <p:cNvPr id="27" name="Shape 25"/>
          <p:cNvSpPr/>
          <p:nvPr/>
        </p:nvSpPr>
        <p:spPr>
          <a:xfrm>
            <a:off x="6967728" y="4882896"/>
            <a:ext cx="329184" cy="329184"/>
          </a:xfrm>
          <a:prstGeom prst="ellipse">
            <a:avLst/>
          </a:prstGeom>
          <a:solidFill>
            <a:srgbClr val="00A896"/>
          </a:solidFill>
          <a:ln/>
        </p:spPr>
      </p:sp>
      <p:sp>
        <p:nvSpPr>
          <p:cNvPr id="28" name="Text 26"/>
          <p:cNvSpPr txBox="1"/>
          <p:nvPr/>
        </p:nvSpPr>
        <p:spPr>
          <a:xfrm>
            <a:off x="7424928" y="4809744"/>
            <a:ext cx="1737360" cy="256032"/>
          </a:xfrm>
          <a:prstGeom prst="rect">
            <a:avLst/>
          </a:prstGeom>
          <a:noFill/>
          <a:ln/>
        </p:spPr>
        <p:txBody>
          <a:bodyPr wrap="square" lIns="0" tIns="0" rIns="0" bIns="0" rtlCol="0" anchor="ctr"/>
          <a:lstStyle/>
          <a:p>
            <a:pPr indent="0" marL="0">
              <a:buNone/>
            </a:pPr>
            <a:r>
              <a:rPr lang="en-US" sz="1300" b="1" dirty="0">
                <a:solidFill>
                  <a:srgbClr val="10262B"/>
                </a:solidFill>
                <a:latin typeface="Calibri" pitchFamily="34" charset="0"/>
                <a:ea typeface="Calibri" pitchFamily="34" charset="-122"/>
                <a:cs typeface="Calibri" pitchFamily="34" charset="-120"/>
              </a:rPr>
              <a:t>Tests</a:t>
            </a:r>
            <a:endParaRPr lang="en-US" sz="1300" dirty="0"/>
          </a:p>
        </p:txBody>
      </p:sp>
      <p:sp>
        <p:nvSpPr>
          <p:cNvPr id="29" name="Text 27"/>
          <p:cNvSpPr txBox="1"/>
          <p:nvPr/>
        </p:nvSpPr>
        <p:spPr>
          <a:xfrm>
            <a:off x="7424928" y="5056632"/>
            <a:ext cx="4023360" cy="256032"/>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139 offline, 96% coverage</a:t>
            </a:r>
            <a:endParaRPr lang="en-US" sz="1100" dirty="0"/>
          </a:p>
        </p:txBody>
      </p:sp>
      <p:sp>
        <p:nvSpPr>
          <p:cNvPr id="30" name="Shape 28"/>
          <p:cNvSpPr/>
          <p:nvPr/>
        </p:nvSpPr>
        <p:spPr>
          <a:xfrm>
            <a:off x="6766560" y="5468112"/>
            <a:ext cx="4855464" cy="621792"/>
          </a:xfrm>
          <a:prstGeom prst="roundRect">
            <a:avLst>
              <a:gd name="adj" fmla="val 8824"/>
            </a:avLst>
          </a:prstGeom>
          <a:solidFill>
            <a:srgbClr val="EEF4F4"/>
          </a:solidFill>
          <a:ln w="9525">
            <a:solidFill>
              <a:srgbClr val="D7E2E2"/>
            </a:solidFill>
            <a:prstDash val="solid"/>
          </a:ln>
        </p:spPr>
      </p:sp>
      <p:sp>
        <p:nvSpPr>
          <p:cNvPr id="31" name="Shape 29"/>
          <p:cNvSpPr/>
          <p:nvPr/>
        </p:nvSpPr>
        <p:spPr>
          <a:xfrm>
            <a:off x="6967728" y="5614416"/>
            <a:ext cx="329184" cy="329184"/>
          </a:xfrm>
          <a:prstGeom prst="ellipse">
            <a:avLst/>
          </a:prstGeom>
          <a:solidFill>
            <a:srgbClr val="00A896"/>
          </a:solidFill>
          <a:ln/>
        </p:spPr>
      </p:sp>
      <p:sp>
        <p:nvSpPr>
          <p:cNvPr id="32" name="Text 30"/>
          <p:cNvSpPr txBox="1"/>
          <p:nvPr/>
        </p:nvSpPr>
        <p:spPr>
          <a:xfrm>
            <a:off x="7424928" y="5541264"/>
            <a:ext cx="1737360" cy="256032"/>
          </a:xfrm>
          <a:prstGeom prst="rect">
            <a:avLst/>
          </a:prstGeom>
          <a:noFill/>
          <a:ln/>
        </p:spPr>
        <p:txBody>
          <a:bodyPr wrap="square" lIns="0" tIns="0" rIns="0" bIns="0" rtlCol="0" anchor="ctr"/>
          <a:lstStyle/>
          <a:p>
            <a:pPr indent="0" marL="0">
              <a:buNone/>
            </a:pPr>
            <a:r>
              <a:rPr lang="en-US" sz="1300" b="1" dirty="0">
                <a:solidFill>
                  <a:srgbClr val="10262B"/>
                </a:solidFill>
                <a:latin typeface="Calibri" pitchFamily="34" charset="0"/>
                <a:ea typeface="Calibri" pitchFamily="34" charset="-122"/>
                <a:cs typeface="Calibri" pitchFamily="34" charset="-120"/>
              </a:rPr>
              <a:t>Docker</a:t>
            </a:r>
            <a:endParaRPr lang="en-US" sz="1300" dirty="0"/>
          </a:p>
        </p:txBody>
      </p:sp>
      <p:sp>
        <p:nvSpPr>
          <p:cNvPr id="33" name="Text 31"/>
          <p:cNvSpPr txBox="1"/>
          <p:nvPr/>
        </p:nvSpPr>
        <p:spPr>
          <a:xfrm>
            <a:off x="7424928" y="5788152"/>
            <a:ext cx="4023360" cy="256032"/>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builds and runs anywhere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ARCHITECTURE</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Each layer knows only the one below it</a:t>
            </a:r>
            <a:endParaRPr lang="en-US" sz="3400" dirty="0"/>
          </a:p>
        </p:txBody>
      </p:sp>
      <p:sp>
        <p:nvSpPr>
          <p:cNvPr id="4" name="Shape 2"/>
          <p:cNvSpPr/>
          <p:nvPr/>
        </p:nvSpPr>
        <p:spPr>
          <a:xfrm>
            <a:off x="2926080" y="1600200"/>
            <a:ext cx="6309360" cy="713232"/>
          </a:xfrm>
          <a:prstGeom prst="roundRect">
            <a:avLst>
              <a:gd name="adj" fmla="val 7692"/>
            </a:avLst>
          </a:prstGeom>
          <a:solidFill>
            <a:srgbClr val="EEF4F4"/>
          </a:solidFill>
          <a:ln w="15875">
            <a:solidFill>
              <a:srgbClr val="028090"/>
            </a:solidFill>
            <a:prstDash val="solid"/>
          </a:ln>
        </p:spPr>
      </p:sp>
      <p:sp>
        <p:nvSpPr>
          <p:cNvPr id="5" name="Text 3"/>
          <p:cNvSpPr txBox="1"/>
          <p:nvPr/>
        </p:nvSpPr>
        <p:spPr>
          <a:xfrm>
            <a:off x="3200400" y="1691640"/>
            <a:ext cx="4206240" cy="274320"/>
          </a:xfrm>
          <a:prstGeom prst="rect">
            <a:avLst/>
          </a:prstGeom>
          <a:noFill/>
          <a:ln/>
        </p:spPr>
        <p:txBody>
          <a:bodyPr wrap="square" lIns="0" tIns="0" rIns="0" bIns="0" rtlCol="0" anchor="ctr"/>
          <a:lstStyle/>
          <a:p>
            <a:pPr indent="0" marL="0">
              <a:buNone/>
            </a:pPr>
            <a:r>
              <a:rPr lang="en-US" sz="1300" b="1" dirty="0">
                <a:solidFill>
                  <a:srgbClr val="10262B"/>
                </a:solidFill>
                <a:latin typeface="Courier New" pitchFamily="34" charset="0"/>
                <a:ea typeface="Courier New" pitchFamily="34" charset="-122"/>
                <a:cs typeface="Courier New" pitchFamily="34" charset="-120"/>
              </a:rPr>
              <a:t>cli.py</a:t>
            </a:r>
            <a:endParaRPr lang="en-US" sz="1300" dirty="0"/>
          </a:p>
        </p:txBody>
      </p:sp>
      <p:sp>
        <p:nvSpPr>
          <p:cNvPr id="6" name="Text 4"/>
          <p:cNvSpPr txBox="1"/>
          <p:nvPr/>
        </p:nvSpPr>
        <p:spPr>
          <a:xfrm>
            <a:off x="3200400" y="1984248"/>
            <a:ext cx="4480560" cy="256032"/>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composition root — builds everything once</a:t>
            </a:r>
            <a:endParaRPr lang="en-US" sz="1100" dirty="0"/>
          </a:p>
        </p:txBody>
      </p:sp>
      <p:sp>
        <p:nvSpPr>
          <p:cNvPr id="7" name="Text 5"/>
          <p:cNvSpPr txBox="1"/>
          <p:nvPr/>
        </p:nvSpPr>
        <p:spPr>
          <a:xfrm>
            <a:off x="7772400" y="1819656"/>
            <a:ext cx="1234440" cy="274320"/>
          </a:xfrm>
          <a:prstGeom prst="rect">
            <a:avLst/>
          </a:prstGeom>
          <a:noFill/>
          <a:ln/>
        </p:spPr>
        <p:txBody>
          <a:bodyPr wrap="square" lIns="0" tIns="0" rIns="0" bIns="0" rtlCol="0" anchor="ctr"/>
          <a:lstStyle/>
          <a:p>
            <a:pPr algn="r" indent="0" marL="0">
              <a:buNone/>
            </a:pPr>
            <a:r>
              <a:rPr lang="en-US" sz="1000" dirty="0">
                <a:solidFill>
                  <a:srgbClr val="028090"/>
                </a:solidFill>
                <a:latin typeface="Courier New" pitchFamily="34" charset="0"/>
                <a:ea typeface="Courier New" pitchFamily="34" charset="-122"/>
                <a:cs typeface="Courier New" pitchFamily="34" charset="-120"/>
              </a:rPr>
              <a:t>Farid</a:t>
            </a:r>
            <a:endParaRPr lang="en-US" sz="1000" dirty="0"/>
          </a:p>
        </p:txBody>
      </p:sp>
      <p:sp>
        <p:nvSpPr>
          <p:cNvPr id="8" name="Shape 6"/>
          <p:cNvSpPr/>
          <p:nvPr/>
        </p:nvSpPr>
        <p:spPr>
          <a:xfrm>
            <a:off x="6080760" y="2313432"/>
            <a:ext cx="0" cy="173736"/>
          </a:xfrm>
          <a:prstGeom prst="line">
            <a:avLst/>
          </a:prstGeom>
          <a:noFill/>
          <a:ln w="15875">
            <a:solidFill>
              <a:srgbClr val="5C6B6E"/>
            </a:solidFill>
            <a:prstDash val="solid"/>
            <a:tailEnd type="triangle"/>
          </a:ln>
        </p:spPr>
      </p:sp>
      <p:sp>
        <p:nvSpPr>
          <p:cNvPr id="9" name="Shape 7"/>
          <p:cNvSpPr/>
          <p:nvPr/>
        </p:nvSpPr>
        <p:spPr>
          <a:xfrm>
            <a:off x="2926080" y="2487168"/>
            <a:ext cx="6309360" cy="713232"/>
          </a:xfrm>
          <a:prstGeom prst="roundRect">
            <a:avLst>
              <a:gd name="adj" fmla="val 7692"/>
            </a:avLst>
          </a:prstGeom>
          <a:solidFill>
            <a:srgbClr val="EEF4F4"/>
          </a:solidFill>
          <a:ln w="15875">
            <a:solidFill>
              <a:srgbClr val="028090"/>
            </a:solidFill>
            <a:prstDash val="solid"/>
          </a:ln>
        </p:spPr>
      </p:sp>
      <p:sp>
        <p:nvSpPr>
          <p:cNvPr id="10" name="Text 8"/>
          <p:cNvSpPr txBox="1"/>
          <p:nvPr/>
        </p:nvSpPr>
        <p:spPr>
          <a:xfrm>
            <a:off x="3200400" y="2578608"/>
            <a:ext cx="4206240" cy="274320"/>
          </a:xfrm>
          <a:prstGeom prst="rect">
            <a:avLst/>
          </a:prstGeom>
          <a:noFill/>
          <a:ln/>
        </p:spPr>
        <p:txBody>
          <a:bodyPr wrap="square" lIns="0" tIns="0" rIns="0" bIns="0" rtlCol="0" anchor="ctr"/>
          <a:lstStyle/>
          <a:p>
            <a:pPr indent="0" marL="0">
              <a:buNone/>
            </a:pPr>
            <a:r>
              <a:rPr lang="en-US" sz="1300" b="1" dirty="0">
                <a:solidFill>
                  <a:srgbClr val="10262B"/>
                </a:solidFill>
                <a:latin typeface="Courier New" pitchFamily="34" charset="0"/>
                <a:ea typeface="Courier New" pitchFamily="34" charset="-122"/>
                <a:cs typeface="Courier New" pitchFamily="34" charset="-120"/>
              </a:rPr>
              <a:t>core/researcher.py</a:t>
            </a:r>
            <a:endParaRPr lang="en-US" sz="1300" dirty="0"/>
          </a:p>
        </p:txBody>
      </p:sp>
      <p:sp>
        <p:nvSpPr>
          <p:cNvPr id="11" name="Text 9"/>
          <p:cNvSpPr txBox="1"/>
          <p:nvPr/>
        </p:nvSpPr>
        <p:spPr>
          <a:xfrm>
            <a:off x="3200400" y="2871216"/>
            <a:ext cx="4480560" cy="256032"/>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the order of operations</a:t>
            </a:r>
            <a:endParaRPr lang="en-US" sz="1100" dirty="0"/>
          </a:p>
        </p:txBody>
      </p:sp>
      <p:sp>
        <p:nvSpPr>
          <p:cNvPr id="12" name="Text 10"/>
          <p:cNvSpPr txBox="1"/>
          <p:nvPr/>
        </p:nvSpPr>
        <p:spPr>
          <a:xfrm>
            <a:off x="7772400" y="2706624"/>
            <a:ext cx="1234440" cy="274320"/>
          </a:xfrm>
          <a:prstGeom prst="rect">
            <a:avLst/>
          </a:prstGeom>
          <a:noFill/>
          <a:ln/>
        </p:spPr>
        <p:txBody>
          <a:bodyPr wrap="square" lIns="0" tIns="0" rIns="0" bIns="0" rtlCol="0" anchor="ctr"/>
          <a:lstStyle/>
          <a:p>
            <a:pPr algn="r" indent="0" marL="0">
              <a:buNone/>
            </a:pPr>
            <a:r>
              <a:rPr lang="en-US" sz="1000" dirty="0">
                <a:solidFill>
                  <a:srgbClr val="028090"/>
                </a:solidFill>
                <a:latin typeface="Courier New" pitchFamily="34" charset="0"/>
                <a:ea typeface="Courier New" pitchFamily="34" charset="-122"/>
                <a:cs typeface="Courier New" pitchFamily="34" charset="-120"/>
              </a:rPr>
              <a:t>Farid</a:t>
            </a:r>
            <a:endParaRPr lang="en-US" sz="1000" dirty="0"/>
          </a:p>
        </p:txBody>
      </p:sp>
      <p:sp>
        <p:nvSpPr>
          <p:cNvPr id="13" name="Shape 11"/>
          <p:cNvSpPr/>
          <p:nvPr/>
        </p:nvSpPr>
        <p:spPr>
          <a:xfrm>
            <a:off x="6080760" y="3200400"/>
            <a:ext cx="0" cy="173736"/>
          </a:xfrm>
          <a:prstGeom prst="line">
            <a:avLst/>
          </a:prstGeom>
          <a:noFill/>
          <a:ln w="15875">
            <a:solidFill>
              <a:srgbClr val="5C6B6E"/>
            </a:solidFill>
            <a:prstDash val="solid"/>
            <a:tailEnd type="triangle"/>
          </a:ln>
        </p:spPr>
      </p:sp>
      <p:sp>
        <p:nvSpPr>
          <p:cNvPr id="14" name="Shape 12"/>
          <p:cNvSpPr/>
          <p:nvPr/>
        </p:nvSpPr>
        <p:spPr>
          <a:xfrm>
            <a:off x="2926080" y="3374136"/>
            <a:ext cx="6309360" cy="713232"/>
          </a:xfrm>
          <a:prstGeom prst="roundRect">
            <a:avLst>
              <a:gd name="adj" fmla="val 7692"/>
            </a:avLst>
          </a:prstGeom>
          <a:solidFill>
            <a:srgbClr val="EEF4F4"/>
          </a:solidFill>
          <a:ln w="15875">
            <a:solidFill>
              <a:srgbClr val="028090"/>
            </a:solidFill>
            <a:prstDash val="solid"/>
          </a:ln>
        </p:spPr>
      </p:sp>
      <p:sp>
        <p:nvSpPr>
          <p:cNvPr id="15" name="Text 13"/>
          <p:cNvSpPr txBox="1"/>
          <p:nvPr/>
        </p:nvSpPr>
        <p:spPr>
          <a:xfrm>
            <a:off x="3200400" y="3465576"/>
            <a:ext cx="4206240" cy="274320"/>
          </a:xfrm>
          <a:prstGeom prst="rect">
            <a:avLst/>
          </a:prstGeom>
          <a:noFill/>
          <a:ln/>
        </p:spPr>
        <p:txBody>
          <a:bodyPr wrap="square" lIns="0" tIns="0" rIns="0" bIns="0" rtlCol="0" anchor="ctr"/>
          <a:lstStyle/>
          <a:p>
            <a:pPr indent="0" marL="0">
              <a:buNone/>
            </a:pPr>
            <a:r>
              <a:rPr lang="en-US" sz="1300" b="1" dirty="0">
                <a:solidFill>
                  <a:srgbClr val="10262B"/>
                </a:solidFill>
                <a:latin typeface="Courier New" pitchFamily="34" charset="0"/>
                <a:ea typeface="Courier New" pitchFamily="34" charset="-122"/>
                <a:cs typeface="Courier New" pitchFamily="34" charset="-120"/>
              </a:rPr>
              <a:t>cache · orchestrator · ai_service</a:t>
            </a:r>
            <a:endParaRPr lang="en-US" sz="1300" dirty="0"/>
          </a:p>
        </p:txBody>
      </p:sp>
      <p:sp>
        <p:nvSpPr>
          <p:cNvPr id="16" name="Text 14"/>
          <p:cNvSpPr txBox="1"/>
          <p:nvPr/>
        </p:nvSpPr>
        <p:spPr>
          <a:xfrm>
            <a:off x="3200400" y="3758184"/>
            <a:ext cx="4480560" cy="256032"/>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storage, concurrency, retries</a:t>
            </a:r>
            <a:endParaRPr lang="en-US" sz="1100" dirty="0"/>
          </a:p>
        </p:txBody>
      </p:sp>
      <p:sp>
        <p:nvSpPr>
          <p:cNvPr id="17" name="Text 15"/>
          <p:cNvSpPr txBox="1"/>
          <p:nvPr/>
        </p:nvSpPr>
        <p:spPr>
          <a:xfrm>
            <a:off x="7772400" y="3593592"/>
            <a:ext cx="1234440" cy="274320"/>
          </a:xfrm>
          <a:prstGeom prst="rect">
            <a:avLst/>
          </a:prstGeom>
          <a:noFill/>
          <a:ln/>
        </p:spPr>
        <p:txBody>
          <a:bodyPr wrap="square" lIns="0" tIns="0" rIns="0" bIns="0" rtlCol="0" anchor="ctr"/>
          <a:lstStyle/>
          <a:p>
            <a:pPr algn="r" indent="0" marL="0">
              <a:buNone/>
            </a:pPr>
            <a:r>
              <a:rPr lang="en-US" sz="1000" dirty="0">
                <a:solidFill>
                  <a:srgbClr val="028090"/>
                </a:solidFill>
                <a:latin typeface="Courier New" pitchFamily="34" charset="0"/>
                <a:ea typeface="Courier New" pitchFamily="34" charset="-122"/>
                <a:cs typeface="Courier New" pitchFamily="34" charset="-120"/>
              </a:rPr>
              <a:t>all three</a:t>
            </a:r>
            <a:endParaRPr lang="en-US" sz="1000" dirty="0"/>
          </a:p>
        </p:txBody>
      </p:sp>
      <p:sp>
        <p:nvSpPr>
          <p:cNvPr id="18" name="Shape 16"/>
          <p:cNvSpPr/>
          <p:nvPr/>
        </p:nvSpPr>
        <p:spPr>
          <a:xfrm>
            <a:off x="6080760" y="4087368"/>
            <a:ext cx="0" cy="173736"/>
          </a:xfrm>
          <a:prstGeom prst="line">
            <a:avLst/>
          </a:prstGeom>
          <a:noFill/>
          <a:ln w="15875">
            <a:solidFill>
              <a:srgbClr val="5C6B6E"/>
            </a:solidFill>
            <a:prstDash val="solid"/>
            <a:tailEnd type="triangle"/>
          </a:ln>
        </p:spPr>
      </p:sp>
      <p:sp>
        <p:nvSpPr>
          <p:cNvPr id="19" name="Shape 17"/>
          <p:cNvSpPr/>
          <p:nvPr/>
        </p:nvSpPr>
        <p:spPr>
          <a:xfrm>
            <a:off x="2926080" y="4261104"/>
            <a:ext cx="6309360" cy="713232"/>
          </a:xfrm>
          <a:prstGeom prst="roundRect">
            <a:avLst>
              <a:gd name="adj" fmla="val 7692"/>
            </a:avLst>
          </a:prstGeom>
          <a:solidFill>
            <a:srgbClr val="E4E9E9"/>
          </a:solidFill>
          <a:ln w="9525">
            <a:solidFill>
              <a:srgbClr val="5C6B6E"/>
            </a:solidFill>
            <a:prstDash val="dash"/>
          </a:ln>
        </p:spPr>
      </p:sp>
      <p:sp>
        <p:nvSpPr>
          <p:cNvPr id="20" name="Text 18"/>
          <p:cNvSpPr txBox="1"/>
          <p:nvPr/>
        </p:nvSpPr>
        <p:spPr>
          <a:xfrm>
            <a:off x="3200400" y="4352544"/>
            <a:ext cx="4206240" cy="274320"/>
          </a:xfrm>
          <a:prstGeom prst="rect">
            <a:avLst/>
          </a:prstGeom>
          <a:noFill/>
          <a:ln/>
        </p:spPr>
        <p:txBody>
          <a:bodyPr wrap="square" lIns="0" tIns="0" rIns="0" bIns="0" rtlCol="0" anchor="ctr"/>
          <a:lstStyle/>
          <a:p>
            <a:pPr indent="0" marL="0">
              <a:buNone/>
            </a:pPr>
            <a:r>
              <a:rPr lang="en-US" sz="1300" b="1" dirty="0">
                <a:solidFill>
                  <a:srgbClr val="10262B"/>
                </a:solidFill>
                <a:latin typeface="Courier New" pitchFamily="34" charset="0"/>
                <a:ea typeface="Courier New" pitchFamily="34" charset="-122"/>
                <a:cs typeface="Courier New" pitchFamily="34" charset="-120"/>
              </a:rPr>
              <a:t>ai/  — given to us, never edited</a:t>
            </a:r>
            <a:endParaRPr lang="en-US" sz="1300" dirty="0"/>
          </a:p>
        </p:txBody>
      </p:sp>
      <p:sp>
        <p:nvSpPr>
          <p:cNvPr id="21" name="Text 19"/>
          <p:cNvSpPr txBox="1"/>
          <p:nvPr/>
        </p:nvSpPr>
        <p:spPr>
          <a:xfrm>
            <a:off x="3200400" y="4645152"/>
            <a:ext cx="4480560" cy="256032"/>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fetchers, providers, synthesizer</a:t>
            </a:r>
            <a:endParaRPr lang="en-US" sz="1100" dirty="0"/>
          </a:p>
        </p:txBody>
      </p:sp>
      <p:sp>
        <p:nvSpPr>
          <p:cNvPr id="22" name="Text 20"/>
          <p:cNvSpPr txBox="1"/>
          <p:nvPr/>
        </p:nvSpPr>
        <p:spPr>
          <a:xfrm>
            <a:off x="7772400" y="4480560"/>
            <a:ext cx="1234440" cy="274320"/>
          </a:xfrm>
          <a:prstGeom prst="rect">
            <a:avLst/>
          </a:prstGeom>
          <a:noFill/>
          <a:ln/>
        </p:spPr>
        <p:txBody>
          <a:bodyPr wrap="square" lIns="0" tIns="0" rIns="0" bIns="0" rtlCol="0" anchor="ctr"/>
          <a:lstStyle/>
          <a:p>
            <a:pPr algn="r" indent="0" marL="0">
              <a:buNone/>
            </a:pPr>
            <a:r>
              <a:rPr lang="en-US" sz="1000" dirty="0">
                <a:solidFill>
                  <a:srgbClr val="028090"/>
                </a:solidFill>
                <a:latin typeface="Courier New" pitchFamily="34" charset="0"/>
                <a:ea typeface="Courier New" pitchFamily="34" charset="-122"/>
                <a:cs typeface="Courier New" pitchFamily="34" charset="-120"/>
              </a:rPr>
              <a:t>instructor</a:t>
            </a:r>
            <a:endParaRPr lang="en-US" sz="1000" dirty="0"/>
          </a:p>
        </p:txBody>
      </p:sp>
      <p:sp>
        <p:nvSpPr>
          <p:cNvPr id="23" name="Text 21"/>
          <p:cNvSpPr txBox="1"/>
          <p:nvPr/>
        </p:nvSpPr>
        <p:spPr>
          <a:xfrm>
            <a:off x="566928" y="1737360"/>
            <a:ext cx="2194560" cy="2377440"/>
          </a:xfrm>
          <a:prstGeom prst="rect">
            <a:avLst/>
          </a:prstGeom>
          <a:noFill/>
          <a:ln/>
        </p:spPr>
        <p:txBody>
          <a:bodyPr wrap="square" lIns="0" tIns="0" rIns="0" bIns="0" rtlCol="0" anchor="ctr"/>
          <a:lstStyle/>
          <a:p>
            <a:pPr indent="0" marL="0">
              <a:lnSpc>
                <a:spcPts val="1900"/>
              </a:lnSpc>
              <a:buNone/>
            </a:pPr>
            <a:r>
              <a:rPr lang="en-US" sz="1250" dirty="0">
                <a:solidFill>
                  <a:srgbClr val="5C6B6E"/>
                </a:solidFill>
                <a:latin typeface="Calibri" pitchFamily="34" charset="0"/>
                <a:ea typeface="Calibri" pitchFamily="34" charset="-122"/>
                <a:cs typeface="Calibri" pitchFamily="34" charset="-120"/>
              </a:rPr>
              <a:t>Arrows point the way</a:t>
            </a:r>
            <a:endParaRPr lang="en-US" sz="1250" dirty="0"/>
          </a:p>
          <a:p>
            <a:pPr indent="0" marL="0">
              <a:lnSpc>
                <a:spcPts val="1900"/>
              </a:lnSpc>
              <a:buNone/>
            </a:pPr>
            <a:r>
              <a:rPr lang="en-US" sz="1250" dirty="0">
                <a:solidFill>
                  <a:srgbClr val="5C6B6E"/>
                </a:solidFill>
                <a:latin typeface="Calibri" pitchFamily="34" charset="0"/>
                <a:ea typeface="Calibri" pitchFamily="34" charset="-122"/>
                <a:cs typeface="Calibri" pitchFamily="34" charset="-120"/>
              </a:rPr>
              <a:t>dependencies go.</a:t>
            </a:r>
            <a:endParaRPr lang="en-US" sz="1250" dirty="0"/>
          </a:p>
          <a:p>
            <a:pPr indent="0" marL="0">
              <a:lnSpc>
                <a:spcPts val="1900"/>
              </a:lnSpc>
              <a:buNone/>
            </a:pPr>
            <a:endParaRPr lang="en-US" sz="1250" dirty="0"/>
          </a:p>
          <a:p>
            <a:pPr indent="0" marL="0">
              <a:lnSpc>
                <a:spcPts val="1900"/>
              </a:lnSpc>
              <a:buNone/>
            </a:pPr>
            <a:r>
              <a:rPr lang="en-US" sz="1250" dirty="0">
                <a:solidFill>
                  <a:srgbClr val="5C6B6E"/>
                </a:solidFill>
                <a:latin typeface="Calibri" pitchFamily="34" charset="0"/>
                <a:ea typeface="Calibri" pitchFamily="34" charset="-122"/>
                <a:cs typeface="Calibri" pitchFamily="34" charset="-120"/>
              </a:rPr>
              <a:t>Nothing at the bottom</a:t>
            </a:r>
            <a:endParaRPr lang="en-US" sz="1250" dirty="0"/>
          </a:p>
          <a:p>
            <a:pPr indent="0" marL="0">
              <a:lnSpc>
                <a:spcPts val="1900"/>
              </a:lnSpc>
              <a:buNone/>
            </a:pPr>
            <a:r>
              <a:rPr lang="en-US" sz="1250" dirty="0">
                <a:solidFill>
                  <a:srgbClr val="5C6B6E"/>
                </a:solidFill>
                <a:latin typeface="Calibri" pitchFamily="34" charset="0"/>
                <a:ea typeface="Calibri" pitchFamily="34" charset="-122"/>
                <a:cs typeface="Calibri" pitchFamily="34" charset="-120"/>
              </a:rPr>
              <a:t>knows anything about</a:t>
            </a:r>
            <a:endParaRPr lang="en-US" sz="1250" dirty="0"/>
          </a:p>
          <a:p>
            <a:pPr indent="0" marL="0">
              <a:lnSpc>
                <a:spcPts val="1900"/>
              </a:lnSpc>
              <a:buNone/>
            </a:pPr>
            <a:r>
              <a:rPr lang="en-US" sz="1250" dirty="0">
                <a:solidFill>
                  <a:srgbClr val="5C6B6E"/>
                </a:solidFill>
                <a:latin typeface="Calibri" pitchFamily="34" charset="0"/>
                <a:ea typeface="Calibri" pitchFamily="34" charset="-122"/>
                <a:cs typeface="Calibri" pitchFamily="34" charset="-120"/>
              </a:rPr>
              <a:t>the top — which is why</a:t>
            </a:r>
            <a:endParaRPr lang="en-US" sz="1250" dirty="0"/>
          </a:p>
          <a:p>
            <a:pPr indent="0" marL="0">
              <a:lnSpc>
                <a:spcPts val="1900"/>
              </a:lnSpc>
              <a:buNone/>
            </a:pPr>
            <a:r>
              <a:rPr lang="en-US" sz="1250" dirty="0">
                <a:solidFill>
                  <a:srgbClr val="5C6B6E"/>
                </a:solidFill>
                <a:latin typeface="Calibri" pitchFamily="34" charset="0"/>
                <a:ea typeface="Calibri" pitchFamily="34" charset="-122"/>
                <a:cs typeface="Calibri" pitchFamily="34" charset="-120"/>
              </a:rPr>
              <a:t>every layer can be</a:t>
            </a:r>
            <a:endParaRPr lang="en-US" sz="1250" dirty="0"/>
          </a:p>
          <a:p>
            <a:pPr indent="0" marL="0">
              <a:lnSpc>
                <a:spcPts val="1900"/>
              </a:lnSpc>
              <a:buNone/>
            </a:pPr>
            <a:r>
              <a:rPr lang="en-US" sz="1250" dirty="0">
                <a:solidFill>
                  <a:srgbClr val="5C6B6E"/>
                </a:solidFill>
                <a:latin typeface="Calibri" pitchFamily="34" charset="0"/>
                <a:ea typeface="Calibri" pitchFamily="34" charset="-122"/>
                <a:cs typeface="Calibri" pitchFamily="34" charset="-120"/>
              </a:rPr>
              <a:t>tested on its own with</a:t>
            </a:r>
            <a:endParaRPr lang="en-US" sz="1250" dirty="0"/>
          </a:p>
          <a:p>
            <a:pPr indent="0" marL="0">
              <a:lnSpc>
                <a:spcPts val="1900"/>
              </a:lnSpc>
              <a:buNone/>
            </a:pPr>
            <a:r>
              <a:rPr lang="en-US" sz="1250" dirty="0">
                <a:solidFill>
                  <a:srgbClr val="5C6B6E"/>
                </a:solidFill>
                <a:latin typeface="Calibri" pitchFamily="34" charset="0"/>
                <a:ea typeface="Calibri" pitchFamily="34" charset="-122"/>
                <a:cs typeface="Calibri" pitchFamily="34" charset="-120"/>
              </a:rPr>
              <a:t>fake stand-ins.</a:t>
            </a:r>
            <a:endParaRPr lang="en-US" sz="1250" dirty="0"/>
          </a:p>
        </p:txBody>
      </p:sp>
      <p:sp>
        <p:nvSpPr>
          <p:cNvPr id="24" name="Shape 22"/>
          <p:cNvSpPr/>
          <p:nvPr/>
        </p:nvSpPr>
        <p:spPr>
          <a:xfrm>
            <a:off x="2926080" y="5230368"/>
            <a:ext cx="6309360" cy="841248"/>
          </a:xfrm>
          <a:prstGeom prst="roundRect">
            <a:avLst>
              <a:gd name="adj" fmla="val 6522"/>
            </a:avLst>
          </a:prstGeom>
          <a:solidFill>
            <a:srgbClr val="10262B"/>
          </a:solidFill>
          <a:ln w="9525">
            <a:solidFill>
              <a:srgbClr val="D7E2E2"/>
            </a:solidFill>
            <a:prstDash val="solid"/>
          </a:ln>
        </p:spPr>
      </p:sp>
      <p:sp>
        <p:nvSpPr>
          <p:cNvPr id="25" name="Text 23"/>
          <p:cNvSpPr txBox="1"/>
          <p:nvPr/>
        </p:nvSpPr>
        <p:spPr>
          <a:xfrm>
            <a:off x="3200400" y="5394960"/>
            <a:ext cx="5760720" cy="566928"/>
          </a:xfrm>
          <a:prstGeom prst="rect">
            <a:avLst/>
          </a:prstGeom>
          <a:noFill/>
          <a:ln/>
        </p:spPr>
        <p:txBody>
          <a:bodyPr wrap="square" lIns="0" tIns="0" rIns="0" bIns="0" rtlCol="0" anchor="ctr"/>
          <a:lstStyle/>
          <a:p>
            <a:pPr indent="0" marL="0">
              <a:lnSpc>
                <a:spcPts val="1700"/>
              </a:lnSpc>
              <a:buNone/>
            </a:pPr>
            <a:r>
              <a:rPr lang="en-US" sz="1200" dirty="0">
                <a:solidFill>
                  <a:srgbClr val="D6E6E6"/>
                </a:solidFill>
                <a:latin typeface="Calibri" pitchFamily="34" charset="0"/>
                <a:ea typeface="Calibri" pitchFamily="34" charset="-122"/>
                <a:cs typeface="Calibri" pitchFamily="34" charset="-120"/>
              </a:rPr>
              <a:t>The researcher never imports the orchestrator. It declares the shape it needs as a typing.Protocol, so the two modules stay independent and the tests pass in a small fake.</a:t>
            </a:r>
            <a:endParaRPr lang="en-US" sz="1200" dirty="0"/>
          </a:p>
        </p:txBody>
      </p:sp>
      <p:sp>
        <p:nvSpPr>
          <p:cNvPr id="26" name="Text 24"/>
          <p:cNvSpPr txBox="1"/>
          <p:nvPr/>
        </p:nvSpPr>
        <p:spPr>
          <a:xfrm>
            <a:off x="566928" y="6336792"/>
            <a:ext cx="11064240" cy="274320"/>
          </a:xfrm>
          <a:prstGeom prst="rect">
            <a:avLst/>
          </a:prstGeom>
          <a:noFill/>
          <a:ln/>
        </p:spPr>
        <p:txBody>
          <a:bodyPr wrap="square" lIns="0" tIns="0" rIns="0" bIns="0" rtlCol="0" anchor="ctr"/>
          <a:lstStyle/>
          <a:p>
            <a:pPr indent="0" marL="0">
              <a:buNone/>
            </a:pPr>
            <a:r>
              <a:rPr lang="en-US" sz="1000" dirty="0">
                <a:solidFill>
                  <a:srgbClr val="5C6B6E"/>
                </a:solidFill>
                <a:latin typeface="Calibri" pitchFamily="34" charset="0"/>
                <a:ea typeface="Calibri" pitchFamily="34" charset="-122"/>
                <a:cs typeface="Calibri" pitchFamily="34" charset="-120"/>
              </a:rPr>
              <a:t>14 modules in src/ · no module imports a provider SDK directly — the contract requires every call to go through ai/</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ONE QUESTION</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The journey, end to end</a:t>
            </a:r>
            <a:endParaRPr lang="en-US" sz="3400" dirty="0"/>
          </a:p>
        </p:txBody>
      </p:sp>
      <p:sp>
        <p:nvSpPr>
          <p:cNvPr id="4" name="Shape 2"/>
          <p:cNvSpPr/>
          <p:nvPr/>
        </p:nvSpPr>
        <p:spPr>
          <a:xfrm>
            <a:off x="566928" y="1536192"/>
            <a:ext cx="11064240" cy="566928"/>
          </a:xfrm>
          <a:prstGeom prst="roundRect">
            <a:avLst>
              <a:gd name="adj" fmla="val 9677"/>
            </a:avLst>
          </a:prstGeom>
          <a:solidFill>
            <a:srgbClr val="EEF4F4"/>
          </a:solidFill>
          <a:ln w="9525">
            <a:solidFill>
              <a:srgbClr val="D7E2E2"/>
            </a:solidFill>
            <a:prstDash val="solid"/>
          </a:ln>
        </p:spPr>
      </p:sp>
      <p:sp>
        <p:nvSpPr>
          <p:cNvPr id="5" name="Shape 3"/>
          <p:cNvSpPr/>
          <p:nvPr/>
        </p:nvSpPr>
        <p:spPr>
          <a:xfrm>
            <a:off x="731520" y="1627632"/>
            <a:ext cx="384048" cy="384048"/>
          </a:xfrm>
          <a:prstGeom prst="ellipse">
            <a:avLst/>
          </a:prstGeom>
          <a:solidFill>
            <a:srgbClr val="028090"/>
          </a:solidFill>
          <a:ln/>
        </p:spPr>
      </p:sp>
      <p:sp>
        <p:nvSpPr>
          <p:cNvPr id="6" name="Text 4"/>
          <p:cNvSpPr txBox="1"/>
          <p:nvPr/>
        </p:nvSpPr>
        <p:spPr>
          <a:xfrm>
            <a:off x="731520" y="1677924"/>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80160" y="1682496"/>
            <a:ext cx="5943600" cy="274320"/>
          </a:xfrm>
          <a:prstGeom prst="rect">
            <a:avLst/>
          </a:prstGeom>
          <a:noFill/>
          <a:ln/>
        </p:spPr>
        <p:txBody>
          <a:bodyPr wrap="square" lIns="0" tIns="0" rIns="0" bIns="0" rtlCol="0" anchor="ctr"/>
          <a:lstStyle/>
          <a:p>
            <a:pPr indent="0" marL="0">
              <a:buNone/>
            </a:pPr>
            <a:r>
              <a:rPr lang="en-US" sz="1350" dirty="0">
                <a:solidFill>
                  <a:srgbClr val="10262B"/>
                </a:solidFill>
                <a:latin typeface="Calibri" pitchFamily="34" charset="0"/>
                <a:ea typeface="Calibri" pitchFamily="34" charset="-122"/>
                <a:cs typeface="Calibri" pitchFamily="34" charset="-120"/>
              </a:rPr>
              <a:t>Read settings, build everything</a:t>
            </a:r>
            <a:endParaRPr lang="en-US" sz="1350" dirty="0"/>
          </a:p>
        </p:txBody>
      </p:sp>
      <p:sp>
        <p:nvSpPr>
          <p:cNvPr id="8" name="Text 6"/>
          <p:cNvSpPr txBox="1"/>
          <p:nvPr/>
        </p:nvSpPr>
        <p:spPr>
          <a:xfrm>
            <a:off x="7287768" y="1691640"/>
            <a:ext cx="2834640" cy="256032"/>
          </a:xfrm>
          <a:prstGeom prst="rect">
            <a:avLst/>
          </a:prstGeom>
          <a:noFill/>
          <a:ln/>
        </p:spPr>
        <p:txBody>
          <a:bodyPr wrap="square" lIns="0" tIns="0" rIns="0" bIns="0" rtlCol="0" anchor="ctr"/>
          <a:lstStyle/>
          <a:p>
            <a:pPr indent="0" marL="0">
              <a:buNone/>
            </a:pPr>
            <a:r>
              <a:rPr lang="en-US" sz="1050" dirty="0">
                <a:solidFill>
                  <a:srgbClr val="5C6B6E"/>
                </a:solidFill>
                <a:latin typeface="Courier New" pitchFamily="34" charset="0"/>
                <a:ea typeface="Courier New" pitchFamily="34" charset="-122"/>
                <a:cs typeface="Courier New" pitchFamily="34" charset="-120"/>
              </a:rPr>
              <a:t>cli.py</a:t>
            </a:r>
            <a:endParaRPr lang="en-US" sz="1050" dirty="0"/>
          </a:p>
        </p:txBody>
      </p:sp>
      <p:sp>
        <p:nvSpPr>
          <p:cNvPr id="9" name="Text 7"/>
          <p:cNvSpPr txBox="1"/>
          <p:nvPr/>
        </p:nvSpPr>
        <p:spPr>
          <a:xfrm>
            <a:off x="10168128" y="1691640"/>
            <a:ext cx="1371600" cy="256032"/>
          </a:xfrm>
          <a:prstGeom prst="rect">
            <a:avLst/>
          </a:prstGeom>
          <a:noFill/>
          <a:ln/>
        </p:spPr>
        <p:txBody>
          <a:bodyPr wrap="square" lIns="0" tIns="0" rIns="0" bIns="0" rtlCol="0" anchor="ctr"/>
          <a:lstStyle/>
          <a:p>
            <a:pPr algn="r" indent="0" marL="0">
              <a:buNone/>
            </a:pPr>
            <a:r>
              <a:rPr lang="en-US" sz="1000" dirty="0">
                <a:solidFill>
                  <a:srgbClr val="028090"/>
                </a:solidFill>
                <a:latin typeface="Courier New" pitchFamily="34" charset="0"/>
                <a:ea typeface="Courier New" pitchFamily="34" charset="-122"/>
                <a:cs typeface="Courier New" pitchFamily="34" charset="-120"/>
              </a:rPr>
              <a:t>Farid</a:t>
            </a:r>
            <a:endParaRPr lang="en-US" sz="1000" dirty="0"/>
          </a:p>
        </p:txBody>
      </p:sp>
      <p:sp>
        <p:nvSpPr>
          <p:cNvPr id="10" name="Shape 8"/>
          <p:cNvSpPr/>
          <p:nvPr/>
        </p:nvSpPr>
        <p:spPr>
          <a:xfrm>
            <a:off x="566928" y="2203704"/>
            <a:ext cx="11064240" cy="566928"/>
          </a:xfrm>
          <a:prstGeom prst="roundRect">
            <a:avLst>
              <a:gd name="adj" fmla="val 9677"/>
            </a:avLst>
          </a:prstGeom>
          <a:solidFill>
            <a:srgbClr val="EEF4F4"/>
          </a:solidFill>
          <a:ln w="9525">
            <a:solidFill>
              <a:srgbClr val="D7E2E2"/>
            </a:solidFill>
            <a:prstDash val="solid"/>
          </a:ln>
        </p:spPr>
      </p:sp>
      <p:sp>
        <p:nvSpPr>
          <p:cNvPr id="11" name="Shape 9"/>
          <p:cNvSpPr/>
          <p:nvPr/>
        </p:nvSpPr>
        <p:spPr>
          <a:xfrm>
            <a:off x="731520" y="2295144"/>
            <a:ext cx="384048" cy="384048"/>
          </a:xfrm>
          <a:prstGeom prst="ellipse">
            <a:avLst/>
          </a:prstGeom>
          <a:solidFill>
            <a:srgbClr val="028090"/>
          </a:solidFill>
          <a:ln/>
        </p:spPr>
      </p:sp>
      <p:sp>
        <p:nvSpPr>
          <p:cNvPr id="12" name="Text 10"/>
          <p:cNvSpPr txBox="1"/>
          <p:nvPr/>
        </p:nvSpPr>
        <p:spPr>
          <a:xfrm>
            <a:off x="731520" y="2345436"/>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280160" y="2350008"/>
            <a:ext cx="5943600" cy="274320"/>
          </a:xfrm>
          <a:prstGeom prst="rect">
            <a:avLst/>
          </a:prstGeom>
          <a:noFill/>
          <a:ln/>
        </p:spPr>
        <p:txBody>
          <a:bodyPr wrap="square" lIns="0" tIns="0" rIns="0" bIns="0" rtlCol="0" anchor="ctr"/>
          <a:lstStyle/>
          <a:p>
            <a:pPr indent="0" marL="0">
              <a:buNone/>
            </a:pPr>
            <a:r>
              <a:rPr lang="en-US" sz="1350" dirty="0">
                <a:solidFill>
                  <a:srgbClr val="10262B"/>
                </a:solidFill>
                <a:latin typeface="Calibri" pitchFamily="34" charset="0"/>
                <a:ea typeface="Calibri" pitchFamily="34" charset="-122"/>
                <a:cs typeface="Calibri" pitchFamily="34" charset="-120"/>
              </a:rPr>
              <a:t>Validate input · wiki → wikipedia</a:t>
            </a:r>
            <a:endParaRPr lang="en-US" sz="1350" dirty="0"/>
          </a:p>
        </p:txBody>
      </p:sp>
      <p:sp>
        <p:nvSpPr>
          <p:cNvPr id="14" name="Text 12"/>
          <p:cNvSpPr txBox="1"/>
          <p:nvPr/>
        </p:nvSpPr>
        <p:spPr>
          <a:xfrm>
            <a:off x="7287768" y="2359152"/>
            <a:ext cx="2834640" cy="256032"/>
          </a:xfrm>
          <a:prstGeom prst="rect">
            <a:avLst/>
          </a:prstGeom>
          <a:noFill/>
          <a:ln/>
        </p:spPr>
        <p:txBody>
          <a:bodyPr wrap="square" lIns="0" tIns="0" rIns="0" bIns="0" rtlCol="0" anchor="ctr"/>
          <a:lstStyle/>
          <a:p>
            <a:pPr indent="0" marL="0">
              <a:buNone/>
            </a:pPr>
            <a:r>
              <a:rPr lang="en-US" sz="1050" dirty="0">
                <a:solidFill>
                  <a:srgbClr val="5C6B6E"/>
                </a:solidFill>
                <a:latin typeface="Courier New" pitchFamily="34" charset="0"/>
                <a:ea typeface="Courier New" pitchFamily="34" charset="-122"/>
                <a:cs typeface="Courier New" pitchFamily="34" charset="-120"/>
              </a:rPr>
              <a:t>cli.py</a:t>
            </a:r>
            <a:endParaRPr lang="en-US" sz="1050" dirty="0"/>
          </a:p>
        </p:txBody>
      </p:sp>
      <p:sp>
        <p:nvSpPr>
          <p:cNvPr id="15" name="Text 13"/>
          <p:cNvSpPr txBox="1"/>
          <p:nvPr/>
        </p:nvSpPr>
        <p:spPr>
          <a:xfrm>
            <a:off x="10168128" y="2359152"/>
            <a:ext cx="1371600" cy="256032"/>
          </a:xfrm>
          <a:prstGeom prst="rect">
            <a:avLst/>
          </a:prstGeom>
          <a:noFill/>
          <a:ln/>
        </p:spPr>
        <p:txBody>
          <a:bodyPr wrap="square" lIns="0" tIns="0" rIns="0" bIns="0" rtlCol="0" anchor="ctr"/>
          <a:lstStyle/>
          <a:p>
            <a:pPr algn="r" indent="0" marL="0">
              <a:buNone/>
            </a:pPr>
            <a:r>
              <a:rPr lang="en-US" sz="1000" dirty="0">
                <a:solidFill>
                  <a:srgbClr val="028090"/>
                </a:solidFill>
                <a:latin typeface="Courier New" pitchFamily="34" charset="0"/>
                <a:ea typeface="Courier New" pitchFamily="34" charset="-122"/>
                <a:cs typeface="Courier New" pitchFamily="34" charset="-120"/>
              </a:rPr>
              <a:t>Farid</a:t>
            </a:r>
            <a:endParaRPr lang="en-US" sz="1000" dirty="0"/>
          </a:p>
        </p:txBody>
      </p:sp>
      <p:sp>
        <p:nvSpPr>
          <p:cNvPr id="16" name="Shape 14"/>
          <p:cNvSpPr/>
          <p:nvPr/>
        </p:nvSpPr>
        <p:spPr>
          <a:xfrm>
            <a:off x="566928" y="2871216"/>
            <a:ext cx="11064240" cy="566928"/>
          </a:xfrm>
          <a:prstGeom prst="roundRect">
            <a:avLst>
              <a:gd name="adj" fmla="val 9677"/>
            </a:avLst>
          </a:prstGeom>
          <a:solidFill>
            <a:srgbClr val="EEF4F4"/>
          </a:solidFill>
          <a:ln w="9525">
            <a:solidFill>
              <a:srgbClr val="D7E2E2"/>
            </a:solidFill>
            <a:prstDash val="solid"/>
          </a:ln>
        </p:spPr>
      </p:sp>
      <p:sp>
        <p:nvSpPr>
          <p:cNvPr id="17" name="Shape 15"/>
          <p:cNvSpPr/>
          <p:nvPr/>
        </p:nvSpPr>
        <p:spPr>
          <a:xfrm>
            <a:off x="731520" y="2962656"/>
            <a:ext cx="384048" cy="384048"/>
          </a:xfrm>
          <a:prstGeom prst="ellipse">
            <a:avLst/>
          </a:prstGeom>
          <a:solidFill>
            <a:srgbClr val="028090"/>
          </a:solidFill>
          <a:ln/>
        </p:spPr>
      </p:sp>
      <p:sp>
        <p:nvSpPr>
          <p:cNvPr id="18" name="Text 16"/>
          <p:cNvSpPr txBox="1"/>
          <p:nvPr/>
        </p:nvSpPr>
        <p:spPr>
          <a:xfrm>
            <a:off x="731520" y="3012948"/>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280160" y="3017520"/>
            <a:ext cx="5943600" cy="274320"/>
          </a:xfrm>
          <a:prstGeom prst="rect">
            <a:avLst/>
          </a:prstGeom>
          <a:noFill/>
          <a:ln/>
        </p:spPr>
        <p:txBody>
          <a:bodyPr wrap="square" lIns="0" tIns="0" rIns="0" bIns="0" rtlCol="0" anchor="ctr"/>
          <a:lstStyle/>
          <a:p>
            <a:pPr indent="0" marL="0">
              <a:buNone/>
            </a:pPr>
            <a:r>
              <a:rPr lang="en-US" sz="1350" dirty="0">
                <a:solidFill>
                  <a:srgbClr val="10262B"/>
                </a:solidFill>
                <a:latin typeface="Calibri" pitchFamily="34" charset="0"/>
                <a:ea typeface="Calibri" pitchFamily="34" charset="-122"/>
                <a:cs typeface="Calibri" pitchFamily="34" charset="-120"/>
              </a:rPr>
              <a:t>Ask the cache what we already know</a:t>
            </a:r>
            <a:endParaRPr lang="en-US" sz="1350" dirty="0"/>
          </a:p>
        </p:txBody>
      </p:sp>
      <p:sp>
        <p:nvSpPr>
          <p:cNvPr id="20" name="Text 18"/>
          <p:cNvSpPr txBox="1"/>
          <p:nvPr/>
        </p:nvSpPr>
        <p:spPr>
          <a:xfrm>
            <a:off x="7287768" y="3026664"/>
            <a:ext cx="2834640" cy="256032"/>
          </a:xfrm>
          <a:prstGeom prst="rect">
            <a:avLst/>
          </a:prstGeom>
          <a:noFill/>
          <a:ln/>
        </p:spPr>
        <p:txBody>
          <a:bodyPr wrap="square" lIns="0" tIns="0" rIns="0" bIns="0" rtlCol="0" anchor="ctr"/>
          <a:lstStyle/>
          <a:p>
            <a:pPr indent="0" marL="0">
              <a:buNone/>
            </a:pPr>
            <a:r>
              <a:rPr lang="en-US" sz="1050" dirty="0">
                <a:solidFill>
                  <a:srgbClr val="5C6B6E"/>
                </a:solidFill>
                <a:latin typeface="Courier New" pitchFamily="34" charset="0"/>
                <a:ea typeface="Courier New" pitchFamily="34" charset="-122"/>
                <a:cs typeface="Courier New" pitchFamily="34" charset="-120"/>
              </a:rPr>
              <a:t>cache.py → cache_store.py</a:t>
            </a:r>
            <a:endParaRPr lang="en-US" sz="1050" dirty="0"/>
          </a:p>
        </p:txBody>
      </p:sp>
      <p:sp>
        <p:nvSpPr>
          <p:cNvPr id="21" name="Text 19"/>
          <p:cNvSpPr txBox="1"/>
          <p:nvPr/>
        </p:nvSpPr>
        <p:spPr>
          <a:xfrm>
            <a:off x="10168128" y="3026664"/>
            <a:ext cx="1371600" cy="256032"/>
          </a:xfrm>
          <a:prstGeom prst="rect">
            <a:avLst/>
          </a:prstGeom>
          <a:noFill/>
          <a:ln/>
        </p:spPr>
        <p:txBody>
          <a:bodyPr wrap="square" lIns="0" tIns="0" rIns="0" bIns="0" rtlCol="0" anchor="ctr"/>
          <a:lstStyle/>
          <a:p>
            <a:pPr algn="r" indent="0" marL="0">
              <a:buNone/>
            </a:pPr>
            <a:r>
              <a:rPr lang="en-US" sz="1000" dirty="0">
                <a:solidFill>
                  <a:srgbClr val="028090"/>
                </a:solidFill>
                <a:latin typeface="Courier New" pitchFamily="34" charset="0"/>
                <a:ea typeface="Courier New" pitchFamily="34" charset="-122"/>
                <a:cs typeface="Courier New" pitchFamily="34" charset="-120"/>
              </a:rPr>
              <a:t>Sahib · Farid</a:t>
            </a:r>
            <a:endParaRPr lang="en-US" sz="1000" dirty="0"/>
          </a:p>
        </p:txBody>
      </p:sp>
      <p:sp>
        <p:nvSpPr>
          <p:cNvPr id="22" name="Shape 20"/>
          <p:cNvSpPr/>
          <p:nvPr/>
        </p:nvSpPr>
        <p:spPr>
          <a:xfrm>
            <a:off x="566928" y="3538728"/>
            <a:ext cx="11064240" cy="566928"/>
          </a:xfrm>
          <a:prstGeom prst="roundRect">
            <a:avLst>
              <a:gd name="adj" fmla="val 9677"/>
            </a:avLst>
          </a:prstGeom>
          <a:solidFill>
            <a:srgbClr val="EEF4F4"/>
          </a:solidFill>
          <a:ln w="9525">
            <a:solidFill>
              <a:srgbClr val="D7E2E2"/>
            </a:solidFill>
            <a:prstDash val="solid"/>
          </a:ln>
        </p:spPr>
      </p:sp>
      <p:sp>
        <p:nvSpPr>
          <p:cNvPr id="23" name="Shape 21"/>
          <p:cNvSpPr/>
          <p:nvPr/>
        </p:nvSpPr>
        <p:spPr>
          <a:xfrm>
            <a:off x="731520" y="3630168"/>
            <a:ext cx="384048" cy="384048"/>
          </a:xfrm>
          <a:prstGeom prst="ellipse">
            <a:avLst/>
          </a:prstGeom>
          <a:solidFill>
            <a:srgbClr val="00A896"/>
          </a:solidFill>
          <a:ln/>
        </p:spPr>
      </p:sp>
      <p:sp>
        <p:nvSpPr>
          <p:cNvPr id="24" name="Text 22"/>
          <p:cNvSpPr txBox="1"/>
          <p:nvPr/>
        </p:nvSpPr>
        <p:spPr>
          <a:xfrm>
            <a:off x="731520" y="3680460"/>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1280160" y="3685032"/>
            <a:ext cx="5943600" cy="274320"/>
          </a:xfrm>
          <a:prstGeom prst="rect">
            <a:avLst/>
          </a:prstGeom>
          <a:noFill/>
          <a:ln/>
        </p:spPr>
        <p:txBody>
          <a:bodyPr wrap="square" lIns="0" tIns="0" rIns="0" bIns="0" rtlCol="0" anchor="ctr"/>
          <a:lstStyle/>
          <a:p>
            <a:pPr indent="0" marL="0">
              <a:buNone/>
            </a:pPr>
            <a:r>
              <a:rPr lang="en-US" sz="1350" dirty="0">
                <a:solidFill>
                  <a:srgbClr val="10262B"/>
                </a:solidFill>
                <a:latin typeface="Calibri" pitchFamily="34" charset="0"/>
                <a:ea typeface="Calibri" pitchFamily="34" charset="-122"/>
                <a:cs typeface="Calibri" pitchFamily="34" charset="-120"/>
              </a:rPr>
              <a:t>Fetch the misses — all at once, each with a deadline</a:t>
            </a:r>
            <a:endParaRPr lang="en-US" sz="1350" dirty="0"/>
          </a:p>
        </p:txBody>
      </p:sp>
      <p:sp>
        <p:nvSpPr>
          <p:cNvPr id="26" name="Text 24"/>
          <p:cNvSpPr txBox="1"/>
          <p:nvPr/>
        </p:nvSpPr>
        <p:spPr>
          <a:xfrm>
            <a:off x="7287768" y="3694176"/>
            <a:ext cx="2834640" cy="256032"/>
          </a:xfrm>
          <a:prstGeom prst="rect">
            <a:avLst/>
          </a:prstGeom>
          <a:noFill/>
          <a:ln/>
        </p:spPr>
        <p:txBody>
          <a:bodyPr wrap="square" lIns="0" tIns="0" rIns="0" bIns="0" rtlCol="0" anchor="ctr"/>
          <a:lstStyle/>
          <a:p>
            <a:pPr indent="0" marL="0">
              <a:buNone/>
            </a:pPr>
            <a:r>
              <a:rPr lang="en-US" sz="1050" dirty="0">
                <a:solidFill>
                  <a:srgbClr val="5C6B6E"/>
                </a:solidFill>
                <a:latin typeface="Courier New" pitchFamily="34" charset="0"/>
                <a:ea typeface="Courier New" pitchFamily="34" charset="-122"/>
                <a:cs typeface="Courier New" pitchFamily="34" charset="-120"/>
              </a:rPr>
              <a:t>orchestrator.py</a:t>
            </a:r>
            <a:endParaRPr lang="en-US" sz="1050" dirty="0"/>
          </a:p>
        </p:txBody>
      </p:sp>
      <p:sp>
        <p:nvSpPr>
          <p:cNvPr id="27" name="Text 25"/>
          <p:cNvSpPr txBox="1"/>
          <p:nvPr/>
        </p:nvSpPr>
        <p:spPr>
          <a:xfrm>
            <a:off x="10168128" y="3694176"/>
            <a:ext cx="1371600" cy="256032"/>
          </a:xfrm>
          <a:prstGeom prst="rect">
            <a:avLst/>
          </a:prstGeom>
          <a:noFill/>
          <a:ln/>
        </p:spPr>
        <p:txBody>
          <a:bodyPr wrap="square" lIns="0" tIns="0" rIns="0" bIns="0" rtlCol="0" anchor="ctr"/>
          <a:lstStyle/>
          <a:p>
            <a:pPr algn="r" indent="0" marL="0">
              <a:buNone/>
            </a:pPr>
            <a:r>
              <a:rPr lang="en-US" sz="1000" dirty="0">
                <a:solidFill>
                  <a:srgbClr val="028090"/>
                </a:solidFill>
                <a:latin typeface="Courier New" pitchFamily="34" charset="0"/>
                <a:ea typeface="Courier New" pitchFamily="34" charset="-122"/>
                <a:cs typeface="Courier New" pitchFamily="34" charset="-120"/>
              </a:rPr>
              <a:t>Nigar</a:t>
            </a:r>
            <a:endParaRPr lang="en-US" sz="1000" dirty="0"/>
          </a:p>
        </p:txBody>
      </p:sp>
      <p:sp>
        <p:nvSpPr>
          <p:cNvPr id="28" name="Shape 26"/>
          <p:cNvSpPr/>
          <p:nvPr/>
        </p:nvSpPr>
        <p:spPr>
          <a:xfrm>
            <a:off x="566928" y="4206240"/>
            <a:ext cx="11064240" cy="566928"/>
          </a:xfrm>
          <a:prstGeom prst="roundRect">
            <a:avLst>
              <a:gd name="adj" fmla="val 9677"/>
            </a:avLst>
          </a:prstGeom>
          <a:solidFill>
            <a:srgbClr val="EEF4F4"/>
          </a:solidFill>
          <a:ln w="9525">
            <a:solidFill>
              <a:srgbClr val="D7E2E2"/>
            </a:solidFill>
            <a:prstDash val="solid"/>
          </a:ln>
        </p:spPr>
      </p:sp>
      <p:sp>
        <p:nvSpPr>
          <p:cNvPr id="29" name="Shape 27"/>
          <p:cNvSpPr/>
          <p:nvPr/>
        </p:nvSpPr>
        <p:spPr>
          <a:xfrm>
            <a:off x="731520" y="4297680"/>
            <a:ext cx="384048" cy="384048"/>
          </a:xfrm>
          <a:prstGeom prst="ellipse">
            <a:avLst/>
          </a:prstGeom>
          <a:solidFill>
            <a:srgbClr val="028090"/>
          </a:solidFill>
          <a:ln/>
        </p:spPr>
      </p:sp>
      <p:sp>
        <p:nvSpPr>
          <p:cNvPr id="30" name="Text 28"/>
          <p:cNvSpPr txBox="1"/>
          <p:nvPr/>
        </p:nvSpPr>
        <p:spPr>
          <a:xfrm>
            <a:off x="731520" y="4347972"/>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txBox="1"/>
          <p:nvPr/>
        </p:nvSpPr>
        <p:spPr>
          <a:xfrm>
            <a:off x="1280160" y="4352544"/>
            <a:ext cx="5943600" cy="274320"/>
          </a:xfrm>
          <a:prstGeom prst="rect">
            <a:avLst/>
          </a:prstGeom>
          <a:noFill/>
          <a:ln/>
        </p:spPr>
        <p:txBody>
          <a:bodyPr wrap="square" lIns="0" tIns="0" rIns="0" bIns="0" rtlCol="0" anchor="ctr"/>
          <a:lstStyle/>
          <a:p>
            <a:pPr indent="0" marL="0">
              <a:buNone/>
            </a:pPr>
            <a:r>
              <a:rPr lang="en-US" sz="1350" dirty="0">
                <a:solidFill>
                  <a:srgbClr val="10262B"/>
                </a:solidFill>
                <a:latin typeface="Calibri" pitchFamily="34" charset="0"/>
                <a:ea typeface="Calibri" pitchFamily="34" charset="-122"/>
                <a:cs typeface="Calibri" pitchFamily="34" charset="-120"/>
              </a:rPr>
              <a:t>Store what came back, note what failed</a:t>
            </a:r>
            <a:endParaRPr lang="en-US" sz="1350" dirty="0"/>
          </a:p>
        </p:txBody>
      </p:sp>
      <p:sp>
        <p:nvSpPr>
          <p:cNvPr id="32" name="Text 30"/>
          <p:cNvSpPr txBox="1"/>
          <p:nvPr/>
        </p:nvSpPr>
        <p:spPr>
          <a:xfrm>
            <a:off x="7287768" y="4361688"/>
            <a:ext cx="2834640" cy="256032"/>
          </a:xfrm>
          <a:prstGeom prst="rect">
            <a:avLst/>
          </a:prstGeom>
          <a:noFill/>
          <a:ln/>
        </p:spPr>
        <p:txBody>
          <a:bodyPr wrap="square" lIns="0" tIns="0" rIns="0" bIns="0" rtlCol="0" anchor="ctr"/>
          <a:lstStyle/>
          <a:p>
            <a:pPr indent="0" marL="0">
              <a:buNone/>
            </a:pPr>
            <a:r>
              <a:rPr lang="en-US" sz="1050" dirty="0">
                <a:solidFill>
                  <a:srgbClr val="5C6B6E"/>
                </a:solidFill>
                <a:latin typeface="Courier New" pitchFamily="34" charset="0"/>
                <a:ea typeface="Courier New" pitchFamily="34" charset="-122"/>
                <a:cs typeface="Courier New" pitchFamily="34" charset="-120"/>
              </a:rPr>
              <a:t>researcher.py</a:t>
            </a:r>
            <a:endParaRPr lang="en-US" sz="1050" dirty="0"/>
          </a:p>
        </p:txBody>
      </p:sp>
      <p:sp>
        <p:nvSpPr>
          <p:cNvPr id="33" name="Text 31"/>
          <p:cNvSpPr txBox="1"/>
          <p:nvPr/>
        </p:nvSpPr>
        <p:spPr>
          <a:xfrm>
            <a:off x="10168128" y="4361688"/>
            <a:ext cx="1371600" cy="256032"/>
          </a:xfrm>
          <a:prstGeom prst="rect">
            <a:avLst/>
          </a:prstGeom>
          <a:noFill/>
          <a:ln/>
        </p:spPr>
        <p:txBody>
          <a:bodyPr wrap="square" lIns="0" tIns="0" rIns="0" bIns="0" rtlCol="0" anchor="ctr"/>
          <a:lstStyle/>
          <a:p>
            <a:pPr algn="r" indent="0" marL="0">
              <a:buNone/>
            </a:pPr>
            <a:r>
              <a:rPr lang="en-US" sz="1000" dirty="0">
                <a:solidFill>
                  <a:srgbClr val="028090"/>
                </a:solidFill>
                <a:latin typeface="Courier New" pitchFamily="34" charset="0"/>
                <a:ea typeface="Courier New" pitchFamily="34" charset="-122"/>
                <a:cs typeface="Courier New" pitchFamily="34" charset="-120"/>
              </a:rPr>
              <a:t>Farid</a:t>
            </a:r>
            <a:endParaRPr lang="en-US" sz="1000" dirty="0"/>
          </a:p>
        </p:txBody>
      </p:sp>
      <p:sp>
        <p:nvSpPr>
          <p:cNvPr id="34" name="Shape 32"/>
          <p:cNvSpPr/>
          <p:nvPr/>
        </p:nvSpPr>
        <p:spPr>
          <a:xfrm>
            <a:off x="566928" y="4873752"/>
            <a:ext cx="11064240" cy="566928"/>
          </a:xfrm>
          <a:prstGeom prst="roundRect">
            <a:avLst>
              <a:gd name="adj" fmla="val 9677"/>
            </a:avLst>
          </a:prstGeom>
          <a:solidFill>
            <a:srgbClr val="EEF4F4"/>
          </a:solidFill>
          <a:ln w="9525">
            <a:solidFill>
              <a:srgbClr val="D7E2E2"/>
            </a:solidFill>
            <a:prstDash val="solid"/>
          </a:ln>
        </p:spPr>
      </p:sp>
      <p:sp>
        <p:nvSpPr>
          <p:cNvPr id="35" name="Shape 33"/>
          <p:cNvSpPr/>
          <p:nvPr/>
        </p:nvSpPr>
        <p:spPr>
          <a:xfrm>
            <a:off x="731520" y="4965192"/>
            <a:ext cx="384048" cy="384048"/>
          </a:xfrm>
          <a:prstGeom prst="ellipse">
            <a:avLst/>
          </a:prstGeom>
          <a:solidFill>
            <a:srgbClr val="028090"/>
          </a:solidFill>
          <a:ln/>
        </p:spPr>
      </p:sp>
      <p:sp>
        <p:nvSpPr>
          <p:cNvPr id="36" name="Text 34"/>
          <p:cNvSpPr txBox="1"/>
          <p:nvPr/>
        </p:nvSpPr>
        <p:spPr>
          <a:xfrm>
            <a:off x="731520" y="5015484"/>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txBox="1"/>
          <p:nvPr/>
        </p:nvSpPr>
        <p:spPr>
          <a:xfrm>
            <a:off x="1280160" y="5020056"/>
            <a:ext cx="5943600" cy="274320"/>
          </a:xfrm>
          <a:prstGeom prst="rect">
            <a:avLst/>
          </a:prstGeom>
          <a:noFill/>
          <a:ln/>
        </p:spPr>
        <p:txBody>
          <a:bodyPr wrap="square" lIns="0" tIns="0" rIns="0" bIns="0" rtlCol="0" anchor="ctr"/>
          <a:lstStyle/>
          <a:p>
            <a:pPr indent="0" marL="0">
              <a:buNone/>
            </a:pPr>
            <a:r>
              <a:rPr lang="en-US" sz="1350" dirty="0">
                <a:solidFill>
                  <a:srgbClr val="10262B"/>
                </a:solidFill>
                <a:latin typeface="Calibri" pitchFamily="34" charset="0"/>
                <a:ea typeface="Calibri" pitchFamily="34" charset="-122"/>
                <a:cs typeface="Calibri" pitchFamily="34" charset="-120"/>
              </a:rPr>
              <a:t>Synthesise one answer, retry on provider errors</a:t>
            </a:r>
            <a:endParaRPr lang="en-US" sz="1350" dirty="0"/>
          </a:p>
        </p:txBody>
      </p:sp>
      <p:sp>
        <p:nvSpPr>
          <p:cNvPr id="38" name="Text 36"/>
          <p:cNvSpPr txBox="1"/>
          <p:nvPr/>
        </p:nvSpPr>
        <p:spPr>
          <a:xfrm>
            <a:off x="7287768" y="5029200"/>
            <a:ext cx="2834640" cy="256032"/>
          </a:xfrm>
          <a:prstGeom prst="rect">
            <a:avLst/>
          </a:prstGeom>
          <a:noFill/>
          <a:ln/>
        </p:spPr>
        <p:txBody>
          <a:bodyPr wrap="square" lIns="0" tIns="0" rIns="0" bIns="0" rtlCol="0" anchor="ctr"/>
          <a:lstStyle/>
          <a:p>
            <a:pPr indent="0" marL="0">
              <a:buNone/>
            </a:pPr>
            <a:r>
              <a:rPr lang="en-US" sz="1050" dirty="0">
                <a:solidFill>
                  <a:srgbClr val="5C6B6E"/>
                </a:solidFill>
                <a:latin typeface="Courier New" pitchFamily="34" charset="0"/>
                <a:ea typeface="Courier New" pitchFamily="34" charset="-122"/>
                <a:cs typeface="Courier New" pitchFamily="34" charset="-120"/>
              </a:rPr>
              <a:t>ai_service.py</a:t>
            </a:r>
            <a:endParaRPr lang="en-US" sz="1050" dirty="0"/>
          </a:p>
        </p:txBody>
      </p:sp>
      <p:sp>
        <p:nvSpPr>
          <p:cNvPr id="39" name="Text 37"/>
          <p:cNvSpPr txBox="1"/>
          <p:nvPr/>
        </p:nvSpPr>
        <p:spPr>
          <a:xfrm>
            <a:off x="10168128" y="5029200"/>
            <a:ext cx="1371600" cy="256032"/>
          </a:xfrm>
          <a:prstGeom prst="rect">
            <a:avLst/>
          </a:prstGeom>
          <a:noFill/>
          <a:ln/>
        </p:spPr>
        <p:txBody>
          <a:bodyPr wrap="square" lIns="0" tIns="0" rIns="0" bIns="0" rtlCol="0" anchor="ctr"/>
          <a:lstStyle/>
          <a:p>
            <a:pPr algn="r" indent="0" marL="0">
              <a:buNone/>
            </a:pPr>
            <a:r>
              <a:rPr lang="en-US" sz="1000" dirty="0">
                <a:solidFill>
                  <a:srgbClr val="028090"/>
                </a:solidFill>
                <a:latin typeface="Courier New" pitchFamily="34" charset="0"/>
                <a:ea typeface="Courier New" pitchFamily="34" charset="-122"/>
                <a:cs typeface="Courier New" pitchFamily="34" charset="-120"/>
              </a:rPr>
              <a:t>Farid</a:t>
            </a:r>
            <a:endParaRPr lang="en-US" sz="1000" dirty="0"/>
          </a:p>
        </p:txBody>
      </p:sp>
      <p:sp>
        <p:nvSpPr>
          <p:cNvPr id="40" name="Shape 38"/>
          <p:cNvSpPr/>
          <p:nvPr/>
        </p:nvSpPr>
        <p:spPr>
          <a:xfrm>
            <a:off x="566928" y="5541264"/>
            <a:ext cx="11064240" cy="566928"/>
          </a:xfrm>
          <a:prstGeom prst="roundRect">
            <a:avLst>
              <a:gd name="adj" fmla="val 9677"/>
            </a:avLst>
          </a:prstGeom>
          <a:solidFill>
            <a:srgbClr val="EEF4F4"/>
          </a:solidFill>
          <a:ln w="9525">
            <a:solidFill>
              <a:srgbClr val="D7E2E2"/>
            </a:solidFill>
            <a:prstDash val="solid"/>
          </a:ln>
        </p:spPr>
      </p:sp>
      <p:sp>
        <p:nvSpPr>
          <p:cNvPr id="41" name="Shape 39"/>
          <p:cNvSpPr/>
          <p:nvPr/>
        </p:nvSpPr>
        <p:spPr>
          <a:xfrm>
            <a:off x="731520" y="5632704"/>
            <a:ext cx="384048" cy="384048"/>
          </a:xfrm>
          <a:prstGeom prst="ellipse">
            <a:avLst/>
          </a:prstGeom>
          <a:solidFill>
            <a:srgbClr val="028090"/>
          </a:solidFill>
          <a:ln/>
        </p:spPr>
      </p:sp>
      <p:sp>
        <p:nvSpPr>
          <p:cNvPr id="42" name="Text 40"/>
          <p:cNvSpPr txBox="1"/>
          <p:nvPr/>
        </p:nvSpPr>
        <p:spPr>
          <a:xfrm>
            <a:off x="731520" y="5682996"/>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3" name="Text 41"/>
          <p:cNvSpPr txBox="1"/>
          <p:nvPr/>
        </p:nvSpPr>
        <p:spPr>
          <a:xfrm>
            <a:off x="1280160" y="5687568"/>
            <a:ext cx="5943600" cy="274320"/>
          </a:xfrm>
          <a:prstGeom prst="rect">
            <a:avLst/>
          </a:prstGeom>
          <a:noFill/>
          <a:ln/>
        </p:spPr>
        <p:txBody>
          <a:bodyPr wrap="square" lIns="0" tIns="0" rIns="0" bIns="0" rtlCol="0" anchor="ctr"/>
          <a:lstStyle/>
          <a:p>
            <a:pPr indent="0" marL="0">
              <a:buNone/>
            </a:pPr>
            <a:r>
              <a:rPr lang="en-US" sz="1350" dirty="0">
                <a:solidFill>
                  <a:srgbClr val="10262B"/>
                </a:solidFill>
                <a:latin typeface="Calibri" pitchFamily="34" charset="0"/>
                <a:ea typeface="Calibri" pitchFamily="34" charset="-122"/>
                <a:cs typeface="Calibri" pitchFamily="34" charset="-120"/>
              </a:rPr>
              <a:t>Print the answer and its numbered references</a:t>
            </a:r>
            <a:endParaRPr lang="en-US" sz="1350" dirty="0"/>
          </a:p>
        </p:txBody>
      </p:sp>
      <p:sp>
        <p:nvSpPr>
          <p:cNvPr id="44" name="Text 42"/>
          <p:cNvSpPr txBox="1"/>
          <p:nvPr/>
        </p:nvSpPr>
        <p:spPr>
          <a:xfrm>
            <a:off x="7287768" y="5696712"/>
            <a:ext cx="2834640" cy="256032"/>
          </a:xfrm>
          <a:prstGeom prst="rect">
            <a:avLst/>
          </a:prstGeom>
          <a:noFill/>
          <a:ln/>
        </p:spPr>
        <p:txBody>
          <a:bodyPr wrap="square" lIns="0" tIns="0" rIns="0" bIns="0" rtlCol="0" anchor="ctr"/>
          <a:lstStyle/>
          <a:p>
            <a:pPr indent="0" marL="0">
              <a:buNone/>
            </a:pPr>
            <a:r>
              <a:rPr lang="en-US" sz="1050" dirty="0">
                <a:solidFill>
                  <a:srgbClr val="5C6B6E"/>
                </a:solidFill>
                <a:latin typeface="Courier New" pitchFamily="34" charset="0"/>
                <a:ea typeface="Courier New" pitchFamily="34" charset="-122"/>
                <a:cs typeface="Courier New" pitchFamily="34" charset="-120"/>
              </a:rPr>
              <a:t>cli.py</a:t>
            </a:r>
            <a:endParaRPr lang="en-US" sz="1050" dirty="0"/>
          </a:p>
        </p:txBody>
      </p:sp>
      <p:sp>
        <p:nvSpPr>
          <p:cNvPr id="45" name="Text 43"/>
          <p:cNvSpPr txBox="1"/>
          <p:nvPr/>
        </p:nvSpPr>
        <p:spPr>
          <a:xfrm>
            <a:off x="10168128" y="5696712"/>
            <a:ext cx="1371600" cy="256032"/>
          </a:xfrm>
          <a:prstGeom prst="rect">
            <a:avLst/>
          </a:prstGeom>
          <a:noFill/>
          <a:ln/>
        </p:spPr>
        <p:txBody>
          <a:bodyPr wrap="square" lIns="0" tIns="0" rIns="0" bIns="0" rtlCol="0" anchor="ctr"/>
          <a:lstStyle/>
          <a:p>
            <a:pPr algn="r" indent="0" marL="0">
              <a:buNone/>
            </a:pPr>
            <a:r>
              <a:rPr lang="en-US" sz="1000" dirty="0">
                <a:solidFill>
                  <a:srgbClr val="028090"/>
                </a:solidFill>
                <a:latin typeface="Courier New" pitchFamily="34" charset="0"/>
                <a:ea typeface="Courier New" pitchFamily="34" charset="-122"/>
                <a:cs typeface="Courier New" pitchFamily="34" charset="-120"/>
              </a:rPr>
              <a:t>Farid</a:t>
            </a:r>
            <a:endParaRPr lang="en-US" sz="1000" dirty="0"/>
          </a:p>
        </p:txBody>
      </p:sp>
      <p:sp>
        <p:nvSpPr>
          <p:cNvPr id="46" name="Text 44"/>
          <p:cNvSpPr txBox="1"/>
          <p:nvPr/>
        </p:nvSpPr>
        <p:spPr>
          <a:xfrm>
            <a:off x="566928" y="6309360"/>
            <a:ext cx="11064240" cy="274320"/>
          </a:xfrm>
          <a:prstGeom prst="rect">
            <a:avLst/>
          </a:prstGeom>
          <a:noFill/>
          <a:ln/>
        </p:spPr>
        <p:txBody>
          <a:bodyPr wrap="square" lIns="0" tIns="0" rIns="0" bIns="0" rtlCol="0" anchor="ctr"/>
          <a:lstStyle/>
          <a:p>
            <a:pPr indent="0" marL="0">
              <a:buNone/>
            </a:pPr>
            <a:r>
              <a:rPr lang="en-US" sz="1150" i="1" dirty="0">
                <a:solidFill>
                  <a:srgbClr val="5C6B6E"/>
                </a:solidFill>
                <a:latin typeface="Calibri" pitchFamily="34" charset="0"/>
                <a:ea typeface="Calibri" pitchFamily="34" charset="-122"/>
                <a:cs typeface="Calibri" pitchFamily="34" charset="-120"/>
              </a:rPr>
              <a:t>Step 4 is the only step that is not sequential — and it is where the whole speed-up comes from.</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THE WHOLE PROJECT</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One command, start to finish</a:t>
            </a:r>
            <a:endParaRPr lang="en-US" sz="3400" dirty="0"/>
          </a:p>
        </p:txBody>
      </p:sp>
      <p:sp>
        <p:nvSpPr>
          <p:cNvPr id="4" name="Text 2"/>
          <p:cNvSpPr txBox="1"/>
          <p:nvPr/>
        </p:nvSpPr>
        <p:spPr>
          <a:xfrm>
            <a:off x="566928" y="1371600"/>
            <a:ext cx="6400800" cy="219456"/>
          </a:xfrm>
          <a:prstGeom prst="rect">
            <a:avLst/>
          </a:prstGeom>
          <a:noFill/>
          <a:ln/>
        </p:spPr>
        <p:txBody>
          <a:bodyPr wrap="square" lIns="0" tIns="0" rIns="0" bIns="0" rtlCol="0" anchor="ctr"/>
          <a:lstStyle/>
          <a:p>
            <a:pPr indent="0" marL="0">
              <a:buNone/>
            </a:pPr>
            <a:r>
              <a:rPr lang="en-US" sz="800" spc="100" kern="0" dirty="0">
                <a:solidFill>
                  <a:srgbClr val="028090"/>
                </a:solidFill>
                <a:latin typeface="Courier New" pitchFamily="34" charset="0"/>
                <a:ea typeface="Courier New" pitchFamily="34" charset="-122"/>
                <a:cs typeface="Courier New" pitchFamily="34" charset="-120"/>
              </a:rPr>
              <a:t>1 · START UP</a:t>
            </a:r>
            <a:endParaRPr lang="en-US" sz="800" dirty="0"/>
          </a:p>
        </p:txBody>
      </p:sp>
      <p:sp>
        <p:nvSpPr>
          <p:cNvPr id="5" name="Shape 3"/>
          <p:cNvSpPr/>
          <p:nvPr/>
        </p:nvSpPr>
        <p:spPr>
          <a:xfrm>
            <a:off x="566928" y="1609344"/>
            <a:ext cx="2240280" cy="603504"/>
          </a:xfrm>
          <a:prstGeom prst="roundRect">
            <a:avLst>
              <a:gd name="adj" fmla="val 9091"/>
            </a:avLst>
          </a:prstGeom>
          <a:solidFill>
            <a:srgbClr val="EEF4F4"/>
          </a:solidFill>
          <a:ln w="12700">
            <a:solidFill>
              <a:srgbClr val="D7E2E2"/>
            </a:solidFill>
            <a:prstDash val="solid"/>
          </a:ln>
        </p:spPr>
      </p:sp>
      <p:sp>
        <p:nvSpPr>
          <p:cNvPr id="6" name="Text 4"/>
          <p:cNvSpPr txBox="1"/>
          <p:nvPr/>
        </p:nvSpPr>
        <p:spPr>
          <a:xfrm>
            <a:off x="694944" y="1691640"/>
            <a:ext cx="198424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you type</a:t>
            </a:r>
            <a:endParaRPr lang="en-US" sz="950" dirty="0"/>
          </a:p>
        </p:txBody>
      </p:sp>
      <p:sp>
        <p:nvSpPr>
          <p:cNvPr id="7" name="Text 5"/>
          <p:cNvSpPr txBox="1"/>
          <p:nvPr/>
        </p:nvSpPr>
        <p:spPr>
          <a:xfrm>
            <a:off x="694944" y="1929384"/>
            <a:ext cx="1984248" cy="219456"/>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python -m researcher ask "..."</a:t>
            </a:r>
            <a:endParaRPr lang="en-US" sz="850" dirty="0"/>
          </a:p>
        </p:txBody>
      </p:sp>
      <p:sp>
        <p:nvSpPr>
          <p:cNvPr id="8" name="Shape 6"/>
          <p:cNvSpPr/>
          <p:nvPr/>
        </p:nvSpPr>
        <p:spPr>
          <a:xfrm>
            <a:off x="2852928" y="1911096"/>
            <a:ext cx="256032" cy="0"/>
          </a:xfrm>
          <a:prstGeom prst="line">
            <a:avLst/>
          </a:prstGeom>
          <a:noFill/>
          <a:ln w="15875">
            <a:solidFill>
              <a:srgbClr val="5C6B6E"/>
            </a:solidFill>
            <a:prstDash val="solid"/>
            <a:tailEnd type="triangle"/>
          </a:ln>
        </p:spPr>
      </p:sp>
      <p:sp>
        <p:nvSpPr>
          <p:cNvPr id="9" name="Shape 7"/>
          <p:cNvSpPr/>
          <p:nvPr/>
        </p:nvSpPr>
        <p:spPr>
          <a:xfrm>
            <a:off x="3154680" y="1609344"/>
            <a:ext cx="2651760" cy="603504"/>
          </a:xfrm>
          <a:prstGeom prst="roundRect">
            <a:avLst>
              <a:gd name="adj" fmla="val 9091"/>
            </a:avLst>
          </a:prstGeom>
          <a:solidFill>
            <a:srgbClr val="EEF4F4"/>
          </a:solidFill>
          <a:ln w="12700">
            <a:solidFill>
              <a:srgbClr val="D7E2E2"/>
            </a:solidFill>
            <a:prstDash val="solid"/>
          </a:ln>
        </p:spPr>
      </p:sp>
      <p:sp>
        <p:nvSpPr>
          <p:cNvPr id="10" name="Text 8"/>
          <p:cNvSpPr txBox="1"/>
          <p:nvPr/>
        </p:nvSpPr>
        <p:spPr>
          <a:xfrm>
            <a:off x="3282696" y="1691640"/>
            <a:ext cx="239572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cli.py — validate</a:t>
            </a:r>
            <a:endParaRPr lang="en-US" sz="950" dirty="0"/>
          </a:p>
        </p:txBody>
      </p:sp>
      <p:sp>
        <p:nvSpPr>
          <p:cNvPr id="11" name="Text 9"/>
          <p:cNvSpPr txBox="1"/>
          <p:nvPr/>
        </p:nvSpPr>
        <p:spPr>
          <a:xfrm>
            <a:off x="3282696" y="1929384"/>
            <a:ext cx="2395728" cy="219456"/>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load_dotenv() · argparse · length + source checks · wiki → wikipedia</a:t>
            </a:r>
            <a:endParaRPr lang="en-US" sz="850" dirty="0"/>
          </a:p>
        </p:txBody>
      </p:sp>
      <p:sp>
        <p:nvSpPr>
          <p:cNvPr id="12" name="Shape 10"/>
          <p:cNvSpPr/>
          <p:nvPr/>
        </p:nvSpPr>
        <p:spPr>
          <a:xfrm>
            <a:off x="5852160" y="1911096"/>
            <a:ext cx="256032" cy="0"/>
          </a:xfrm>
          <a:prstGeom prst="line">
            <a:avLst/>
          </a:prstGeom>
          <a:noFill/>
          <a:ln w="15875">
            <a:solidFill>
              <a:srgbClr val="5C6B6E"/>
            </a:solidFill>
            <a:prstDash val="solid"/>
            <a:tailEnd type="triangle"/>
          </a:ln>
        </p:spPr>
      </p:sp>
      <p:sp>
        <p:nvSpPr>
          <p:cNvPr id="13" name="Shape 11"/>
          <p:cNvSpPr/>
          <p:nvPr/>
        </p:nvSpPr>
        <p:spPr>
          <a:xfrm>
            <a:off x="6153912" y="1609344"/>
            <a:ext cx="2651760" cy="603504"/>
          </a:xfrm>
          <a:prstGeom prst="roundRect">
            <a:avLst>
              <a:gd name="adj" fmla="val 9091"/>
            </a:avLst>
          </a:prstGeom>
          <a:solidFill>
            <a:srgbClr val="EEF4F4"/>
          </a:solidFill>
          <a:ln w="12700">
            <a:solidFill>
              <a:srgbClr val="D7E2E2"/>
            </a:solidFill>
            <a:prstDash val="solid"/>
          </a:ln>
        </p:spPr>
      </p:sp>
      <p:sp>
        <p:nvSpPr>
          <p:cNvPr id="14" name="Text 12"/>
          <p:cNvSpPr txBox="1"/>
          <p:nvPr/>
        </p:nvSpPr>
        <p:spPr>
          <a:xfrm>
            <a:off x="6281928" y="1691640"/>
            <a:ext cx="239572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cli.py — build once</a:t>
            </a:r>
            <a:endParaRPr lang="en-US" sz="950" dirty="0"/>
          </a:p>
        </p:txBody>
      </p:sp>
      <p:sp>
        <p:nvSpPr>
          <p:cNvPr id="15" name="Text 13"/>
          <p:cNvSpPr txBox="1"/>
          <p:nvPr/>
        </p:nvSpPr>
        <p:spPr>
          <a:xfrm>
            <a:off x="6281928" y="1929384"/>
            <a:ext cx="2395728" cy="219456"/>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settings · logging · shared httpx client · JsonFile or Null cache</a:t>
            </a:r>
            <a:endParaRPr lang="en-US" sz="850" dirty="0"/>
          </a:p>
        </p:txBody>
      </p:sp>
      <p:sp>
        <p:nvSpPr>
          <p:cNvPr id="16" name="Shape 14"/>
          <p:cNvSpPr/>
          <p:nvPr/>
        </p:nvSpPr>
        <p:spPr>
          <a:xfrm>
            <a:off x="8851392" y="1911096"/>
            <a:ext cx="256032" cy="0"/>
          </a:xfrm>
          <a:prstGeom prst="line">
            <a:avLst/>
          </a:prstGeom>
          <a:noFill/>
          <a:ln w="15875">
            <a:solidFill>
              <a:srgbClr val="5C6B6E"/>
            </a:solidFill>
            <a:prstDash val="solid"/>
            <a:tailEnd type="triangle"/>
          </a:ln>
        </p:spPr>
      </p:sp>
      <p:sp>
        <p:nvSpPr>
          <p:cNvPr id="17" name="Shape 15"/>
          <p:cNvSpPr/>
          <p:nvPr/>
        </p:nvSpPr>
        <p:spPr>
          <a:xfrm>
            <a:off x="9153144" y="1609344"/>
            <a:ext cx="2468880" cy="603504"/>
          </a:xfrm>
          <a:prstGeom prst="roundRect">
            <a:avLst>
              <a:gd name="adj" fmla="val 9091"/>
            </a:avLst>
          </a:prstGeom>
          <a:solidFill>
            <a:srgbClr val="EEF4F4"/>
          </a:solidFill>
          <a:ln w="12700">
            <a:solidFill>
              <a:srgbClr val="D7E2E2"/>
            </a:solidFill>
            <a:prstDash val="solid"/>
          </a:ln>
        </p:spPr>
      </p:sp>
      <p:sp>
        <p:nvSpPr>
          <p:cNvPr id="18" name="Text 16"/>
          <p:cNvSpPr txBox="1"/>
          <p:nvPr/>
        </p:nvSpPr>
        <p:spPr>
          <a:xfrm>
            <a:off x="9281160" y="1691640"/>
            <a:ext cx="221284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researcher.ask()</a:t>
            </a:r>
            <a:endParaRPr lang="en-US" sz="950" dirty="0"/>
          </a:p>
        </p:txBody>
      </p:sp>
      <p:sp>
        <p:nvSpPr>
          <p:cNvPr id="19" name="Text 17"/>
          <p:cNvSpPr txBox="1"/>
          <p:nvPr/>
        </p:nvSpPr>
        <p:spPr>
          <a:xfrm>
            <a:off x="9281160" y="1929384"/>
            <a:ext cx="2212848" cy="219456"/>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the workflow takes over</a:t>
            </a:r>
            <a:endParaRPr lang="en-US" sz="850" dirty="0"/>
          </a:p>
        </p:txBody>
      </p:sp>
      <p:sp>
        <p:nvSpPr>
          <p:cNvPr id="20" name="Shape 18"/>
          <p:cNvSpPr/>
          <p:nvPr/>
        </p:nvSpPr>
        <p:spPr>
          <a:xfrm>
            <a:off x="10387584" y="2212848"/>
            <a:ext cx="0" cy="237744"/>
          </a:xfrm>
          <a:prstGeom prst="line">
            <a:avLst/>
          </a:prstGeom>
          <a:noFill/>
          <a:ln w="15875">
            <a:solidFill>
              <a:srgbClr val="5C6B6E"/>
            </a:solidFill>
            <a:prstDash val="solid"/>
            <a:tailEnd type="triangle"/>
          </a:ln>
        </p:spPr>
      </p:sp>
      <p:sp>
        <p:nvSpPr>
          <p:cNvPr id="21" name="Text 19"/>
          <p:cNvSpPr txBox="1"/>
          <p:nvPr/>
        </p:nvSpPr>
        <p:spPr>
          <a:xfrm>
            <a:off x="566928" y="2487168"/>
            <a:ext cx="6400800" cy="219456"/>
          </a:xfrm>
          <a:prstGeom prst="rect">
            <a:avLst/>
          </a:prstGeom>
          <a:noFill/>
          <a:ln/>
        </p:spPr>
        <p:txBody>
          <a:bodyPr wrap="square" lIns="0" tIns="0" rIns="0" bIns="0" rtlCol="0" anchor="ctr"/>
          <a:lstStyle/>
          <a:p>
            <a:pPr indent="0" marL="0">
              <a:buNone/>
            </a:pPr>
            <a:r>
              <a:rPr lang="en-US" sz="800" spc="100" kern="0" dirty="0">
                <a:solidFill>
                  <a:srgbClr val="028090"/>
                </a:solidFill>
                <a:latin typeface="Courier New" pitchFamily="34" charset="0"/>
                <a:ea typeface="Courier New" pitchFamily="34" charset="-122"/>
                <a:cs typeface="Courier New" pitchFamily="34" charset="-120"/>
              </a:rPr>
              <a:t>2 · CACHE</a:t>
            </a:r>
            <a:endParaRPr lang="en-US" sz="800" dirty="0"/>
          </a:p>
        </p:txBody>
      </p:sp>
      <p:sp>
        <p:nvSpPr>
          <p:cNvPr id="22" name="Shape 20"/>
          <p:cNvSpPr/>
          <p:nvPr/>
        </p:nvSpPr>
        <p:spPr>
          <a:xfrm>
            <a:off x="6153912" y="2724912"/>
            <a:ext cx="2651760" cy="603504"/>
          </a:xfrm>
          <a:prstGeom prst="roundRect">
            <a:avLst>
              <a:gd name="adj" fmla="val 9091"/>
            </a:avLst>
          </a:prstGeom>
          <a:solidFill>
            <a:srgbClr val="EEF4F4"/>
          </a:solidFill>
          <a:ln w="12700">
            <a:solidFill>
              <a:srgbClr val="D7E2E2"/>
            </a:solidFill>
            <a:prstDash val="solid"/>
          </a:ln>
        </p:spPr>
      </p:sp>
      <p:sp>
        <p:nvSpPr>
          <p:cNvPr id="23" name="Text 21"/>
          <p:cNvSpPr txBox="1"/>
          <p:nvPr/>
        </p:nvSpPr>
        <p:spPr>
          <a:xfrm>
            <a:off x="6281928" y="2807208"/>
            <a:ext cx="239572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cache_store.get()</a:t>
            </a:r>
            <a:endParaRPr lang="en-US" sz="950" dirty="0"/>
          </a:p>
        </p:txBody>
      </p:sp>
      <p:sp>
        <p:nvSpPr>
          <p:cNvPr id="24" name="Text 22"/>
          <p:cNvSpPr txBox="1"/>
          <p:nvPr/>
        </p:nvSpPr>
        <p:spPr>
          <a:xfrm>
            <a:off x="6281928" y="3044952"/>
            <a:ext cx="2395728" cy="219456"/>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canonicalise → sha256 → read file → TTL check</a:t>
            </a:r>
            <a:endParaRPr lang="en-US" sz="850" dirty="0"/>
          </a:p>
        </p:txBody>
      </p:sp>
      <p:sp>
        <p:nvSpPr>
          <p:cNvPr id="25" name="Shape 23"/>
          <p:cNvSpPr/>
          <p:nvPr/>
        </p:nvSpPr>
        <p:spPr>
          <a:xfrm>
            <a:off x="9153144" y="2724912"/>
            <a:ext cx="2468880" cy="603504"/>
          </a:xfrm>
          <a:prstGeom prst="roundRect">
            <a:avLst>
              <a:gd name="adj" fmla="val 9091"/>
            </a:avLst>
          </a:prstGeom>
          <a:solidFill>
            <a:srgbClr val="EEF4F4"/>
          </a:solidFill>
          <a:ln w="12700">
            <a:solidFill>
              <a:srgbClr val="D7E2E2"/>
            </a:solidFill>
            <a:prstDash val="solid"/>
          </a:ln>
        </p:spPr>
      </p:sp>
      <p:sp>
        <p:nvSpPr>
          <p:cNvPr id="26" name="Text 24"/>
          <p:cNvSpPr txBox="1"/>
          <p:nvPr/>
        </p:nvSpPr>
        <p:spPr>
          <a:xfrm>
            <a:off x="9281160" y="2807208"/>
            <a:ext cx="221284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CacheService</a:t>
            </a:r>
            <a:endParaRPr lang="en-US" sz="950" dirty="0"/>
          </a:p>
        </p:txBody>
      </p:sp>
      <p:sp>
        <p:nvSpPr>
          <p:cNvPr id="27" name="Text 25"/>
          <p:cNvSpPr txBox="1"/>
          <p:nvPr/>
        </p:nvSpPr>
        <p:spPr>
          <a:xfrm>
            <a:off x="9281160" y="3044952"/>
            <a:ext cx="2212848" cy="219456"/>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every source looked up at once</a:t>
            </a:r>
            <a:endParaRPr lang="en-US" sz="850" dirty="0"/>
          </a:p>
        </p:txBody>
      </p:sp>
      <p:sp>
        <p:nvSpPr>
          <p:cNvPr id="28" name="Shape 26"/>
          <p:cNvSpPr/>
          <p:nvPr/>
        </p:nvSpPr>
        <p:spPr>
          <a:xfrm>
            <a:off x="9134856" y="3026664"/>
            <a:ext cx="-274320" cy="0"/>
          </a:xfrm>
          <a:prstGeom prst="line">
            <a:avLst/>
          </a:prstGeom>
          <a:noFill/>
          <a:ln w="15875">
            <a:solidFill>
              <a:srgbClr val="5C6B6E"/>
            </a:solidFill>
            <a:prstDash val="solid"/>
            <a:tailEnd type="triangle"/>
          </a:ln>
        </p:spPr>
      </p:sp>
      <p:sp>
        <p:nvSpPr>
          <p:cNvPr id="29" name="Shape 27"/>
          <p:cNvSpPr/>
          <p:nvPr/>
        </p:nvSpPr>
        <p:spPr>
          <a:xfrm>
            <a:off x="3154680" y="2724912"/>
            <a:ext cx="2651760" cy="603504"/>
          </a:xfrm>
          <a:prstGeom prst="roundRect">
            <a:avLst>
              <a:gd name="adj" fmla="val 9091"/>
            </a:avLst>
          </a:prstGeom>
          <a:solidFill>
            <a:srgbClr val="D8ECEA"/>
          </a:solidFill>
          <a:ln w="12700">
            <a:solidFill>
              <a:srgbClr val="028090"/>
            </a:solidFill>
            <a:prstDash val="solid"/>
          </a:ln>
        </p:spPr>
      </p:sp>
      <p:sp>
        <p:nvSpPr>
          <p:cNvPr id="30" name="Text 28"/>
          <p:cNvSpPr txBox="1"/>
          <p:nvPr/>
        </p:nvSpPr>
        <p:spPr>
          <a:xfrm>
            <a:off x="3282696" y="2807208"/>
            <a:ext cx="239572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hit?</a:t>
            </a:r>
            <a:endParaRPr lang="en-US" sz="950" dirty="0"/>
          </a:p>
        </p:txBody>
      </p:sp>
      <p:sp>
        <p:nvSpPr>
          <p:cNvPr id="31" name="Text 29"/>
          <p:cNvSpPr txBox="1"/>
          <p:nvPr/>
        </p:nvSpPr>
        <p:spPr>
          <a:xfrm>
            <a:off x="3282696" y="3044952"/>
            <a:ext cx="2395728" cy="237744"/>
          </a:xfrm>
          <a:prstGeom prst="rect">
            <a:avLst/>
          </a:prstGeom>
          <a:noFill/>
          <a:ln/>
        </p:spPr>
        <p:txBody>
          <a:bodyPr wrap="square" lIns="0" tIns="0" rIns="0" bIns="0" rtlCol="0" anchor="ctr"/>
          <a:lstStyle/>
          <a:p>
            <a:pPr indent="0" marL="0">
              <a:buNone/>
            </a:pPr>
            <a:r>
              <a:rPr lang="en-US" sz="850" dirty="0">
                <a:solidFill>
                  <a:srgbClr val="5C6B6E"/>
                </a:solidFill>
                <a:latin typeface="Calibri" pitchFamily="34" charset="0"/>
                <a:ea typeface="Calibri" pitchFamily="34" charset="-122"/>
                <a:cs typeface="Calibri" pitchFamily="34" charset="-120"/>
              </a:rPr>
              <a:t>cached sources skip the network entirely</a:t>
            </a:r>
            <a:endParaRPr lang="en-US" sz="850" dirty="0"/>
          </a:p>
        </p:txBody>
      </p:sp>
      <p:sp>
        <p:nvSpPr>
          <p:cNvPr id="32" name="Shape 30"/>
          <p:cNvSpPr/>
          <p:nvPr/>
        </p:nvSpPr>
        <p:spPr>
          <a:xfrm>
            <a:off x="6108192" y="3026664"/>
            <a:ext cx="-274320" cy="0"/>
          </a:xfrm>
          <a:prstGeom prst="line">
            <a:avLst/>
          </a:prstGeom>
          <a:noFill/>
          <a:ln w="15875">
            <a:solidFill>
              <a:srgbClr val="5C6B6E"/>
            </a:solidFill>
            <a:prstDash val="solid"/>
            <a:tailEnd type="triangle"/>
          </a:ln>
        </p:spPr>
      </p:sp>
      <p:sp>
        <p:nvSpPr>
          <p:cNvPr id="33" name="Shape 31"/>
          <p:cNvSpPr/>
          <p:nvPr/>
        </p:nvSpPr>
        <p:spPr>
          <a:xfrm>
            <a:off x="4480560" y="3328416"/>
            <a:ext cx="0" cy="237744"/>
          </a:xfrm>
          <a:prstGeom prst="line">
            <a:avLst/>
          </a:prstGeom>
          <a:noFill/>
          <a:ln w="15875">
            <a:solidFill>
              <a:srgbClr val="5C6B6E"/>
            </a:solidFill>
            <a:prstDash val="solid"/>
          </a:ln>
        </p:spPr>
      </p:sp>
      <p:sp>
        <p:nvSpPr>
          <p:cNvPr id="34" name="Shape 32"/>
          <p:cNvSpPr/>
          <p:nvPr/>
        </p:nvSpPr>
        <p:spPr>
          <a:xfrm>
            <a:off x="1687068" y="3566160"/>
            <a:ext cx="2793492" cy="0"/>
          </a:xfrm>
          <a:prstGeom prst="line">
            <a:avLst/>
          </a:prstGeom>
          <a:noFill/>
          <a:ln w="15875">
            <a:solidFill>
              <a:srgbClr val="5C6B6E"/>
            </a:solidFill>
            <a:prstDash val="solid"/>
          </a:ln>
        </p:spPr>
      </p:sp>
      <p:sp>
        <p:nvSpPr>
          <p:cNvPr id="35" name="Shape 33"/>
          <p:cNvSpPr/>
          <p:nvPr/>
        </p:nvSpPr>
        <p:spPr>
          <a:xfrm>
            <a:off x="1687068" y="3566160"/>
            <a:ext cx="0" cy="411480"/>
          </a:xfrm>
          <a:prstGeom prst="line">
            <a:avLst/>
          </a:prstGeom>
          <a:noFill/>
          <a:ln w="15875">
            <a:solidFill>
              <a:srgbClr val="5C6B6E"/>
            </a:solidFill>
            <a:prstDash val="solid"/>
            <a:tailEnd type="triangle"/>
          </a:ln>
        </p:spPr>
      </p:sp>
      <p:sp>
        <p:nvSpPr>
          <p:cNvPr id="36" name="Text 34"/>
          <p:cNvSpPr txBox="1"/>
          <p:nvPr/>
        </p:nvSpPr>
        <p:spPr>
          <a:xfrm>
            <a:off x="566928" y="3310128"/>
            <a:ext cx="6400800" cy="219456"/>
          </a:xfrm>
          <a:prstGeom prst="rect">
            <a:avLst/>
          </a:prstGeom>
          <a:noFill/>
          <a:ln/>
        </p:spPr>
        <p:txBody>
          <a:bodyPr wrap="square" lIns="0" tIns="0" rIns="0" bIns="0" rtlCol="0" anchor="ctr"/>
          <a:lstStyle/>
          <a:p>
            <a:pPr indent="0" marL="0">
              <a:buNone/>
            </a:pPr>
            <a:r>
              <a:rPr lang="en-US" sz="800" spc="100" kern="0" dirty="0">
                <a:solidFill>
                  <a:srgbClr val="028090"/>
                </a:solidFill>
                <a:latin typeface="Courier New" pitchFamily="34" charset="0"/>
                <a:ea typeface="Courier New" pitchFamily="34" charset="-122"/>
                <a:cs typeface="Courier New" pitchFamily="34" charset="-120"/>
              </a:rPr>
              <a:t>3 · FETCH THE MISSES  —  ALL THREE AT THE SAME TIME</a:t>
            </a:r>
            <a:endParaRPr lang="en-US" sz="800" dirty="0"/>
          </a:p>
        </p:txBody>
      </p:sp>
      <p:sp>
        <p:nvSpPr>
          <p:cNvPr id="37" name="Shape 35"/>
          <p:cNvSpPr/>
          <p:nvPr/>
        </p:nvSpPr>
        <p:spPr>
          <a:xfrm>
            <a:off x="566928" y="3977640"/>
            <a:ext cx="2240280" cy="914400"/>
          </a:xfrm>
          <a:prstGeom prst="roundRect">
            <a:avLst>
              <a:gd name="adj" fmla="val 6000"/>
            </a:avLst>
          </a:prstGeom>
          <a:solidFill>
            <a:srgbClr val="10262B"/>
          </a:solidFill>
          <a:ln w="12700">
            <a:solidFill>
              <a:srgbClr val="10262B"/>
            </a:solidFill>
            <a:prstDash val="solid"/>
          </a:ln>
        </p:spPr>
      </p:sp>
      <p:sp>
        <p:nvSpPr>
          <p:cNvPr id="38" name="Text 36"/>
          <p:cNvSpPr txBox="1"/>
          <p:nvPr/>
        </p:nvSpPr>
        <p:spPr>
          <a:xfrm>
            <a:off x="694944" y="4059936"/>
            <a:ext cx="1984248" cy="237744"/>
          </a:xfrm>
          <a:prstGeom prst="rect">
            <a:avLst/>
          </a:prstGeom>
          <a:noFill/>
          <a:ln/>
        </p:spPr>
        <p:txBody>
          <a:bodyPr wrap="square" lIns="0" tIns="0" rIns="0" bIns="0" rtlCol="0" anchor="ctr"/>
          <a:lstStyle/>
          <a:p>
            <a:pPr indent="0" marL="0">
              <a:buNone/>
            </a:pPr>
            <a:r>
              <a:rPr lang="en-US" sz="950" b="1" dirty="0">
                <a:solidFill>
                  <a:srgbClr val="02C39A"/>
                </a:solidFill>
                <a:latin typeface="Courier New" pitchFamily="34" charset="0"/>
                <a:ea typeface="Courier New" pitchFamily="34" charset="-122"/>
                <a:cs typeface="Courier New" pitchFamily="34" charset="-120"/>
              </a:rPr>
              <a:t>orchestrator</a:t>
            </a:r>
            <a:endParaRPr lang="en-US" sz="950" dirty="0"/>
          </a:p>
        </p:txBody>
      </p:sp>
      <p:sp>
        <p:nvSpPr>
          <p:cNvPr id="39" name="Text 37"/>
          <p:cNvSpPr txBox="1"/>
          <p:nvPr/>
        </p:nvSpPr>
        <p:spPr>
          <a:xfrm>
            <a:off x="694944" y="4297680"/>
            <a:ext cx="1984248" cy="530352"/>
          </a:xfrm>
          <a:prstGeom prst="rect">
            <a:avLst/>
          </a:prstGeom>
          <a:noFill/>
          <a:ln/>
        </p:spPr>
        <p:txBody>
          <a:bodyPr wrap="square" lIns="0" tIns="0" rIns="0" bIns="0" rtlCol="0" anchor="ctr"/>
          <a:lstStyle/>
          <a:p>
            <a:pPr indent="0" marL="0">
              <a:lnSpc>
                <a:spcPts val="1100"/>
              </a:lnSpc>
              <a:buNone/>
            </a:pPr>
            <a:r>
              <a:rPr lang="en-US" sz="850" dirty="0">
                <a:solidFill>
                  <a:srgbClr val="C9DEDE"/>
                </a:solidFill>
                <a:latin typeface="Calibri" pitchFamily="34" charset="0"/>
                <a:ea typeface="Calibri" pitchFamily="34" charset="-122"/>
                <a:cs typeface="Calibri" pitchFamily="34" charset="-120"/>
              </a:rPr>
              <a:t>gather(return_exceptions=True) · Semaphore(5) · never raises</a:t>
            </a:r>
            <a:endParaRPr lang="en-US" sz="850" dirty="0"/>
          </a:p>
        </p:txBody>
      </p:sp>
      <p:sp>
        <p:nvSpPr>
          <p:cNvPr id="40" name="Shape 38"/>
          <p:cNvSpPr/>
          <p:nvPr/>
        </p:nvSpPr>
        <p:spPr>
          <a:xfrm>
            <a:off x="2807208" y="4434840"/>
            <a:ext cx="201168" cy="0"/>
          </a:xfrm>
          <a:prstGeom prst="line">
            <a:avLst/>
          </a:prstGeom>
          <a:noFill/>
          <a:ln w="15875">
            <a:solidFill>
              <a:srgbClr val="028090"/>
            </a:solidFill>
            <a:prstDash val="solid"/>
          </a:ln>
        </p:spPr>
      </p:sp>
      <p:sp>
        <p:nvSpPr>
          <p:cNvPr id="41" name="Shape 39"/>
          <p:cNvSpPr/>
          <p:nvPr/>
        </p:nvSpPr>
        <p:spPr>
          <a:xfrm>
            <a:off x="3008376" y="3803904"/>
            <a:ext cx="0" cy="630936"/>
          </a:xfrm>
          <a:prstGeom prst="line">
            <a:avLst/>
          </a:prstGeom>
          <a:noFill/>
          <a:ln w="15875">
            <a:solidFill>
              <a:srgbClr val="028090"/>
            </a:solidFill>
            <a:prstDash val="solid"/>
          </a:ln>
        </p:spPr>
      </p:sp>
      <p:sp>
        <p:nvSpPr>
          <p:cNvPr id="42" name="Shape 40"/>
          <p:cNvSpPr/>
          <p:nvPr/>
        </p:nvSpPr>
        <p:spPr>
          <a:xfrm>
            <a:off x="3008376" y="3803904"/>
            <a:ext cx="7379208" cy="0"/>
          </a:xfrm>
          <a:prstGeom prst="line">
            <a:avLst/>
          </a:prstGeom>
          <a:noFill/>
          <a:ln w="15875">
            <a:solidFill>
              <a:srgbClr val="028090"/>
            </a:solidFill>
            <a:prstDash val="solid"/>
          </a:ln>
        </p:spPr>
      </p:sp>
      <p:sp>
        <p:nvSpPr>
          <p:cNvPr id="43" name="Shape 41"/>
          <p:cNvSpPr/>
          <p:nvPr/>
        </p:nvSpPr>
        <p:spPr>
          <a:xfrm>
            <a:off x="3154680" y="3977640"/>
            <a:ext cx="2651760" cy="914400"/>
          </a:xfrm>
          <a:prstGeom prst="roundRect">
            <a:avLst>
              <a:gd name="adj" fmla="val 6000"/>
            </a:avLst>
          </a:prstGeom>
          <a:solidFill>
            <a:srgbClr val="D8ECEA"/>
          </a:solidFill>
          <a:ln w="12700">
            <a:solidFill>
              <a:srgbClr val="028090"/>
            </a:solidFill>
            <a:prstDash val="solid"/>
          </a:ln>
        </p:spPr>
      </p:sp>
      <p:sp>
        <p:nvSpPr>
          <p:cNvPr id="44" name="Text 42"/>
          <p:cNvSpPr txBox="1"/>
          <p:nvPr/>
        </p:nvSpPr>
        <p:spPr>
          <a:xfrm>
            <a:off x="3282696" y="4059936"/>
            <a:ext cx="239572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fetch_wikipedia</a:t>
            </a:r>
            <a:endParaRPr lang="en-US" sz="950" dirty="0"/>
          </a:p>
        </p:txBody>
      </p:sp>
      <p:sp>
        <p:nvSpPr>
          <p:cNvPr id="45" name="Text 43"/>
          <p:cNvSpPr txBox="1"/>
          <p:nvPr/>
        </p:nvSpPr>
        <p:spPr>
          <a:xfrm>
            <a:off x="3282696" y="4297680"/>
            <a:ext cx="2395728" cy="530352"/>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fetch_with_retry: 3 attempts, 0.5s backoff + jitter</a:t>
            </a:r>
            <a:endParaRPr lang="en-US" sz="850" dirty="0"/>
          </a:p>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wrapped in an 8-second deadline</a:t>
            </a:r>
            <a:endParaRPr lang="en-US" sz="850" dirty="0"/>
          </a:p>
        </p:txBody>
      </p:sp>
      <p:sp>
        <p:nvSpPr>
          <p:cNvPr id="46" name="Shape 44"/>
          <p:cNvSpPr/>
          <p:nvPr/>
        </p:nvSpPr>
        <p:spPr>
          <a:xfrm>
            <a:off x="4480560" y="3803904"/>
            <a:ext cx="0" cy="173736"/>
          </a:xfrm>
          <a:prstGeom prst="line">
            <a:avLst/>
          </a:prstGeom>
          <a:noFill/>
          <a:ln w="15875">
            <a:solidFill>
              <a:srgbClr val="028090"/>
            </a:solidFill>
            <a:prstDash val="solid"/>
            <a:tailEnd type="triangle"/>
          </a:ln>
        </p:spPr>
      </p:sp>
      <p:sp>
        <p:nvSpPr>
          <p:cNvPr id="47" name="Shape 45"/>
          <p:cNvSpPr/>
          <p:nvPr/>
        </p:nvSpPr>
        <p:spPr>
          <a:xfrm>
            <a:off x="6153912" y="3977640"/>
            <a:ext cx="2651760" cy="914400"/>
          </a:xfrm>
          <a:prstGeom prst="roundRect">
            <a:avLst>
              <a:gd name="adj" fmla="val 6000"/>
            </a:avLst>
          </a:prstGeom>
          <a:solidFill>
            <a:srgbClr val="D8ECEA"/>
          </a:solidFill>
          <a:ln w="12700">
            <a:solidFill>
              <a:srgbClr val="028090"/>
            </a:solidFill>
            <a:prstDash val="solid"/>
          </a:ln>
        </p:spPr>
      </p:sp>
      <p:sp>
        <p:nvSpPr>
          <p:cNvPr id="48" name="Text 46"/>
          <p:cNvSpPr txBox="1"/>
          <p:nvPr/>
        </p:nvSpPr>
        <p:spPr>
          <a:xfrm>
            <a:off x="6281928" y="4059936"/>
            <a:ext cx="239572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fetch_arxiv</a:t>
            </a:r>
            <a:endParaRPr lang="en-US" sz="950" dirty="0"/>
          </a:p>
        </p:txBody>
      </p:sp>
      <p:sp>
        <p:nvSpPr>
          <p:cNvPr id="49" name="Text 47"/>
          <p:cNvSpPr txBox="1"/>
          <p:nvPr/>
        </p:nvSpPr>
        <p:spPr>
          <a:xfrm>
            <a:off x="6281928" y="4297680"/>
            <a:ext cx="2395728" cy="530352"/>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fetch_with_retry: 3 attempts, 0.5s backoff + jitter</a:t>
            </a:r>
            <a:endParaRPr lang="en-US" sz="850" dirty="0"/>
          </a:p>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wrapped in an 8-second deadline</a:t>
            </a:r>
            <a:endParaRPr lang="en-US" sz="850" dirty="0"/>
          </a:p>
        </p:txBody>
      </p:sp>
      <p:sp>
        <p:nvSpPr>
          <p:cNvPr id="50" name="Shape 48"/>
          <p:cNvSpPr/>
          <p:nvPr/>
        </p:nvSpPr>
        <p:spPr>
          <a:xfrm>
            <a:off x="7479792" y="3803904"/>
            <a:ext cx="0" cy="173736"/>
          </a:xfrm>
          <a:prstGeom prst="line">
            <a:avLst/>
          </a:prstGeom>
          <a:noFill/>
          <a:ln w="15875">
            <a:solidFill>
              <a:srgbClr val="028090"/>
            </a:solidFill>
            <a:prstDash val="solid"/>
            <a:tailEnd type="triangle"/>
          </a:ln>
        </p:spPr>
      </p:sp>
      <p:sp>
        <p:nvSpPr>
          <p:cNvPr id="51" name="Shape 49"/>
          <p:cNvSpPr/>
          <p:nvPr/>
        </p:nvSpPr>
        <p:spPr>
          <a:xfrm>
            <a:off x="9153144" y="3977640"/>
            <a:ext cx="2468880" cy="914400"/>
          </a:xfrm>
          <a:prstGeom prst="roundRect">
            <a:avLst>
              <a:gd name="adj" fmla="val 6000"/>
            </a:avLst>
          </a:prstGeom>
          <a:solidFill>
            <a:srgbClr val="D8ECEA"/>
          </a:solidFill>
          <a:ln w="12700">
            <a:solidFill>
              <a:srgbClr val="028090"/>
            </a:solidFill>
            <a:prstDash val="solid"/>
          </a:ln>
        </p:spPr>
      </p:sp>
      <p:sp>
        <p:nvSpPr>
          <p:cNvPr id="52" name="Text 50"/>
          <p:cNvSpPr txBox="1"/>
          <p:nvPr/>
        </p:nvSpPr>
        <p:spPr>
          <a:xfrm>
            <a:off x="9281160" y="4059936"/>
            <a:ext cx="221284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fetch_web</a:t>
            </a:r>
            <a:endParaRPr lang="en-US" sz="950" dirty="0"/>
          </a:p>
        </p:txBody>
      </p:sp>
      <p:sp>
        <p:nvSpPr>
          <p:cNvPr id="53" name="Text 51"/>
          <p:cNvSpPr txBox="1"/>
          <p:nvPr/>
        </p:nvSpPr>
        <p:spPr>
          <a:xfrm>
            <a:off x="9281160" y="4297680"/>
            <a:ext cx="2212848" cy="530352"/>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fetch_with_retry: 3 attempts, 0.5s backoff + jitter</a:t>
            </a:r>
            <a:endParaRPr lang="en-US" sz="850" dirty="0"/>
          </a:p>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wrapped in an 8-second deadline</a:t>
            </a:r>
            <a:endParaRPr lang="en-US" sz="850" dirty="0"/>
          </a:p>
        </p:txBody>
      </p:sp>
      <p:sp>
        <p:nvSpPr>
          <p:cNvPr id="54" name="Shape 52"/>
          <p:cNvSpPr/>
          <p:nvPr/>
        </p:nvSpPr>
        <p:spPr>
          <a:xfrm>
            <a:off x="10387584" y="3803904"/>
            <a:ext cx="0" cy="173736"/>
          </a:xfrm>
          <a:prstGeom prst="line">
            <a:avLst/>
          </a:prstGeom>
          <a:noFill/>
          <a:ln w="15875">
            <a:solidFill>
              <a:srgbClr val="028090"/>
            </a:solidFill>
            <a:prstDash val="solid"/>
            <a:tailEnd type="triangle"/>
          </a:ln>
        </p:spPr>
      </p:sp>
      <p:sp>
        <p:nvSpPr>
          <p:cNvPr id="55" name="Shape 53"/>
          <p:cNvSpPr/>
          <p:nvPr/>
        </p:nvSpPr>
        <p:spPr>
          <a:xfrm>
            <a:off x="4480560" y="4892040"/>
            <a:ext cx="0" cy="256032"/>
          </a:xfrm>
          <a:prstGeom prst="line">
            <a:avLst/>
          </a:prstGeom>
          <a:noFill/>
          <a:ln w="15875">
            <a:solidFill>
              <a:srgbClr val="5C6B6E"/>
            </a:solidFill>
            <a:prstDash val="solid"/>
            <a:tailEnd type="triangle"/>
          </a:ln>
        </p:spPr>
      </p:sp>
      <p:sp>
        <p:nvSpPr>
          <p:cNvPr id="56" name="Text 54"/>
          <p:cNvSpPr txBox="1"/>
          <p:nvPr/>
        </p:nvSpPr>
        <p:spPr>
          <a:xfrm>
            <a:off x="566928" y="5175504"/>
            <a:ext cx="6400800" cy="219456"/>
          </a:xfrm>
          <a:prstGeom prst="rect">
            <a:avLst/>
          </a:prstGeom>
          <a:noFill/>
          <a:ln/>
        </p:spPr>
        <p:txBody>
          <a:bodyPr wrap="square" lIns="0" tIns="0" rIns="0" bIns="0" rtlCol="0" anchor="ctr"/>
          <a:lstStyle/>
          <a:p>
            <a:pPr indent="0" marL="0">
              <a:buNone/>
            </a:pPr>
            <a:r>
              <a:rPr lang="en-US" sz="800" spc="100" kern="0" dirty="0">
                <a:solidFill>
                  <a:srgbClr val="028090"/>
                </a:solidFill>
                <a:latin typeface="Courier New" pitchFamily="34" charset="0"/>
                <a:ea typeface="Courier New" pitchFamily="34" charset="-122"/>
                <a:cs typeface="Courier New" pitchFamily="34" charset="-120"/>
              </a:rPr>
              <a:t>4 · ANSWER</a:t>
            </a:r>
            <a:endParaRPr lang="en-US" sz="800" dirty="0"/>
          </a:p>
        </p:txBody>
      </p:sp>
      <p:sp>
        <p:nvSpPr>
          <p:cNvPr id="57" name="Shape 55"/>
          <p:cNvSpPr/>
          <p:nvPr/>
        </p:nvSpPr>
        <p:spPr>
          <a:xfrm>
            <a:off x="566928" y="5413248"/>
            <a:ext cx="2240280" cy="658368"/>
          </a:xfrm>
          <a:prstGeom prst="roundRect">
            <a:avLst>
              <a:gd name="adj" fmla="val 8333"/>
            </a:avLst>
          </a:prstGeom>
          <a:solidFill>
            <a:srgbClr val="EEF4F4"/>
          </a:solidFill>
          <a:ln w="12700">
            <a:solidFill>
              <a:srgbClr val="D7E2E2"/>
            </a:solidFill>
            <a:prstDash val="solid"/>
          </a:ln>
        </p:spPr>
      </p:sp>
      <p:sp>
        <p:nvSpPr>
          <p:cNvPr id="58" name="Text 56"/>
          <p:cNvSpPr txBox="1"/>
          <p:nvPr/>
        </p:nvSpPr>
        <p:spPr>
          <a:xfrm>
            <a:off x="694944" y="5495544"/>
            <a:ext cx="198424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merge</a:t>
            </a:r>
            <a:endParaRPr lang="en-US" sz="950" dirty="0"/>
          </a:p>
        </p:txBody>
      </p:sp>
      <p:sp>
        <p:nvSpPr>
          <p:cNvPr id="59" name="Text 57"/>
          <p:cNvSpPr txBox="1"/>
          <p:nvPr/>
        </p:nvSpPr>
        <p:spPr>
          <a:xfrm>
            <a:off x="694944" y="5733288"/>
            <a:ext cx="1984248" cy="274320"/>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results + which sources failed</a:t>
            </a:r>
            <a:endParaRPr lang="en-US" sz="850" dirty="0"/>
          </a:p>
        </p:txBody>
      </p:sp>
      <p:sp>
        <p:nvSpPr>
          <p:cNvPr id="60" name="Shape 58"/>
          <p:cNvSpPr/>
          <p:nvPr/>
        </p:nvSpPr>
        <p:spPr>
          <a:xfrm>
            <a:off x="2852928" y="5742432"/>
            <a:ext cx="256032" cy="0"/>
          </a:xfrm>
          <a:prstGeom prst="line">
            <a:avLst/>
          </a:prstGeom>
          <a:noFill/>
          <a:ln w="15875">
            <a:solidFill>
              <a:srgbClr val="5C6B6E"/>
            </a:solidFill>
            <a:prstDash val="solid"/>
            <a:tailEnd type="triangle"/>
          </a:ln>
        </p:spPr>
      </p:sp>
      <p:sp>
        <p:nvSpPr>
          <p:cNvPr id="61" name="Shape 59"/>
          <p:cNvSpPr/>
          <p:nvPr/>
        </p:nvSpPr>
        <p:spPr>
          <a:xfrm>
            <a:off x="3154680" y="5413248"/>
            <a:ext cx="2651760" cy="658368"/>
          </a:xfrm>
          <a:prstGeom prst="roundRect">
            <a:avLst>
              <a:gd name="adj" fmla="val 8333"/>
            </a:avLst>
          </a:prstGeom>
          <a:solidFill>
            <a:srgbClr val="EEF4F4"/>
          </a:solidFill>
          <a:ln w="12700">
            <a:solidFill>
              <a:srgbClr val="D7E2E2"/>
            </a:solidFill>
            <a:prstDash val="solid"/>
          </a:ln>
        </p:spPr>
      </p:sp>
      <p:sp>
        <p:nvSpPr>
          <p:cNvPr id="62" name="Text 60"/>
          <p:cNvSpPr txBox="1"/>
          <p:nvPr/>
        </p:nvSpPr>
        <p:spPr>
          <a:xfrm>
            <a:off x="3282696" y="5495544"/>
            <a:ext cx="239572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cache.set()</a:t>
            </a:r>
            <a:endParaRPr lang="en-US" sz="950" dirty="0"/>
          </a:p>
        </p:txBody>
      </p:sp>
      <p:sp>
        <p:nvSpPr>
          <p:cNvPr id="63" name="Text 61"/>
          <p:cNvSpPr txBox="1"/>
          <p:nvPr/>
        </p:nvSpPr>
        <p:spPr>
          <a:xfrm>
            <a:off x="3282696" y="5733288"/>
            <a:ext cx="2395728" cy="274320"/>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atomic write: temp file → os.replace()</a:t>
            </a:r>
            <a:endParaRPr lang="en-US" sz="850" dirty="0"/>
          </a:p>
        </p:txBody>
      </p:sp>
      <p:sp>
        <p:nvSpPr>
          <p:cNvPr id="64" name="Shape 62"/>
          <p:cNvSpPr/>
          <p:nvPr/>
        </p:nvSpPr>
        <p:spPr>
          <a:xfrm>
            <a:off x="5852160" y="5742432"/>
            <a:ext cx="256032" cy="0"/>
          </a:xfrm>
          <a:prstGeom prst="line">
            <a:avLst/>
          </a:prstGeom>
          <a:noFill/>
          <a:ln w="15875">
            <a:solidFill>
              <a:srgbClr val="5C6B6E"/>
            </a:solidFill>
            <a:prstDash val="solid"/>
            <a:tailEnd type="triangle"/>
          </a:ln>
        </p:spPr>
      </p:sp>
      <p:sp>
        <p:nvSpPr>
          <p:cNvPr id="65" name="Shape 63"/>
          <p:cNvSpPr/>
          <p:nvPr/>
        </p:nvSpPr>
        <p:spPr>
          <a:xfrm>
            <a:off x="6153912" y="5413248"/>
            <a:ext cx="2651760" cy="658368"/>
          </a:xfrm>
          <a:prstGeom prst="roundRect">
            <a:avLst>
              <a:gd name="adj" fmla="val 8333"/>
            </a:avLst>
          </a:prstGeom>
          <a:solidFill>
            <a:srgbClr val="EEF4F4"/>
          </a:solidFill>
          <a:ln w="12700">
            <a:solidFill>
              <a:srgbClr val="D7E2E2"/>
            </a:solidFill>
            <a:prstDash val="solid"/>
          </a:ln>
        </p:spPr>
      </p:sp>
      <p:sp>
        <p:nvSpPr>
          <p:cNvPr id="66" name="Text 64"/>
          <p:cNvSpPr txBox="1"/>
          <p:nvPr/>
        </p:nvSpPr>
        <p:spPr>
          <a:xfrm>
            <a:off x="6281928" y="5495544"/>
            <a:ext cx="239572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synthesize_with_retry</a:t>
            </a:r>
            <a:endParaRPr lang="en-US" sz="950" dirty="0"/>
          </a:p>
        </p:txBody>
      </p:sp>
      <p:sp>
        <p:nvSpPr>
          <p:cNvPr id="67" name="Text 65"/>
          <p:cNvSpPr txBox="1"/>
          <p:nvPr/>
        </p:nvSpPr>
        <p:spPr>
          <a:xfrm>
            <a:off x="6281928" y="5733288"/>
            <a:ext cx="2395728" cy="274320"/>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asyncio.to_thread so the loop is never blocked</a:t>
            </a:r>
            <a:endParaRPr lang="en-US" sz="850" dirty="0"/>
          </a:p>
        </p:txBody>
      </p:sp>
      <p:sp>
        <p:nvSpPr>
          <p:cNvPr id="68" name="Shape 66"/>
          <p:cNvSpPr/>
          <p:nvPr/>
        </p:nvSpPr>
        <p:spPr>
          <a:xfrm>
            <a:off x="8851392" y="5742432"/>
            <a:ext cx="256032" cy="0"/>
          </a:xfrm>
          <a:prstGeom prst="line">
            <a:avLst/>
          </a:prstGeom>
          <a:noFill/>
          <a:ln w="15875">
            <a:solidFill>
              <a:srgbClr val="5C6B6E"/>
            </a:solidFill>
            <a:prstDash val="solid"/>
            <a:tailEnd type="triangle"/>
          </a:ln>
        </p:spPr>
      </p:sp>
      <p:sp>
        <p:nvSpPr>
          <p:cNvPr id="69" name="Shape 67"/>
          <p:cNvSpPr/>
          <p:nvPr/>
        </p:nvSpPr>
        <p:spPr>
          <a:xfrm>
            <a:off x="9153144" y="5413248"/>
            <a:ext cx="2468880" cy="658368"/>
          </a:xfrm>
          <a:prstGeom prst="roundRect">
            <a:avLst>
              <a:gd name="adj" fmla="val 8333"/>
            </a:avLst>
          </a:prstGeom>
          <a:solidFill>
            <a:srgbClr val="D8ECEA"/>
          </a:solidFill>
          <a:ln w="12700">
            <a:solidFill>
              <a:srgbClr val="028090"/>
            </a:solidFill>
            <a:prstDash val="solid"/>
          </a:ln>
        </p:spPr>
      </p:sp>
      <p:sp>
        <p:nvSpPr>
          <p:cNvPr id="70" name="Text 68"/>
          <p:cNvSpPr txBox="1"/>
          <p:nvPr/>
        </p:nvSpPr>
        <p:spPr>
          <a:xfrm>
            <a:off x="9281160" y="5495544"/>
            <a:ext cx="2212848" cy="237744"/>
          </a:xfrm>
          <a:prstGeom prst="rect">
            <a:avLst/>
          </a:prstGeom>
          <a:noFill/>
          <a:ln/>
        </p:spPr>
        <p:txBody>
          <a:bodyPr wrap="square" lIns="0" tIns="0" rIns="0" bIns="0" rtlCol="0" anchor="ctr"/>
          <a:lstStyle/>
          <a:p>
            <a:pPr indent="0" marL="0">
              <a:buNone/>
            </a:pPr>
            <a:r>
              <a:rPr lang="en-US" sz="950" b="1" dirty="0">
                <a:solidFill>
                  <a:srgbClr val="10262B"/>
                </a:solidFill>
                <a:latin typeface="Courier New" pitchFamily="34" charset="0"/>
                <a:ea typeface="Courier New" pitchFamily="34" charset="-122"/>
                <a:cs typeface="Courier New" pitchFamily="34" charset="-120"/>
              </a:rPr>
              <a:t>cli renders</a:t>
            </a:r>
            <a:endParaRPr lang="en-US" sz="950" dirty="0"/>
          </a:p>
        </p:txBody>
      </p:sp>
      <p:sp>
        <p:nvSpPr>
          <p:cNvPr id="71" name="Text 69"/>
          <p:cNvSpPr txBox="1"/>
          <p:nvPr/>
        </p:nvSpPr>
        <p:spPr>
          <a:xfrm>
            <a:off x="9281160" y="5733288"/>
            <a:ext cx="2212848" cy="274320"/>
          </a:xfrm>
          <a:prstGeom prst="rect">
            <a:avLst/>
          </a:prstGeom>
          <a:noFill/>
          <a:ln/>
        </p:spPr>
        <p:txBody>
          <a:bodyPr wrap="square" lIns="0" tIns="0" rIns="0" bIns="0" rtlCol="0" anchor="ctr"/>
          <a:lstStyle/>
          <a:p>
            <a:pPr indent="0" marL="0">
              <a:lnSpc>
                <a:spcPts val="1100"/>
              </a:lnSpc>
              <a:buNone/>
            </a:pPr>
            <a:r>
              <a:rPr lang="en-US" sz="850" dirty="0">
                <a:solidFill>
                  <a:srgbClr val="5C6B6E"/>
                </a:solidFill>
                <a:latin typeface="Calibri" pitchFamily="34" charset="0"/>
                <a:ea typeface="Calibri" pitchFamily="34" charset="-122"/>
                <a:cs typeface="Calibri" pitchFamily="34" charset="-120"/>
              </a:rPr>
              <a:t>Q / A / References [1][2][3] · exit 0</a:t>
            </a:r>
            <a:endParaRPr lang="en-US" sz="850" dirty="0"/>
          </a:p>
        </p:txBody>
      </p:sp>
      <p:sp>
        <p:nvSpPr>
          <p:cNvPr id="72" name="Text 70"/>
          <p:cNvSpPr txBox="1"/>
          <p:nvPr/>
        </p:nvSpPr>
        <p:spPr>
          <a:xfrm>
            <a:off x="566928" y="6336792"/>
            <a:ext cx="11064240" cy="274320"/>
          </a:xfrm>
          <a:prstGeom prst="rect">
            <a:avLst/>
          </a:prstGeom>
          <a:noFill/>
          <a:ln/>
        </p:spPr>
        <p:txBody>
          <a:bodyPr wrap="square" lIns="0" tIns="0" rIns="0" bIns="0" rtlCol="0" anchor="ctr"/>
          <a:lstStyle/>
          <a:p>
            <a:pPr indent="0" marL="0">
              <a:buNone/>
            </a:pPr>
            <a:r>
              <a:rPr lang="en-US" sz="1000" dirty="0">
                <a:solidFill>
                  <a:srgbClr val="5C6B6E"/>
                </a:solidFill>
                <a:latin typeface="Calibri" pitchFamily="34" charset="0"/>
                <a:ea typeface="Calibri" pitchFamily="34" charset="-122"/>
                <a:cs typeface="Calibri" pitchFamily="34" charset="-120"/>
              </a:rPr>
              <a:t>Teal = concurrent or cached — the two places the project buys its speed.   Everything else runs strictly in order.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ZOOM IN</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What happens to one source</a:t>
            </a:r>
            <a:endParaRPr lang="en-US" sz="3400" dirty="0"/>
          </a:p>
        </p:txBody>
      </p:sp>
      <p:sp>
        <p:nvSpPr>
          <p:cNvPr id="4" name="Shape 2"/>
          <p:cNvSpPr/>
          <p:nvPr/>
        </p:nvSpPr>
        <p:spPr>
          <a:xfrm>
            <a:off x="1325880" y="1463040"/>
            <a:ext cx="3200400" cy="566928"/>
          </a:xfrm>
          <a:prstGeom prst="roundRect">
            <a:avLst>
              <a:gd name="adj" fmla="val 9677"/>
            </a:avLst>
          </a:prstGeom>
          <a:solidFill>
            <a:srgbClr val="EEF4F4"/>
          </a:solidFill>
          <a:ln w="12700">
            <a:solidFill>
              <a:srgbClr val="D7E2E2"/>
            </a:solidFill>
            <a:prstDash val="solid"/>
          </a:ln>
        </p:spPr>
      </p:sp>
      <p:sp>
        <p:nvSpPr>
          <p:cNvPr id="5" name="Text 3"/>
          <p:cNvSpPr txBox="1"/>
          <p:nvPr/>
        </p:nvSpPr>
        <p:spPr>
          <a:xfrm>
            <a:off x="1472184" y="1554480"/>
            <a:ext cx="2907792" cy="256032"/>
          </a:xfrm>
          <a:prstGeom prst="rect">
            <a:avLst/>
          </a:prstGeom>
          <a:noFill/>
          <a:ln/>
        </p:spPr>
        <p:txBody>
          <a:bodyPr wrap="square" lIns="0" tIns="0" rIns="0" bIns="0" rtlCol="0" anchor="ctr"/>
          <a:lstStyle/>
          <a:p>
            <a:pPr indent="0" marL="0">
              <a:buNone/>
            </a:pPr>
            <a:r>
              <a:rPr lang="en-US" sz="1000" b="1" dirty="0">
                <a:solidFill>
                  <a:srgbClr val="10262B"/>
                </a:solidFill>
                <a:latin typeface="Courier New" pitchFamily="34" charset="0"/>
                <a:ea typeface="Courier New" pitchFamily="34" charset="-122"/>
                <a:cs typeface="Courier New" pitchFamily="34" charset="-120"/>
              </a:rPr>
              <a:t>wait for a slot</a:t>
            </a:r>
            <a:endParaRPr lang="en-US" sz="1000" dirty="0"/>
          </a:p>
        </p:txBody>
      </p:sp>
      <p:sp>
        <p:nvSpPr>
          <p:cNvPr id="6" name="Text 4"/>
          <p:cNvSpPr txBox="1"/>
          <p:nvPr/>
        </p:nvSpPr>
        <p:spPr>
          <a:xfrm>
            <a:off x="1472184" y="1810512"/>
            <a:ext cx="2907792" cy="146304"/>
          </a:xfrm>
          <a:prstGeom prst="rect">
            <a:avLst/>
          </a:prstGeom>
          <a:noFill/>
          <a:ln/>
        </p:spPr>
        <p:txBody>
          <a:bodyPr wrap="square" lIns="0" tIns="0" rIns="0" bIns="0" rtlCol="0" anchor="ctr"/>
          <a:lstStyle/>
          <a:p>
            <a:pPr indent="0" marL="0">
              <a:lnSpc>
                <a:spcPts val="1200"/>
              </a:lnSpc>
              <a:buNone/>
            </a:pPr>
            <a:r>
              <a:rPr lang="en-US" sz="900" dirty="0">
                <a:solidFill>
                  <a:srgbClr val="5C6B6E"/>
                </a:solidFill>
                <a:latin typeface="Calibri" pitchFamily="34" charset="0"/>
                <a:ea typeface="Calibri" pitchFamily="34" charset="-122"/>
                <a:cs typeface="Calibri" pitchFamily="34" charset="-120"/>
              </a:rPr>
              <a:t>Semaphore(5) — bounded parallelism</a:t>
            </a:r>
            <a:endParaRPr lang="en-US" sz="900" dirty="0"/>
          </a:p>
        </p:txBody>
      </p:sp>
      <p:sp>
        <p:nvSpPr>
          <p:cNvPr id="7" name="Shape 5"/>
          <p:cNvSpPr/>
          <p:nvPr/>
        </p:nvSpPr>
        <p:spPr>
          <a:xfrm>
            <a:off x="2926080" y="2029968"/>
            <a:ext cx="0" cy="237744"/>
          </a:xfrm>
          <a:prstGeom prst="line">
            <a:avLst/>
          </a:prstGeom>
          <a:noFill/>
          <a:ln w="15875">
            <a:solidFill>
              <a:srgbClr val="5C6B6E"/>
            </a:solidFill>
            <a:prstDash val="solid"/>
            <a:tailEnd type="triangle"/>
          </a:ln>
        </p:spPr>
      </p:sp>
      <p:sp>
        <p:nvSpPr>
          <p:cNvPr id="8" name="Shape 6"/>
          <p:cNvSpPr/>
          <p:nvPr/>
        </p:nvSpPr>
        <p:spPr>
          <a:xfrm>
            <a:off x="1325880" y="2267712"/>
            <a:ext cx="3200400" cy="566928"/>
          </a:xfrm>
          <a:prstGeom prst="roundRect">
            <a:avLst>
              <a:gd name="adj" fmla="val 9677"/>
            </a:avLst>
          </a:prstGeom>
          <a:solidFill>
            <a:srgbClr val="EEF4F4"/>
          </a:solidFill>
          <a:ln w="12700">
            <a:solidFill>
              <a:srgbClr val="D7E2E2"/>
            </a:solidFill>
            <a:prstDash val="solid"/>
          </a:ln>
        </p:spPr>
      </p:sp>
      <p:sp>
        <p:nvSpPr>
          <p:cNvPr id="9" name="Text 7"/>
          <p:cNvSpPr txBox="1"/>
          <p:nvPr/>
        </p:nvSpPr>
        <p:spPr>
          <a:xfrm>
            <a:off x="1472184" y="2359152"/>
            <a:ext cx="2907792" cy="256032"/>
          </a:xfrm>
          <a:prstGeom prst="rect">
            <a:avLst/>
          </a:prstGeom>
          <a:noFill/>
          <a:ln/>
        </p:spPr>
        <p:txBody>
          <a:bodyPr wrap="square" lIns="0" tIns="0" rIns="0" bIns="0" rtlCol="0" anchor="ctr"/>
          <a:lstStyle/>
          <a:p>
            <a:pPr indent="0" marL="0">
              <a:buNone/>
            </a:pPr>
            <a:r>
              <a:rPr lang="en-US" sz="1000" b="1" dirty="0">
                <a:solidFill>
                  <a:srgbClr val="10262B"/>
                </a:solidFill>
                <a:latin typeface="Courier New" pitchFamily="34" charset="0"/>
                <a:ea typeface="Courier New" pitchFamily="34" charset="-122"/>
                <a:cs typeface="Courier New" pitchFamily="34" charset="-120"/>
              </a:rPr>
              <a:t>start the 8-second clock</a:t>
            </a:r>
            <a:endParaRPr lang="en-US" sz="1000" dirty="0"/>
          </a:p>
        </p:txBody>
      </p:sp>
      <p:sp>
        <p:nvSpPr>
          <p:cNvPr id="10" name="Text 8"/>
          <p:cNvSpPr txBox="1"/>
          <p:nvPr/>
        </p:nvSpPr>
        <p:spPr>
          <a:xfrm>
            <a:off x="1472184" y="2615184"/>
            <a:ext cx="2907792" cy="146304"/>
          </a:xfrm>
          <a:prstGeom prst="rect">
            <a:avLst/>
          </a:prstGeom>
          <a:noFill/>
          <a:ln/>
        </p:spPr>
        <p:txBody>
          <a:bodyPr wrap="square" lIns="0" tIns="0" rIns="0" bIns="0" rtlCol="0" anchor="ctr"/>
          <a:lstStyle/>
          <a:p>
            <a:pPr indent="0" marL="0">
              <a:lnSpc>
                <a:spcPts val="1200"/>
              </a:lnSpc>
              <a:buNone/>
            </a:pPr>
            <a:r>
              <a:rPr lang="en-US" sz="900" dirty="0">
                <a:solidFill>
                  <a:srgbClr val="5C6B6E"/>
                </a:solidFill>
                <a:latin typeface="Calibri" pitchFamily="34" charset="0"/>
                <a:ea typeface="Calibri" pitchFamily="34" charset="-122"/>
                <a:cs typeface="Calibri" pitchFamily="34" charset="-120"/>
              </a:rPr>
              <a:t>asyncio.wait_for wraps everything below</a:t>
            </a:r>
            <a:endParaRPr lang="en-US" sz="900" dirty="0"/>
          </a:p>
        </p:txBody>
      </p:sp>
      <p:sp>
        <p:nvSpPr>
          <p:cNvPr id="11" name="Shape 9"/>
          <p:cNvSpPr/>
          <p:nvPr/>
        </p:nvSpPr>
        <p:spPr>
          <a:xfrm>
            <a:off x="2926080" y="2834640"/>
            <a:ext cx="0" cy="237744"/>
          </a:xfrm>
          <a:prstGeom prst="line">
            <a:avLst/>
          </a:prstGeom>
          <a:noFill/>
          <a:ln w="15875">
            <a:solidFill>
              <a:srgbClr val="5C6B6E"/>
            </a:solidFill>
            <a:prstDash val="solid"/>
            <a:tailEnd type="triangle"/>
          </a:ln>
        </p:spPr>
      </p:sp>
      <p:sp>
        <p:nvSpPr>
          <p:cNvPr id="12" name="Shape 10"/>
          <p:cNvSpPr/>
          <p:nvPr/>
        </p:nvSpPr>
        <p:spPr>
          <a:xfrm>
            <a:off x="1325880" y="3072384"/>
            <a:ext cx="3200400" cy="566928"/>
          </a:xfrm>
          <a:prstGeom prst="roundRect">
            <a:avLst>
              <a:gd name="adj" fmla="val 9677"/>
            </a:avLst>
          </a:prstGeom>
          <a:solidFill>
            <a:srgbClr val="D8ECEA"/>
          </a:solidFill>
          <a:ln w="12700">
            <a:solidFill>
              <a:srgbClr val="028090"/>
            </a:solidFill>
            <a:prstDash val="solid"/>
          </a:ln>
        </p:spPr>
      </p:sp>
      <p:sp>
        <p:nvSpPr>
          <p:cNvPr id="13" name="Text 11"/>
          <p:cNvSpPr txBox="1"/>
          <p:nvPr/>
        </p:nvSpPr>
        <p:spPr>
          <a:xfrm>
            <a:off x="1472184" y="3163824"/>
            <a:ext cx="2907792" cy="256032"/>
          </a:xfrm>
          <a:prstGeom prst="rect">
            <a:avLst/>
          </a:prstGeom>
          <a:noFill/>
          <a:ln/>
        </p:spPr>
        <p:txBody>
          <a:bodyPr wrap="square" lIns="0" tIns="0" rIns="0" bIns="0" rtlCol="0" anchor="ctr"/>
          <a:lstStyle/>
          <a:p>
            <a:pPr indent="0" marL="0">
              <a:buNone/>
            </a:pPr>
            <a:r>
              <a:rPr lang="en-US" sz="1000" b="1" dirty="0">
                <a:solidFill>
                  <a:srgbClr val="10262B"/>
                </a:solidFill>
                <a:latin typeface="Courier New" pitchFamily="34" charset="0"/>
                <a:ea typeface="Courier New" pitchFamily="34" charset="-122"/>
                <a:cs typeface="Courier New" pitchFamily="34" charset="-120"/>
              </a:rPr>
              <a:t>attempt the fetch</a:t>
            </a:r>
            <a:endParaRPr lang="en-US" sz="1000" dirty="0"/>
          </a:p>
        </p:txBody>
      </p:sp>
      <p:sp>
        <p:nvSpPr>
          <p:cNvPr id="14" name="Text 12"/>
          <p:cNvSpPr txBox="1"/>
          <p:nvPr/>
        </p:nvSpPr>
        <p:spPr>
          <a:xfrm>
            <a:off x="1472184" y="3419856"/>
            <a:ext cx="2907792" cy="146304"/>
          </a:xfrm>
          <a:prstGeom prst="rect">
            <a:avLst/>
          </a:prstGeom>
          <a:noFill/>
          <a:ln/>
        </p:spPr>
        <p:txBody>
          <a:bodyPr wrap="square" lIns="0" tIns="0" rIns="0" bIns="0" rtlCol="0" anchor="ctr"/>
          <a:lstStyle/>
          <a:p>
            <a:pPr indent="0" marL="0">
              <a:lnSpc>
                <a:spcPts val="1200"/>
              </a:lnSpc>
              <a:buNone/>
            </a:pPr>
            <a:r>
              <a:rPr lang="en-US" sz="900" dirty="0">
                <a:solidFill>
                  <a:srgbClr val="5C6B6E"/>
                </a:solidFill>
                <a:latin typeface="Calibri" pitchFamily="34" charset="0"/>
                <a:ea typeface="Calibri" pitchFamily="34" charset="-122"/>
                <a:cs typeface="Calibri" pitchFamily="34" charset="-120"/>
              </a:rPr>
              <a:t>ai.fetch_* with the shared client</a:t>
            </a:r>
            <a:endParaRPr lang="en-US" sz="900" dirty="0"/>
          </a:p>
        </p:txBody>
      </p:sp>
      <p:sp>
        <p:nvSpPr>
          <p:cNvPr id="15" name="Shape 13"/>
          <p:cNvSpPr/>
          <p:nvPr/>
        </p:nvSpPr>
        <p:spPr>
          <a:xfrm>
            <a:off x="2926080" y="3639312"/>
            <a:ext cx="0" cy="237744"/>
          </a:xfrm>
          <a:prstGeom prst="line">
            <a:avLst/>
          </a:prstGeom>
          <a:noFill/>
          <a:ln w="15875">
            <a:solidFill>
              <a:srgbClr val="5C6B6E"/>
            </a:solidFill>
            <a:prstDash val="solid"/>
            <a:tailEnd type="triangle"/>
          </a:ln>
        </p:spPr>
      </p:sp>
      <p:sp>
        <p:nvSpPr>
          <p:cNvPr id="16" name="Shape 14"/>
          <p:cNvSpPr/>
          <p:nvPr/>
        </p:nvSpPr>
        <p:spPr>
          <a:xfrm>
            <a:off x="1325880" y="3877056"/>
            <a:ext cx="3200400" cy="658368"/>
          </a:xfrm>
          <a:prstGeom prst="roundRect">
            <a:avLst>
              <a:gd name="adj" fmla="val 8333"/>
            </a:avLst>
          </a:prstGeom>
          <a:solidFill>
            <a:srgbClr val="EEF4F4"/>
          </a:solidFill>
          <a:ln w="12700">
            <a:solidFill>
              <a:srgbClr val="D7E2E2"/>
            </a:solidFill>
            <a:prstDash val="solid"/>
          </a:ln>
        </p:spPr>
      </p:sp>
      <p:sp>
        <p:nvSpPr>
          <p:cNvPr id="17" name="Text 15"/>
          <p:cNvSpPr txBox="1"/>
          <p:nvPr/>
        </p:nvSpPr>
        <p:spPr>
          <a:xfrm>
            <a:off x="1472184" y="3968496"/>
            <a:ext cx="2907792" cy="256032"/>
          </a:xfrm>
          <a:prstGeom prst="rect">
            <a:avLst/>
          </a:prstGeom>
          <a:noFill/>
          <a:ln/>
        </p:spPr>
        <p:txBody>
          <a:bodyPr wrap="square" lIns="0" tIns="0" rIns="0" bIns="0" rtlCol="0" anchor="ctr"/>
          <a:lstStyle/>
          <a:p>
            <a:pPr indent="0" marL="0">
              <a:buNone/>
            </a:pPr>
            <a:r>
              <a:rPr lang="en-US" sz="1000" b="1" dirty="0">
                <a:solidFill>
                  <a:srgbClr val="10262B"/>
                </a:solidFill>
                <a:latin typeface="Courier New" pitchFamily="34" charset="0"/>
                <a:ea typeface="Courier New" pitchFamily="34" charset="-122"/>
                <a:cs typeface="Courier New" pitchFamily="34" charset="-120"/>
              </a:rPr>
              <a:t>did it fail, and can a retry help?</a:t>
            </a:r>
            <a:endParaRPr lang="en-US" sz="1000" dirty="0"/>
          </a:p>
        </p:txBody>
      </p:sp>
      <p:sp>
        <p:nvSpPr>
          <p:cNvPr id="18" name="Text 16"/>
          <p:cNvSpPr txBox="1"/>
          <p:nvPr/>
        </p:nvSpPr>
        <p:spPr>
          <a:xfrm>
            <a:off x="1472184" y="4224528"/>
            <a:ext cx="2907792" cy="237744"/>
          </a:xfrm>
          <a:prstGeom prst="rect">
            <a:avLst/>
          </a:prstGeom>
          <a:noFill/>
          <a:ln/>
        </p:spPr>
        <p:txBody>
          <a:bodyPr wrap="square" lIns="0" tIns="0" rIns="0" bIns="0" rtlCol="0" anchor="ctr"/>
          <a:lstStyle/>
          <a:p>
            <a:pPr indent="0" marL="0">
              <a:lnSpc>
                <a:spcPts val="1200"/>
              </a:lnSpc>
              <a:buNone/>
            </a:pPr>
            <a:r>
              <a:rPr lang="en-US" sz="900" dirty="0">
                <a:solidFill>
                  <a:srgbClr val="5C6B6E"/>
                </a:solidFill>
                <a:latin typeface="Calibri" pitchFamily="34" charset="0"/>
                <a:ea typeface="Calibri" pitchFamily="34" charset="-122"/>
                <a:cs typeface="Calibri" pitchFamily="34" charset="-120"/>
              </a:rPr>
              <a:t>429 · 5xx · dropped connection  →  yes</a:t>
            </a:r>
            <a:endParaRPr lang="en-US" sz="900" dirty="0"/>
          </a:p>
        </p:txBody>
      </p:sp>
      <p:sp>
        <p:nvSpPr>
          <p:cNvPr id="19" name="Shape 17"/>
          <p:cNvSpPr/>
          <p:nvPr/>
        </p:nvSpPr>
        <p:spPr>
          <a:xfrm>
            <a:off x="2926080" y="4535424"/>
            <a:ext cx="0" cy="237744"/>
          </a:xfrm>
          <a:prstGeom prst="line">
            <a:avLst/>
          </a:prstGeom>
          <a:noFill/>
          <a:ln w="15875">
            <a:solidFill>
              <a:srgbClr val="5C6B6E"/>
            </a:solidFill>
            <a:prstDash val="solid"/>
            <a:tailEnd type="triangle"/>
          </a:ln>
        </p:spPr>
      </p:sp>
      <p:sp>
        <p:nvSpPr>
          <p:cNvPr id="20" name="Shape 18"/>
          <p:cNvSpPr/>
          <p:nvPr/>
        </p:nvSpPr>
        <p:spPr>
          <a:xfrm>
            <a:off x="1325880" y="4773168"/>
            <a:ext cx="3200400" cy="566928"/>
          </a:xfrm>
          <a:prstGeom prst="roundRect">
            <a:avLst>
              <a:gd name="adj" fmla="val 9677"/>
            </a:avLst>
          </a:prstGeom>
          <a:solidFill>
            <a:srgbClr val="EEF4F4"/>
          </a:solidFill>
          <a:ln w="12700">
            <a:solidFill>
              <a:srgbClr val="D7E2E2"/>
            </a:solidFill>
            <a:prstDash val="solid"/>
          </a:ln>
        </p:spPr>
      </p:sp>
      <p:sp>
        <p:nvSpPr>
          <p:cNvPr id="21" name="Text 19"/>
          <p:cNvSpPr txBox="1"/>
          <p:nvPr/>
        </p:nvSpPr>
        <p:spPr>
          <a:xfrm>
            <a:off x="1472184" y="4864608"/>
            <a:ext cx="2907792" cy="256032"/>
          </a:xfrm>
          <a:prstGeom prst="rect">
            <a:avLst/>
          </a:prstGeom>
          <a:noFill/>
          <a:ln/>
        </p:spPr>
        <p:txBody>
          <a:bodyPr wrap="square" lIns="0" tIns="0" rIns="0" bIns="0" rtlCol="0" anchor="ctr"/>
          <a:lstStyle/>
          <a:p>
            <a:pPr indent="0" marL="0">
              <a:buNone/>
            </a:pPr>
            <a:r>
              <a:rPr lang="en-US" sz="1000" b="1" dirty="0">
                <a:solidFill>
                  <a:srgbClr val="10262B"/>
                </a:solidFill>
                <a:latin typeface="Courier New" pitchFamily="34" charset="0"/>
                <a:ea typeface="Courier New" pitchFamily="34" charset="-122"/>
                <a:cs typeface="Courier New" pitchFamily="34" charset="-120"/>
              </a:rPr>
              <a:t>wait, with jitter</a:t>
            </a:r>
            <a:endParaRPr lang="en-US" sz="1000" dirty="0"/>
          </a:p>
        </p:txBody>
      </p:sp>
      <p:sp>
        <p:nvSpPr>
          <p:cNvPr id="22" name="Text 20"/>
          <p:cNvSpPr txBox="1"/>
          <p:nvPr/>
        </p:nvSpPr>
        <p:spPr>
          <a:xfrm>
            <a:off x="1472184" y="5120640"/>
            <a:ext cx="2907792" cy="146304"/>
          </a:xfrm>
          <a:prstGeom prst="rect">
            <a:avLst/>
          </a:prstGeom>
          <a:noFill/>
          <a:ln/>
        </p:spPr>
        <p:txBody>
          <a:bodyPr wrap="square" lIns="0" tIns="0" rIns="0" bIns="0" rtlCol="0" anchor="ctr"/>
          <a:lstStyle/>
          <a:p>
            <a:pPr indent="0" marL="0">
              <a:lnSpc>
                <a:spcPts val="1200"/>
              </a:lnSpc>
              <a:buNone/>
            </a:pPr>
            <a:r>
              <a:rPr lang="en-US" sz="900" dirty="0">
                <a:solidFill>
                  <a:srgbClr val="5C6B6E"/>
                </a:solidFill>
                <a:latin typeface="Calibri" pitchFamily="34" charset="0"/>
                <a:ea typeface="Calibri" pitchFamily="34" charset="-122"/>
                <a:cs typeface="Calibri" pitchFamily="34" charset="-120"/>
              </a:rPr>
              <a:t>0.5s, then 1.0s — half fixed, half random</a:t>
            </a:r>
            <a:endParaRPr lang="en-US" sz="900" dirty="0"/>
          </a:p>
        </p:txBody>
      </p:sp>
      <p:sp>
        <p:nvSpPr>
          <p:cNvPr id="23" name="Shape 21"/>
          <p:cNvSpPr/>
          <p:nvPr/>
        </p:nvSpPr>
        <p:spPr>
          <a:xfrm>
            <a:off x="1325880" y="5056632"/>
            <a:ext cx="-502920" cy="0"/>
          </a:xfrm>
          <a:prstGeom prst="line">
            <a:avLst/>
          </a:prstGeom>
          <a:noFill/>
          <a:ln w="15875">
            <a:solidFill>
              <a:srgbClr val="028090"/>
            </a:solidFill>
            <a:prstDash val="solid"/>
          </a:ln>
        </p:spPr>
      </p:sp>
      <p:sp>
        <p:nvSpPr>
          <p:cNvPr id="24" name="Shape 22"/>
          <p:cNvSpPr/>
          <p:nvPr/>
        </p:nvSpPr>
        <p:spPr>
          <a:xfrm>
            <a:off x="822960" y="3355848"/>
            <a:ext cx="0" cy="1700784"/>
          </a:xfrm>
          <a:prstGeom prst="line">
            <a:avLst/>
          </a:prstGeom>
          <a:noFill/>
          <a:ln w="15875">
            <a:solidFill>
              <a:srgbClr val="028090"/>
            </a:solidFill>
            <a:prstDash val="solid"/>
          </a:ln>
        </p:spPr>
      </p:sp>
      <p:sp>
        <p:nvSpPr>
          <p:cNvPr id="25" name="Shape 23"/>
          <p:cNvSpPr/>
          <p:nvPr/>
        </p:nvSpPr>
        <p:spPr>
          <a:xfrm>
            <a:off x="822960" y="3355848"/>
            <a:ext cx="502920" cy="0"/>
          </a:xfrm>
          <a:prstGeom prst="line">
            <a:avLst/>
          </a:prstGeom>
          <a:noFill/>
          <a:ln w="15875">
            <a:solidFill>
              <a:srgbClr val="028090"/>
            </a:solidFill>
            <a:prstDash val="solid"/>
            <a:tailEnd type="triangle"/>
          </a:ln>
        </p:spPr>
      </p:sp>
      <p:sp>
        <p:nvSpPr>
          <p:cNvPr id="26" name="Text 24"/>
          <p:cNvSpPr txBox="1"/>
          <p:nvPr/>
        </p:nvSpPr>
        <p:spPr>
          <a:xfrm>
            <a:off x="566928" y="4023360"/>
            <a:ext cx="658368" cy="237744"/>
          </a:xfrm>
          <a:prstGeom prst="rect">
            <a:avLst/>
          </a:prstGeom>
          <a:noFill/>
          <a:ln/>
        </p:spPr>
        <p:txBody>
          <a:bodyPr wrap="square" lIns="0" tIns="0" rIns="0" bIns="0" rtlCol="0" anchor="ctr"/>
          <a:lstStyle/>
          <a:p>
            <a:pPr algn="r" indent="0" marL="0">
              <a:buNone/>
            </a:pPr>
            <a:r>
              <a:rPr lang="en-US" sz="900" dirty="0">
                <a:solidFill>
                  <a:srgbClr val="028090"/>
                </a:solidFill>
                <a:latin typeface="Courier New" pitchFamily="34" charset="0"/>
                <a:ea typeface="Courier New" pitchFamily="34" charset="-122"/>
                <a:cs typeface="Courier New" pitchFamily="34" charset="-120"/>
              </a:rPr>
              <a:t>retry</a:t>
            </a:r>
            <a:endParaRPr lang="en-US" sz="900" dirty="0"/>
          </a:p>
        </p:txBody>
      </p:sp>
      <p:sp>
        <p:nvSpPr>
          <p:cNvPr id="27" name="Shape 25"/>
          <p:cNvSpPr/>
          <p:nvPr/>
        </p:nvSpPr>
        <p:spPr>
          <a:xfrm>
            <a:off x="4526280" y="4206240"/>
            <a:ext cx="347472" cy="0"/>
          </a:xfrm>
          <a:prstGeom prst="line">
            <a:avLst/>
          </a:prstGeom>
          <a:noFill/>
          <a:ln w="15875">
            <a:solidFill>
              <a:srgbClr val="B85042"/>
            </a:solidFill>
            <a:prstDash val="solid"/>
          </a:ln>
        </p:spPr>
      </p:sp>
      <p:sp>
        <p:nvSpPr>
          <p:cNvPr id="28" name="Shape 26"/>
          <p:cNvSpPr/>
          <p:nvPr/>
        </p:nvSpPr>
        <p:spPr>
          <a:xfrm>
            <a:off x="4873752" y="4206240"/>
            <a:ext cx="0" cy="1655064"/>
          </a:xfrm>
          <a:prstGeom prst="line">
            <a:avLst/>
          </a:prstGeom>
          <a:noFill/>
          <a:ln w="15875">
            <a:solidFill>
              <a:srgbClr val="B85042"/>
            </a:solidFill>
            <a:prstDash val="solid"/>
          </a:ln>
        </p:spPr>
      </p:sp>
      <p:sp>
        <p:nvSpPr>
          <p:cNvPr id="29" name="Shape 27"/>
          <p:cNvSpPr/>
          <p:nvPr/>
        </p:nvSpPr>
        <p:spPr>
          <a:xfrm>
            <a:off x="4873752" y="5861304"/>
            <a:ext cx="-347472" cy="0"/>
          </a:xfrm>
          <a:prstGeom prst="line">
            <a:avLst/>
          </a:prstGeom>
          <a:noFill/>
          <a:ln w="15875">
            <a:solidFill>
              <a:srgbClr val="B85042"/>
            </a:solidFill>
            <a:prstDash val="solid"/>
            <a:tailEnd type="triangle"/>
          </a:ln>
        </p:spPr>
      </p:sp>
      <p:sp>
        <p:nvSpPr>
          <p:cNvPr id="30" name="Text 28"/>
          <p:cNvSpPr txBox="1"/>
          <p:nvPr/>
        </p:nvSpPr>
        <p:spPr>
          <a:xfrm>
            <a:off x="4617720" y="4937760"/>
            <a:ext cx="548640" cy="237744"/>
          </a:xfrm>
          <a:prstGeom prst="rect">
            <a:avLst/>
          </a:prstGeom>
          <a:noFill/>
          <a:ln/>
        </p:spPr>
        <p:txBody>
          <a:bodyPr wrap="square" lIns="0" tIns="0" rIns="0" bIns="0" rtlCol="0" anchor="ctr"/>
          <a:lstStyle/>
          <a:p>
            <a:pPr indent="0" marL="0">
              <a:buNone/>
            </a:pPr>
            <a:r>
              <a:rPr lang="en-US" sz="900" dirty="0">
                <a:solidFill>
                  <a:srgbClr val="B85042"/>
                </a:solidFill>
                <a:latin typeface="Courier New" pitchFamily="34" charset="0"/>
                <a:ea typeface="Courier New" pitchFamily="34" charset="-122"/>
                <a:cs typeface="Courier New" pitchFamily="34" charset="-120"/>
              </a:rPr>
              <a:t>no</a:t>
            </a:r>
            <a:endParaRPr lang="en-US" sz="900" dirty="0"/>
          </a:p>
        </p:txBody>
      </p:sp>
      <p:sp>
        <p:nvSpPr>
          <p:cNvPr id="31" name="Shape 29"/>
          <p:cNvSpPr/>
          <p:nvPr/>
        </p:nvSpPr>
        <p:spPr>
          <a:xfrm>
            <a:off x="1325880" y="5577840"/>
            <a:ext cx="3200400" cy="566928"/>
          </a:xfrm>
          <a:prstGeom prst="roundRect">
            <a:avLst>
              <a:gd name="adj" fmla="val 9677"/>
            </a:avLst>
          </a:prstGeom>
          <a:solidFill>
            <a:srgbClr val="F7EAE6"/>
          </a:solidFill>
          <a:ln w="12700">
            <a:solidFill>
              <a:srgbClr val="B85042"/>
            </a:solidFill>
            <a:prstDash val="solid"/>
          </a:ln>
        </p:spPr>
      </p:sp>
      <p:sp>
        <p:nvSpPr>
          <p:cNvPr id="32" name="Text 30"/>
          <p:cNvSpPr txBox="1"/>
          <p:nvPr/>
        </p:nvSpPr>
        <p:spPr>
          <a:xfrm>
            <a:off x="1472184" y="5669280"/>
            <a:ext cx="2907792" cy="256032"/>
          </a:xfrm>
          <a:prstGeom prst="rect">
            <a:avLst/>
          </a:prstGeom>
          <a:noFill/>
          <a:ln/>
        </p:spPr>
        <p:txBody>
          <a:bodyPr wrap="square" lIns="0" tIns="0" rIns="0" bIns="0" rtlCol="0" anchor="ctr"/>
          <a:lstStyle/>
          <a:p>
            <a:pPr indent="0" marL="0">
              <a:buNone/>
            </a:pPr>
            <a:r>
              <a:rPr lang="en-US" sz="1000" b="1" dirty="0">
                <a:solidFill>
                  <a:srgbClr val="B85042"/>
                </a:solidFill>
                <a:latin typeface="Courier New" pitchFamily="34" charset="0"/>
                <a:ea typeface="Courier New" pitchFamily="34" charset="-122"/>
                <a:cs typeface="Courier New" pitchFamily="34" charset="-120"/>
              </a:rPr>
              <a:t>give up — return the exception</a:t>
            </a:r>
            <a:endParaRPr lang="en-US" sz="1000" dirty="0"/>
          </a:p>
        </p:txBody>
      </p:sp>
      <p:sp>
        <p:nvSpPr>
          <p:cNvPr id="33" name="Text 31"/>
          <p:cNvSpPr txBox="1"/>
          <p:nvPr/>
        </p:nvSpPr>
        <p:spPr>
          <a:xfrm>
            <a:off x="1472184" y="5925312"/>
            <a:ext cx="2907792" cy="146304"/>
          </a:xfrm>
          <a:prstGeom prst="rect">
            <a:avLst/>
          </a:prstGeom>
          <a:noFill/>
          <a:ln/>
        </p:spPr>
        <p:txBody>
          <a:bodyPr wrap="square" lIns="0" tIns="0" rIns="0" bIns="0" rtlCol="0" anchor="ctr"/>
          <a:lstStyle/>
          <a:p>
            <a:pPr indent="0" marL="0">
              <a:lnSpc>
                <a:spcPts val="1200"/>
              </a:lnSpc>
              <a:buNone/>
            </a:pPr>
            <a:r>
              <a:rPr lang="en-US" sz="900" dirty="0">
                <a:solidFill>
                  <a:srgbClr val="5C6B6E"/>
                </a:solidFill>
                <a:latin typeface="Calibri" pitchFamily="34" charset="0"/>
                <a:ea typeface="Calibri" pitchFamily="34" charset="-122"/>
                <a:cs typeface="Calibri" pitchFamily="34" charset="-120"/>
              </a:rPr>
              <a:t>the orchestrator records it, nothing raises</a:t>
            </a:r>
            <a:endParaRPr lang="en-US" sz="900" dirty="0"/>
          </a:p>
        </p:txBody>
      </p:sp>
      <p:sp>
        <p:nvSpPr>
          <p:cNvPr id="34" name="Text 32"/>
          <p:cNvSpPr txBox="1"/>
          <p:nvPr/>
        </p:nvSpPr>
        <p:spPr>
          <a:xfrm>
            <a:off x="5486400" y="1463040"/>
            <a:ext cx="4572000" cy="228600"/>
          </a:xfrm>
          <a:prstGeom prst="rect">
            <a:avLst/>
          </a:prstGeom>
          <a:noFill/>
          <a:ln/>
        </p:spPr>
        <p:txBody>
          <a:bodyPr wrap="square" lIns="0" tIns="0" rIns="0" bIns="0" rtlCol="0" anchor="ctr"/>
          <a:lstStyle/>
          <a:p>
            <a:pPr indent="0" marL="0">
              <a:buNone/>
            </a:pPr>
            <a:r>
              <a:rPr lang="en-US" sz="950" spc="150" kern="0" dirty="0">
                <a:solidFill>
                  <a:srgbClr val="028090"/>
                </a:solidFill>
                <a:latin typeface="Courier New" pitchFamily="34" charset="0"/>
                <a:ea typeface="Courier New" pitchFamily="34" charset="-122"/>
                <a:cs typeface="Courier New" pitchFamily="34" charset="-120"/>
              </a:rPr>
              <a:t>THE THREE WAYS OUT</a:t>
            </a:r>
            <a:endParaRPr lang="en-US" sz="950" dirty="0"/>
          </a:p>
        </p:txBody>
      </p:sp>
      <p:sp>
        <p:nvSpPr>
          <p:cNvPr id="35" name="Shape 33"/>
          <p:cNvSpPr/>
          <p:nvPr/>
        </p:nvSpPr>
        <p:spPr>
          <a:xfrm>
            <a:off x="5486400" y="1810512"/>
            <a:ext cx="6126480" cy="1024128"/>
          </a:xfrm>
          <a:prstGeom prst="roundRect">
            <a:avLst>
              <a:gd name="adj" fmla="val 5357"/>
            </a:avLst>
          </a:prstGeom>
          <a:solidFill>
            <a:srgbClr val="D8ECEA"/>
          </a:solidFill>
          <a:ln w="12700">
            <a:solidFill>
              <a:srgbClr val="028090"/>
            </a:solidFill>
            <a:prstDash val="solid"/>
          </a:ln>
        </p:spPr>
      </p:sp>
      <p:sp>
        <p:nvSpPr>
          <p:cNvPr id="36" name="Text 34"/>
          <p:cNvSpPr txBox="1"/>
          <p:nvPr/>
        </p:nvSpPr>
        <p:spPr>
          <a:xfrm>
            <a:off x="5632704" y="1901952"/>
            <a:ext cx="5833872" cy="256032"/>
          </a:xfrm>
          <a:prstGeom prst="rect">
            <a:avLst/>
          </a:prstGeom>
          <a:noFill/>
          <a:ln/>
        </p:spPr>
        <p:txBody>
          <a:bodyPr wrap="square" lIns="0" tIns="0" rIns="0" bIns="0" rtlCol="0" anchor="ctr"/>
          <a:lstStyle/>
          <a:p>
            <a:pPr indent="0" marL="0">
              <a:buNone/>
            </a:pPr>
            <a:r>
              <a:rPr lang="en-US" sz="1000" b="1" dirty="0">
                <a:solidFill>
                  <a:srgbClr val="10262B"/>
                </a:solidFill>
                <a:latin typeface="Courier New" pitchFamily="34" charset="0"/>
                <a:ea typeface="Courier New" pitchFamily="34" charset="-122"/>
                <a:cs typeface="Courier New" pitchFamily="34" charset="-120"/>
              </a:rPr>
              <a:t>Success</a:t>
            </a:r>
            <a:endParaRPr lang="en-US" sz="1000" dirty="0"/>
          </a:p>
        </p:txBody>
      </p:sp>
      <p:sp>
        <p:nvSpPr>
          <p:cNvPr id="37" name="Text 35"/>
          <p:cNvSpPr txBox="1"/>
          <p:nvPr/>
        </p:nvSpPr>
        <p:spPr>
          <a:xfrm>
            <a:off x="5632704" y="2157984"/>
            <a:ext cx="5833872" cy="603504"/>
          </a:xfrm>
          <a:prstGeom prst="rect">
            <a:avLst/>
          </a:prstGeom>
          <a:noFill/>
          <a:ln/>
        </p:spPr>
        <p:txBody>
          <a:bodyPr wrap="square" lIns="0" tIns="0" rIns="0" bIns="0" rtlCol="0" anchor="ctr"/>
          <a:lstStyle/>
          <a:p>
            <a:pPr indent="0" marL="0">
              <a:lnSpc>
                <a:spcPts val="1200"/>
              </a:lnSpc>
              <a:buNone/>
            </a:pPr>
            <a:r>
              <a:rPr lang="en-US" sz="900" dirty="0">
                <a:solidFill>
                  <a:srgbClr val="5C6B6E"/>
                </a:solidFill>
                <a:latin typeface="Calibri" pitchFamily="34" charset="0"/>
                <a:ea typeface="Calibri" pitchFamily="34" charset="-122"/>
                <a:cs typeface="Calibri" pitchFamily="34" charset="-120"/>
              </a:rPr>
              <a:t>the sources are returned, then written to the cache — atomically, one file per entry</a:t>
            </a:r>
            <a:endParaRPr lang="en-US" sz="900" dirty="0"/>
          </a:p>
        </p:txBody>
      </p:sp>
      <p:sp>
        <p:nvSpPr>
          <p:cNvPr id="38" name="Shape 36"/>
          <p:cNvSpPr/>
          <p:nvPr/>
        </p:nvSpPr>
        <p:spPr>
          <a:xfrm>
            <a:off x="5486400" y="2962656"/>
            <a:ext cx="6126480" cy="1024128"/>
          </a:xfrm>
          <a:prstGeom prst="roundRect">
            <a:avLst>
              <a:gd name="adj" fmla="val 5357"/>
            </a:avLst>
          </a:prstGeom>
          <a:solidFill>
            <a:srgbClr val="EEF4F4"/>
          </a:solidFill>
          <a:ln w="12700">
            <a:solidFill>
              <a:srgbClr val="D7E2E2"/>
            </a:solidFill>
            <a:prstDash val="solid"/>
          </a:ln>
        </p:spPr>
      </p:sp>
      <p:sp>
        <p:nvSpPr>
          <p:cNvPr id="39" name="Text 37"/>
          <p:cNvSpPr txBox="1"/>
          <p:nvPr/>
        </p:nvSpPr>
        <p:spPr>
          <a:xfrm>
            <a:off x="5632704" y="3054096"/>
            <a:ext cx="5833872" cy="256032"/>
          </a:xfrm>
          <a:prstGeom prst="rect">
            <a:avLst/>
          </a:prstGeom>
          <a:noFill/>
          <a:ln/>
        </p:spPr>
        <p:txBody>
          <a:bodyPr wrap="square" lIns="0" tIns="0" rIns="0" bIns="0" rtlCol="0" anchor="ctr"/>
          <a:lstStyle/>
          <a:p>
            <a:pPr indent="0" marL="0">
              <a:buNone/>
            </a:pPr>
            <a:r>
              <a:rPr lang="en-US" sz="1000" b="1" dirty="0">
                <a:solidFill>
                  <a:srgbClr val="10262B"/>
                </a:solidFill>
                <a:latin typeface="Courier New" pitchFamily="34" charset="0"/>
                <a:ea typeface="Courier New" pitchFamily="34" charset="-122"/>
                <a:cs typeface="Courier New" pitchFamily="34" charset="-120"/>
              </a:rPr>
              <a:t>Retryable failure</a:t>
            </a:r>
            <a:endParaRPr lang="en-US" sz="1000" dirty="0"/>
          </a:p>
        </p:txBody>
      </p:sp>
      <p:sp>
        <p:nvSpPr>
          <p:cNvPr id="40" name="Text 38"/>
          <p:cNvSpPr txBox="1"/>
          <p:nvPr/>
        </p:nvSpPr>
        <p:spPr>
          <a:xfrm>
            <a:off x="5632704" y="3310128"/>
            <a:ext cx="5833872" cy="603504"/>
          </a:xfrm>
          <a:prstGeom prst="rect">
            <a:avLst/>
          </a:prstGeom>
          <a:noFill/>
          <a:ln/>
        </p:spPr>
        <p:txBody>
          <a:bodyPr wrap="square" lIns="0" tIns="0" rIns="0" bIns="0" rtlCol="0" anchor="ctr"/>
          <a:lstStyle/>
          <a:p>
            <a:pPr indent="0" marL="0">
              <a:lnSpc>
                <a:spcPts val="1200"/>
              </a:lnSpc>
              <a:buNone/>
            </a:pPr>
            <a:r>
              <a:rPr lang="en-US" sz="900" dirty="0">
                <a:solidFill>
                  <a:srgbClr val="5C6B6E"/>
                </a:solidFill>
                <a:latin typeface="Calibri" pitchFamily="34" charset="0"/>
                <a:ea typeface="Calibri" pitchFamily="34" charset="-122"/>
                <a:cs typeface="Calibri" pitchFamily="34" charset="-120"/>
              </a:rPr>
              <a:t>a rate limit or a server error. Wait with jitter and try again, up to three attempts inside the same deadline</a:t>
            </a:r>
            <a:endParaRPr lang="en-US" sz="900" dirty="0"/>
          </a:p>
        </p:txBody>
      </p:sp>
      <p:sp>
        <p:nvSpPr>
          <p:cNvPr id="41" name="Shape 39"/>
          <p:cNvSpPr/>
          <p:nvPr/>
        </p:nvSpPr>
        <p:spPr>
          <a:xfrm>
            <a:off x="5486400" y="4114800"/>
            <a:ext cx="6126480" cy="1024128"/>
          </a:xfrm>
          <a:prstGeom prst="roundRect">
            <a:avLst>
              <a:gd name="adj" fmla="val 5357"/>
            </a:avLst>
          </a:prstGeom>
          <a:solidFill>
            <a:srgbClr val="F7EAE6"/>
          </a:solidFill>
          <a:ln w="12700">
            <a:solidFill>
              <a:srgbClr val="B85042"/>
            </a:solidFill>
            <a:prstDash val="solid"/>
          </a:ln>
        </p:spPr>
      </p:sp>
      <p:sp>
        <p:nvSpPr>
          <p:cNvPr id="42" name="Text 40"/>
          <p:cNvSpPr txBox="1"/>
          <p:nvPr/>
        </p:nvSpPr>
        <p:spPr>
          <a:xfrm>
            <a:off x="5632704" y="4206240"/>
            <a:ext cx="5833872" cy="256032"/>
          </a:xfrm>
          <a:prstGeom prst="rect">
            <a:avLst/>
          </a:prstGeom>
          <a:noFill/>
          <a:ln/>
        </p:spPr>
        <p:txBody>
          <a:bodyPr wrap="square" lIns="0" tIns="0" rIns="0" bIns="0" rtlCol="0" anchor="ctr"/>
          <a:lstStyle/>
          <a:p>
            <a:pPr indent="0" marL="0">
              <a:buNone/>
            </a:pPr>
            <a:r>
              <a:rPr lang="en-US" sz="1000" b="1" dirty="0">
                <a:solidFill>
                  <a:srgbClr val="B85042"/>
                </a:solidFill>
                <a:latin typeface="Courier New" pitchFamily="34" charset="0"/>
                <a:ea typeface="Courier New" pitchFamily="34" charset="-122"/>
                <a:cs typeface="Courier New" pitchFamily="34" charset="-120"/>
              </a:rPr>
              <a:t>Permanent failure</a:t>
            </a:r>
            <a:endParaRPr lang="en-US" sz="1000" dirty="0"/>
          </a:p>
        </p:txBody>
      </p:sp>
      <p:sp>
        <p:nvSpPr>
          <p:cNvPr id="43" name="Text 41"/>
          <p:cNvSpPr txBox="1"/>
          <p:nvPr/>
        </p:nvSpPr>
        <p:spPr>
          <a:xfrm>
            <a:off x="5632704" y="4462272"/>
            <a:ext cx="5833872" cy="603504"/>
          </a:xfrm>
          <a:prstGeom prst="rect">
            <a:avLst/>
          </a:prstGeom>
          <a:noFill/>
          <a:ln/>
        </p:spPr>
        <p:txBody>
          <a:bodyPr wrap="square" lIns="0" tIns="0" rIns="0" bIns="0" rtlCol="0" anchor="ctr"/>
          <a:lstStyle/>
          <a:p>
            <a:pPr indent="0" marL="0">
              <a:lnSpc>
                <a:spcPts val="1200"/>
              </a:lnSpc>
              <a:buNone/>
            </a:pPr>
            <a:r>
              <a:rPr lang="en-US" sz="900" dirty="0">
                <a:solidFill>
                  <a:srgbClr val="5C6B6E"/>
                </a:solidFill>
                <a:latin typeface="Calibri" pitchFamily="34" charset="0"/>
                <a:ea typeface="Calibri" pitchFamily="34" charset="-122"/>
                <a:cs typeface="Calibri" pitchFamily="34" charset="-120"/>
              </a:rPr>
              <a:t>a 404, a missing API key, malformed XML. Fail on the first attempt — no number of retries fixes it</a:t>
            </a:r>
            <a:endParaRPr lang="en-US" sz="900" dirty="0"/>
          </a:p>
        </p:txBody>
      </p:sp>
      <p:sp>
        <p:nvSpPr>
          <p:cNvPr id="44" name="Shape 42"/>
          <p:cNvSpPr/>
          <p:nvPr/>
        </p:nvSpPr>
        <p:spPr>
          <a:xfrm>
            <a:off x="5486400" y="5266944"/>
            <a:ext cx="6126480" cy="1024128"/>
          </a:xfrm>
          <a:prstGeom prst="roundRect">
            <a:avLst>
              <a:gd name="adj" fmla="val 5357"/>
            </a:avLst>
          </a:prstGeom>
          <a:solidFill>
            <a:srgbClr val="F7EAE6"/>
          </a:solidFill>
          <a:ln w="12700">
            <a:solidFill>
              <a:srgbClr val="B85042"/>
            </a:solidFill>
            <a:prstDash val="solid"/>
          </a:ln>
        </p:spPr>
      </p:sp>
      <p:sp>
        <p:nvSpPr>
          <p:cNvPr id="45" name="Text 43"/>
          <p:cNvSpPr txBox="1"/>
          <p:nvPr/>
        </p:nvSpPr>
        <p:spPr>
          <a:xfrm>
            <a:off x="5632704" y="5358384"/>
            <a:ext cx="5833872" cy="256032"/>
          </a:xfrm>
          <a:prstGeom prst="rect">
            <a:avLst/>
          </a:prstGeom>
          <a:noFill/>
          <a:ln/>
        </p:spPr>
        <p:txBody>
          <a:bodyPr wrap="square" lIns="0" tIns="0" rIns="0" bIns="0" rtlCol="0" anchor="ctr"/>
          <a:lstStyle/>
          <a:p>
            <a:pPr indent="0" marL="0">
              <a:buNone/>
            </a:pPr>
            <a:r>
              <a:rPr lang="en-US" sz="1000" b="1" dirty="0">
                <a:solidFill>
                  <a:srgbClr val="B85042"/>
                </a:solidFill>
                <a:latin typeface="Courier New" pitchFamily="34" charset="0"/>
                <a:ea typeface="Courier New" pitchFamily="34" charset="-122"/>
                <a:cs typeface="Courier New" pitchFamily="34" charset="-120"/>
              </a:rPr>
              <a:t>The deadline fires</a:t>
            </a:r>
            <a:endParaRPr lang="en-US" sz="1000" dirty="0"/>
          </a:p>
        </p:txBody>
      </p:sp>
      <p:sp>
        <p:nvSpPr>
          <p:cNvPr id="46" name="Text 44"/>
          <p:cNvSpPr txBox="1"/>
          <p:nvPr/>
        </p:nvSpPr>
        <p:spPr>
          <a:xfrm>
            <a:off x="5632704" y="5614416"/>
            <a:ext cx="5833872" cy="603504"/>
          </a:xfrm>
          <a:prstGeom prst="rect">
            <a:avLst/>
          </a:prstGeom>
          <a:noFill/>
          <a:ln/>
        </p:spPr>
        <p:txBody>
          <a:bodyPr wrap="square" lIns="0" tIns="0" rIns="0" bIns="0" rtlCol="0" anchor="ctr"/>
          <a:lstStyle/>
          <a:p>
            <a:pPr indent="0" marL="0">
              <a:lnSpc>
                <a:spcPts val="1200"/>
              </a:lnSpc>
              <a:buNone/>
            </a:pPr>
            <a:r>
              <a:rPr lang="en-US" sz="900" dirty="0">
                <a:solidFill>
                  <a:srgbClr val="5C6B6E"/>
                </a:solidFill>
                <a:latin typeface="Calibri" pitchFamily="34" charset="0"/>
                <a:ea typeface="Calibri" pitchFamily="34" charset="-122"/>
                <a:cs typeface="Calibri" pitchFamily="34" charset="-120"/>
              </a:rPr>
              <a:t>the attempt, or the backoff sleep, is genuinely cancelled. CancelledError is a BaseException, so the retry loop does not swallow it</a:t>
            </a:r>
            <a:endParaRPr lang="en-US" sz="900" dirty="0"/>
          </a:p>
        </p:txBody>
      </p:sp>
      <p:sp>
        <p:nvSpPr>
          <p:cNvPr id="47" name="Text 45"/>
          <p:cNvSpPr txBox="1"/>
          <p:nvPr/>
        </p:nvSpPr>
        <p:spPr>
          <a:xfrm>
            <a:off x="5486400" y="6400800"/>
            <a:ext cx="6126480" cy="274320"/>
          </a:xfrm>
          <a:prstGeom prst="rect">
            <a:avLst/>
          </a:prstGeom>
          <a:noFill/>
          <a:ln/>
        </p:spPr>
        <p:txBody>
          <a:bodyPr wrap="square" lIns="0" tIns="0" rIns="0" bIns="0" rtlCol="0" anchor="ctr"/>
          <a:lstStyle/>
          <a:p>
            <a:pPr indent="0" marL="0">
              <a:buNone/>
            </a:pPr>
            <a:r>
              <a:rPr lang="en-US" sz="950" i="1" dirty="0">
                <a:solidFill>
                  <a:srgbClr val="5C6B6E"/>
                </a:solidFill>
                <a:latin typeface="Calibri" pitchFamily="34" charset="0"/>
                <a:ea typeface="Calibri" pitchFamily="34" charset="-122"/>
                <a:cs typeface="Calibri" pitchFamily="34" charset="-120"/>
              </a:rPr>
              <a:t>Only the fetches can truly be cancelled. Synthesis runs on a thread, and Python threads cannot be stopped — which is why it has no timeout.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FAILURE MAP</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What the user sees when something breaks</a:t>
            </a:r>
            <a:endParaRPr lang="en-US" sz="3400" dirty="0"/>
          </a:p>
        </p:txBody>
      </p:sp>
      <p:sp>
        <p:nvSpPr>
          <p:cNvPr id="4" name="Text 2"/>
          <p:cNvSpPr txBox="1"/>
          <p:nvPr/>
        </p:nvSpPr>
        <p:spPr>
          <a:xfrm>
            <a:off x="566928" y="1417320"/>
            <a:ext cx="3108960" cy="219456"/>
          </a:xfrm>
          <a:prstGeom prst="rect">
            <a:avLst/>
          </a:prstGeom>
          <a:noFill/>
          <a:ln/>
        </p:spPr>
        <p:txBody>
          <a:bodyPr wrap="square" lIns="0" tIns="0" rIns="0" bIns="0" rtlCol="0" anchor="ctr"/>
          <a:lstStyle/>
          <a:p>
            <a:pPr indent="0" marL="0">
              <a:buNone/>
            </a:pPr>
            <a:r>
              <a:rPr lang="en-US" sz="850" spc="120" kern="0" dirty="0">
                <a:solidFill>
                  <a:srgbClr val="5C6B6E"/>
                </a:solidFill>
                <a:latin typeface="Courier New" pitchFamily="34" charset="0"/>
                <a:ea typeface="Courier New" pitchFamily="34" charset="-122"/>
                <a:cs typeface="Courier New" pitchFamily="34" charset="-120"/>
              </a:rPr>
              <a:t>WHAT GOES WRONG</a:t>
            </a:r>
            <a:endParaRPr lang="en-US" sz="850" dirty="0"/>
          </a:p>
        </p:txBody>
      </p:sp>
      <p:sp>
        <p:nvSpPr>
          <p:cNvPr id="5" name="Text 3"/>
          <p:cNvSpPr txBox="1"/>
          <p:nvPr/>
        </p:nvSpPr>
        <p:spPr>
          <a:xfrm>
            <a:off x="4160520" y="1417320"/>
            <a:ext cx="3291840" cy="219456"/>
          </a:xfrm>
          <a:prstGeom prst="rect">
            <a:avLst/>
          </a:prstGeom>
          <a:noFill/>
          <a:ln/>
        </p:spPr>
        <p:txBody>
          <a:bodyPr wrap="square" lIns="0" tIns="0" rIns="0" bIns="0" rtlCol="0" anchor="ctr"/>
          <a:lstStyle/>
          <a:p>
            <a:pPr indent="0" marL="0">
              <a:buNone/>
            </a:pPr>
            <a:r>
              <a:rPr lang="en-US" sz="850" spc="120" kern="0" dirty="0">
                <a:solidFill>
                  <a:srgbClr val="5C6B6E"/>
                </a:solidFill>
                <a:latin typeface="Courier New" pitchFamily="34" charset="0"/>
                <a:ea typeface="Courier New" pitchFamily="34" charset="-122"/>
                <a:cs typeface="Courier New" pitchFamily="34" charset="-120"/>
              </a:rPr>
              <a:t>WHAT THE CODE DOES</a:t>
            </a:r>
            <a:endParaRPr lang="en-US" sz="850" dirty="0"/>
          </a:p>
        </p:txBody>
      </p:sp>
      <p:sp>
        <p:nvSpPr>
          <p:cNvPr id="6" name="Text 4"/>
          <p:cNvSpPr txBox="1"/>
          <p:nvPr/>
        </p:nvSpPr>
        <p:spPr>
          <a:xfrm>
            <a:off x="7772400" y="1417320"/>
            <a:ext cx="2743200" cy="219456"/>
          </a:xfrm>
          <a:prstGeom prst="rect">
            <a:avLst/>
          </a:prstGeom>
          <a:noFill/>
          <a:ln/>
        </p:spPr>
        <p:txBody>
          <a:bodyPr wrap="square" lIns="0" tIns="0" rIns="0" bIns="0" rtlCol="0" anchor="ctr"/>
          <a:lstStyle/>
          <a:p>
            <a:pPr indent="0" marL="0">
              <a:buNone/>
            </a:pPr>
            <a:r>
              <a:rPr lang="en-US" sz="850" spc="120" kern="0" dirty="0">
                <a:solidFill>
                  <a:srgbClr val="5C6B6E"/>
                </a:solidFill>
                <a:latin typeface="Courier New" pitchFamily="34" charset="0"/>
                <a:ea typeface="Courier New" pitchFamily="34" charset="-122"/>
                <a:cs typeface="Courier New" pitchFamily="34" charset="-120"/>
              </a:rPr>
              <a:t>WHAT THE USER GETS</a:t>
            </a:r>
            <a:endParaRPr lang="en-US" sz="850" dirty="0"/>
          </a:p>
        </p:txBody>
      </p:sp>
      <p:sp>
        <p:nvSpPr>
          <p:cNvPr id="7" name="Text 5"/>
          <p:cNvSpPr txBox="1"/>
          <p:nvPr/>
        </p:nvSpPr>
        <p:spPr>
          <a:xfrm>
            <a:off x="10424160" y="1417320"/>
            <a:ext cx="1060704" cy="219456"/>
          </a:xfrm>
          <a:prstGeom prst="rect">
            <a:avLst/>
          </a:prstGeom>
          <a:noFill/>
          <a:ln/>
        </p:spPr>
        <p:txBody>
          <a:bodyPr wrap="square" lIns="0" tIns="0" rIns="0" bIns="0" rtlCol="0" anchor="ctr"/>
          <a:lstStyle/>
          <a:p>
            <a:pPr algn="r" indent="0" marL="0">
              <a:buNone/>
            </a:pPr>
            <a:r>
              <a:rPr lang="en-US" sz="850" spc="120" kern="0" dirty="0">
                <a:solidFill>
                  <a:srgbClr val="5C6B6E"/>
                </a:solidFill>
                <a:latin typeface="Courier New" pitchFamily="34" charset="0"/>
                <a:ea typeface="Courier New" pitchFamily="34" charset="-122"/>
                <a:cs typeface="Courier New" pitchFamily="34" charset="-120"/>
              </a:rPr>
              <a:t>WHERE</a:t>
            </a:r>
            <a:endParaRPr lang="en-US" sz="850" dirty="0"/>
          </a:p>
        </p:txBody>
      </p:sp>
      <p:sp>
        <p:nvSpPr>
          <p:cNvPr id="8" name="Shape 6"/>
          <p:cNvSpPr/>
          <p:nvPr/>
        </p:nvSpPr>
        <p:spPr>
          <a:xfrm>
            <a:off x="566928" y="1691640"/>
            <a:ext cx="11064240" cy="438912"/>
          </a:xfrm>
          <a:prstGeom prst="roundRect">
            <a:avLst>
              <a:gd name="adj" fmla="val 10417"/>
            </a:avLst>
          </a:prstGeom>
          <a:solidFill>
            <a:srgbClr val="F9F0ED"/>
          </a:solidFill>
          <a:ln w="9525">
            <a:solidFill>
              <a:srgbClr val="D7E2E2"/>
            </a:solidFill>
            <a:prstDash val="solid"/>
          </a:ln>
        </p:spPr>
      </p:sp>
      <p:sp>
        <p:nvSpPr>
          <p:cNvPr id="9" name="Shape 7"/>
          <p:cNvSpPr/>
          <p:nvPr/>
        </p:nvSpPr>
        <p:spPr>
          <a:xfrm>
            <a:off x="694944" y="1837944"/>
            <a:ext cx="146304" cy="146304"/>
          </a:xfrm>
          <a:prstGeom prst="ellipse">
            <a:avLst/>
          </a:prstGeom>
          <a:solidFill>
            <a:srgbClr val="B85042"/>
          </a:solidFill>
          <a:ln/>
        </p:spPr>
      </p:sp>
      <p:sp>
        <p:nvSpPr>
          <p:cNvPr id="10" name="Text 8"/>
          <p:cNvSpPr txBox="1"/>
          <p:nvPr/>
        </p:nvSpPr>
        <p:spPr>
          <a:xfrm>
            <a:off x="960120" y="1810512"/>
            <a:ext cx="3108960" cy="237744"/>
          </a:xfrm>
          <a:prstGeom prst="rect">
            <a:avLst/>
          </a:prstGeom>
          <a:noFill/>
          <a:ln/>
        </p:spPr>
        <p:txBody>
          <a:bodyPr wrap="square" lIns="0" tIns="0" rIns="0" bIns="0" rtlCol="0" anchor="ctr"/>
          <a:lstStyle/>
          <a:p>
            <a:pPr indent="0" marL="0">
              <a:buNone/>
            </a:pPr>
            <a:r>
              <a:rPr lang="en-US" sz="1000" b="1" dirty="0">
                <a:solidFill>
                  <a:srgbClr val="10262B"/>
                </a:solidFill>
                <a:latin typeface="Calibri" pitchFamily="34" charset="0"/>
                <a:ea typeface="Calibri" pitchFamily="34" charset="-122"/>
                <a:cs typeface="Calibri" pitchFamily="34" charset="-120"/>
              </a:rPr>
              <a:t>Empty or 500-character question</a:t>
            </a:r>
            <a:endParaRPr lang="en-US" sz="1000" dirty="0"/>
          </a:p>
        </p:txBody>
      </p:sp>
      <p:sp>
        <p:nvSpPr>
          <p:cNvPr id="11" name="Text 9"/>
          <p:cNvSpPr txBox="1"/>
          <p:nvPr/>
        </p:nvSpPr>
        <p:spPr>
          <a:xfrm>
            <a:off x="4160520" y="1810512"/>
            <a:ext cx="3520440" cy="237744"/>
          </a:xfrm>
          <a:prstGeom prst="rect">
            <a:avLst/>
          </a:prstGeom>
          <a:noFill/>
          <a:ln/>
        </p:spPr>
        <p:txBody>
          <a:bodyPr wrap="square" lIns="0" tIns="0" rIns="0" bIns="0" rtlCol="0" anchor="ctr"/>
          <a:lstStyle/>
          <a:p>
            <a:pPr indent="0" marL="0">
              <a:buNone/>
            </a:pPr>
            <a:r>
              <a:rPr lang="en-US" sz="950" dirty="0">
                <a:solidFill>
                  <a:srgbClr val="5C6B6E"/>
                </a:solidFill>
                <a:latin typeface="Calibri" pitchFamily="34" charset="0"/>
                <a:ea typeface="Calibri" pitchFamily="34" charset="-122"/>
                <a:cs typeface="Calibri" pitchFamily="34" charset="-120"/>
              </a:rPr>
              <a:t>rejected before any network call or API spend</a:t>
            </a:r>
            <a:endParaRPr lang="en-US" sz="950" dirty="0"/>
          </a:p>
        </p:txBody>
      </p:sp>
      <p:sp>
        <p:nvSpPr>
          <p:cNvPr id="12" name="Text 10"/>
          <p:cNvSpPr txBox="1"/>
          <p:nvPr/>
        </p:nvSpPr>
        <p:spPr>
          <a:xfrm>
            <a:off x="7772400" y="1810512"/>
            <a:ext cx="2743200" cy="237744"/>
          </a:xfrm>
          <a:prstGeom prst="rect">
            <a:avLst/>
          </a:prstGeom>
          <a:noFill/>
          <a:ln/>
        </p:spPr>
        <p:txBody>
          <a:bodyPr wrap="square" lIns="0" tIns="0" rIns="0" bIns="0" rtlCol="0" anchor="ctr"/>
          <a:lstStyle/>
          <a:p>
            <a:pPr indent="0" marL="0">
              <a:buNone/>
            </a:pPr>
            <a:r>
              <a:rPr lang="en-US" sz="950" dirty="0">
                <a:solidFill>
                  <a:srgbClr val="B85042"/>
                </a:solidFill>
                <a:latin typeface="Calibri" pitchFamily="34" charset="0"/>
                <a:ea typeface="Calibri" pitchFamily="34" charset="-122"/>
                <a:cs typeface="Calibri" pitchFamily="34" charset="-120"/>
              </a:rPr>
              <a:t>exit 1 · one sentence</a:t>
            </a:r>
            <a:endParaRPr lang="en-US" sz="950" dirty="0"/>
          </a:p>
        </p:txBody>
      </p:sp>
      <p:sp>
        <p:nvSpPr>
          <p:cNvPr id="13" name="Text 11"/>
          <p:cNvSpPr txBox="1"/>
          <p:nvPr/>
        </p:nvSpPr>
        <p:spPr>
          <a:xfrm>
            <a:off x="10332720" y="1819656"/>
            <a:ext cx="1152144" cy="237744"/>
          </a:xfrm>
          <a:prstGeom prst="rect">
            <a:avLst/>
          </a:prstGeom>
          <a:noFill/>
          <a:ln/>
        </p:spPr>
        <p:txBody>
          <a:bodyPr wrap="square" lIns="0" tIns="0" rIns="0" bIns="0" rtlCol="0" anchor="ctr"/>
          <a:lstStyle/>
          <a:p>
            <a:pPr algn="r" indent="0" marL="0">
              <a:buNone/>
            </a:pPr>
            <a:r>
              <a:rPr lang="en-US" sz="850" dirty="0">
                <a:solidFill>
                  <a:srgbClr val="5C6B6E"/>
                </a:solidFill>
                <a:latin typeface="Courier New" pitchFamily="34" charset="0"/>
                <a:ea typeface="Courier New" pitchFamily="34" charset="-122"/>
                <a:cs typeface="Courier New" pitchFamily="34" charset="-120"/>
              </a:rPr>
              <a:t>cli.py</a:t>
            </a:r>
            <a:endParaRPr lang="en-US" sz="850" dirty="0"/>
          </a:p>
        </p:txBody>
      </p:sp>
      <p:sp>
        <p:nvSpPr>
          <p:cNvPr id="14" name="Shape 12"/>
          <p:cNvSpPr/>
          <p:nvPr/>
        </p:nvSpPr>
        <p:spPr>
          <a:xfrm>
            <a:off x="566928" y="2203704"/>
            <a:ext cx="11064240" cy="438912"/>
          </a:xfrm>
          <a:prstGeom prst="roundRect">
            <a:avLst>
              <a:gd name="adj" fmla="val 10417"/>
            </a:avLst>
          </a:prstGeom>
          <a:solidFill>
            <a:srgbClr val="F9F0ED"/>
          </a:solidFill>
          <a:ln w="9525">
            <a:solidFill>
              <a:srgbClr val="D7E2E2"/>
            </a:solidFill>
            <a:prstDash val="solid"/>
          </a:ln>
        </p:spPr>
      </p:sp>
      <p:sp>
        <p:nvSpPr>
          <p:cNvPr id="15" name="Shape 13"/>
          <p:cNvSpPr/>
          <p:nvPr/>
        </p:nvSpPr>
        <p:spPr>
          <a:xfrm>
            <a:off x="694944" y="2350008"/>
            <a:ext cx="146304" cy="146304"/>
          </a:xfrm>
          <a:prstGeom prst="ellipse">
            <a:avLst/>
          </a:prstGeom>
          <a:solidFill>
            <a:srgbClr val="B85042"/>
          </a:solidFill>
          <a:ln/>
        </p:spPr>
      </p:sp>
      <p:sp>
        <p:nvSpPr>
          <p:cNvPr id="16" name="Text 14"/>
          <p:cNvSpPr txBox="1"/>
          <p:nvPr/>
        </p:nvSpPr>
        <p:spPr>
          <a:xfrm>
            <a:off x="960120" y="2322576"/>
            <a:ext cx="3108960" cy="237744"/>
          </a:xfrm>
          <a:prstGeom prst="rect">
            <a:avLst/>
          </a:prstGeom>
          <a:noFill/>
          <a:ln/>
        </p:spPr>
        <p:txBody>
          <a:bodyPr wrap="square" lIns="0" tIns="0" rIns="0" bIns="0" rtlCol="0" anchor="ctr"/>
          <a:lstStyle/>
          <a:p>
            <a:pPr indent="0" marL="0">
              <a:buNone/>
            </a:pPr>
            <a:r>
              <a:rPr lang="en-US" sz="1000" b="1" dirty="0">
                <a:solidFill>
                  <a:srgbClr val="10262B"/>
                </a:solidFill>
                <a:latin typeface="Calibri" pitchFamily="34" charset="0"/>
                <a:ea typeface="Calibri" pitchFamily="34" charset="-122"/>
                <a:cs typeface="Calibri" pitchFamily="34" charset="-120"/>
              </a:rPr>
              <a:t>Unknown --sources value</a:t>
            </a:r>
            <a:endParaRPr lang="en-US" sz="1000" dirty="0"/>
          </a:p>
        </p:txBody>
      </p:sp>
      <p:sp>
        <p:nvSpPr>
          <p:cNvPr id="17" name="Text 15"/>
          <p:cNvSpPr txBox="1"/>
          <p:nvPr/>
        </p:nvSpPr>
        <p:spPr>
          <a:xfrm>
            <a:off x="4160520" y="2322576"/>
            <a:ext cx="3520440" cy="237744"/>
          </a:xfrm>
          <a:prstGeom prst="rect">
            <a:avLst/>
          </a:prstGeom>
          <a:noFill/>
          <a:ln/>
        </p:spPr>
        <p:txBody>
          <a:bodyPr wrap="square" lIns="0" tIns="0" rIns="0" bIns="0" rtlCol="0" anchor="ctr"/>
          <a:lstStyle/>
          <a:p>
            <a:pPr indent="0" marL="0">
              <a:buNone/>
            </a:pPr>
            <a:r>
              <a:rPr lang="en-US" sz="950" dirty="0">
                <a:solidFill>
                  <a:srgbClr val="5C6B6E"/>
                </a:solidFill>
                <a:latin typeface="Calibri" pitchFamily="34" charset="0"/>
                <a:ea typeface="Calibri" pitchFamily="34" charset="-122"/>
                <a:cs typeface="Calibri" pitchFamily="34" charset="-120"/>
              </a:rPr>
              <a:t>rejected, with the valid names listed</a:t>
            </a:r>
            <a:endParaRPr lang="en-US" sz="950" dirty="0"/>
          </a:p>
        </p:txBody>
      </p:sp>
      <p:sp>
        <p:nvSpPr>
          <p:cNvPr id="18" name="Text 16"/>
          <p:cNvSpPr txBox="1"/>
          <p:nvPr/>
        </p:nvSpPr>
        <p:spPr>
          <a:xfrm>
            <a:off x="7772400" y="2322576"/>
            <a:ext cx="2743200" cy="237744"/>
          </a:xfrm>
          <a:prstGeom prst="rect">
            <a:avLst/>
          </a:prstGeom>
          <a:noFill/>
          <a:ln/>
        </p:spPr>
        <p:txBody>
          <a:bodyPr wrap="square" lIns="0" tIns="0" rIns="0" bIns="0" rtlCol="0" anchor="ctr"/>
          <a:lstStyle/>
          <a:p>
            <a:pPr indent="0" marL="0">
              <a:buNone/>
            </a:pPr>
            <a:r>
              <a:rPr lang="en-US" sz="950" dirty="0">
                <a:solidFill>
                  <a:srgbClr val="B85042"/>
                </a:solidFill>
                <a:latin typeface="Calibri" pitchFamily="34" charset="0"/>
                <a:ea typeface="Calibri" pitchFamily="34" charset="-122"/>
                <a:cs typeface="Calibri" pitchFamily="34" charset="-120"/>
              </a:rPr>
              <a:t>exit 1 · one sentence</a:t>
            </a:r>
            <a:endParaRPr lang="en-US" sz="950" dirty="0"/>
          </a:p>
        </p:txBody>
      </p:sp>
      <p:sp>
        <p:nvSpPr>
          <p:cNvPr id="19" name="Text 17"/>
          <p:cNvSpPr txBox="1"/>
          <p:nvPr/>
        </p:nvSpPr>
        <p:spPr>
          <a:xfrm>
            <a:off x="10332720" y="2331720"/>
            <a:ext cx="1152144" cy="237744"/>
          </a:xfrm>
          <a:prstGeom prst="rect">
            <a:avLst/>
          </a:prstGeom>
          <a:noFill/>
          <a:ln/>
        </p:spPr>
        <p:txBody>
          <a:bodyPr wrap="square" lIns="0" tIns="0" rIns="0" bIns="0" rtlCol="0" anchor="ctr"/>
          <a:lstStyle/>
          <a:p>
            <a:pPr algn="r" indent="0" marL="0">
              <a:buNone/>
            </a:pPr>
            <a:r>
              <a:rPr lang="en-US" sz="850" dirty="0">
                <a:solidFill>
                  <a:srgbClr val="5C6B6E"/>
                </a:solidFill>
                <a:latin typeface="Courier New" pitchFamily="34" charset="0"/>
                <a:ea typeface="Courier New" pitchFamily="34" charset="-122"/>
                <a:cs typeface="Courier New" pitchFamily="34" charset="-120"/>
              </a:rPr>
              <a:t>cli.py</a:t>
            </a:r>
            <a:endParaRPr lang="en-US" sz="850" dirty="0"/>
          </a:p>
        </p:txBody>
      </p:sp>
      <p:sp>
        <p:nvSpPr>
          <p:cNvPr id="20" name="Shape 18"/>
          <p:cNvSpPr/>
          <p:nvPr/>
        </p:nvSpPr>
        <p:spPr>
          <a:xfrm>
            <a:off x="566928" y="2715768"/>
            <a:ext cx="11064240" cy="438912"/>
          </a:xfrm>
          <a:prstGeom prst="roundRect">
            <a:avLst>
              <a:gd name="adj" fmla="val 10417"/>
            </a:avLst>
          </a:prstGeom>
          <a:solidFill>
            <a:srgbClr val="F9F0ED"/>
          </a:solidFill>
          <a:ln w="9525">
            <a:solidFill>
              <a:srgbClr val="D7E2E2"/>
            </a:solidFill>
            <a:prstDash val="solid"/>
          </a:ln>
        </p:spPr>
      </p:sp>
      <p:sp>
        <p:nvSpPr>
          <p:cNvPr id="21" name="Shape 19"/>
          <p:cNvSpPr/>
          <p:nvPr/>
        </p:nvSpPr>
        <p:spPr>
          <a:xfrm>
            <a:off x="694944" y="2862072"/>
            <a:ext cx="146304" cy="146304"/>
          </a:xfrm>
          <a:prstGeom prst="ellipse">
            <a:avLst/>
          </a:prstGeom>
          <a:solidFill>
            <a:srgbClr val="B85042"/>
          </a:solidFill>
          <a:ln/>
        </p:spPr>
      </p:sp>
      <p:sp>
        <p:nvSpPr>
          <p:cNvPr id="22" name="Text 20"/>
          <p:cNvSpPr txBox="1"/>
          <p:nvPr/>
        </p:nvSpPr>
        <p:spPr>
          <a:xfrm>
            <a:off x="960120" y="2834640"/>
            <a:ext cx="3108960" cy="237744"/>
          </a:xfrm>
          <a:prstGeom prst="rect">
            <a:avLst/>
          </a:prstGeom>
          <a:noFill/>
          <a:ln/>
        </p:spPr>
        <p:txBody>
          <a:bodyPr wrap="square" lIns="0" tIns="0" rIns="0" bIns="0" rtlCol="0" anchor="ctr"/>
          <a:lstStyle/>
          <a:p>
            <a:pPr indent="0" marL="0">
              <a:buNone/>
            </a:pPr>
            <a:r>
              <a:rPr lang="en-US" sz="1000" b="1" dirty="0">
                <a:solidFill>
                  <a:srgbClr val="10262B"/>
                </a:solidFill>
                <a:latin typeface="Calibri" pitchFamily="34" charset="0"/>
                <a:ea typeface="Calibri" pitchFamily="34" charset="-122"/>
                <a:cs typeface="Calibri" pitchFamily="34" charset="-120"/>
              </a:rPr>
              <a:t>No API key in .env</a:t>
            </a:r>
            <a:endParaRPr lang="en-US" sz="1000" dirty="0"/>
          </a:p>
        </p:txBody>
      </p:sp>
      <p:sp>
        <p:nvSpPr>
          <p:cNvPr id="23" name="Text 21"/>
          <p:cNvSpPr txBox="1"/>
          <p:nvPr/>
        </p:nvSpPr>
        <p:spPr>
          <a:xfrm>
            <a:off x="4160520" y="2834640"/>
            <a:ext cx="3520440" cy="237744"/>
          </a:xfrm>
          <a:prstGeom prst="rect">
            <a:avLst/>
          </a:prstGeom>
          <a:noFill/>
          <a:ln/>
        </p:spPr>
        <p:txBody>
          <a:bodyPr wrap="square" lIns="0" tIns="0" rIns="0" bIns="0" rtlCol="0" anchor="ctr"/>
          <a:lstStyle/>
          <a:p>
            <a:pPr indent="0" marL="0">
              <a:buNone/>
            </a:pPr>
            <a:r>
              <a:rPr lang="en-US" sz="950" dirty="0">
                <a:solidFill>
                  <a:srgbClr val="5C6B6E"/>
                </a:solidFill>
                <a:latin typeface="Calibri" pitchFamily="34" charset="0"/>
                <a:ea typeface="Calibri" pitchFamily="34" charset="-122"/>
                <a:cs typeface="Calibri" pitchFamily="34" charset="-120"/>
              </a:rPr>
              <a:t>the provider factory cannot build a client</a:t>
            </a:r>
            <a:endParaRPr lang="en-US" sz="950" dirty="0"/>
          </a:p>
        </p:txBody>
      </p:sp>
      <p:sp>
        <p:nvSpPr>
          <p:cNvPr id="24" name="Text 22"/>
          <p:cNvSpPr txBox="1"/>
          <p:nvPr/>
        </p:nvSpPr>
        <p:spPr>
          <a:xfrm>
            <a:off x="7772400" y="2834640"/>
            <a:ext cx="2743200" cy="237744"/>
          </a:xfrm>
          <a:prstGeom prst="rect">
            <a:avLst/>
          </a:prstGeom>
          <a:noFill/>
          <a:ln/>
        </p:spPr>
        <p:txBody>
          <a:bodyPr wrap="square" lIns="0" tIns="0" rIns="0" bIns="0" rtlCol="0" anchor="ctr"/>
          <a:lstStyle/>
          <a:p>
            <a:pPr indent="0" marL="0">
              <a:buNone/>
            </a:pPr>
            <a:r>
              <a:rPr lang="en-US" sz="950" dirty="0">
                <a:solidFill>
                  <a:srgbClr val="B85042"/>
                </a:solidFill>
                <a:latin typeface="Calibri" pitchFamily="34" charset="0"/>
                <a:ea typeface="Calibri" pitchFamily="34" charset="-122"/>
                <a:cs typeface="Calibri" pitchFamily="34" charset="-120"/>
              </a:rPr>
              <a:t>exit 1 · one sentence</a:t>
            </a:r>
            <a:endParaRPr lang="en-US" sz="950" dirty="0"/>
          </a:p>
        </p:txBody>
      </p:sp>
      <p:sp>
        <p:nvSpPr>
          <p:cNvPr id="25" name="Text 23"/>
          <p:cNvSpPr txBox="1"/>
          <p:nvPr/>
        </p:nvSpPr>
        <p:spPr>
          <a:xfrm>
            <a:off x="10332720" y="2843784"/>
            <a:ext cx="1152144" cy="237744"/>
          </a:xfrm>
          <a:prstGeom prst="rect">
            <a:avLst/>
          </a:prstGeom>
          <a:noFill/>
          <a:ln/>
        </p:spPr>
        <p:txBody>
          <a:bodyPr wrap="square" lIns="0" tIns="0" rIns="0" bIns="0" rtlCol="0" anchor="ctr"/>
          <a:lstStyle/>
          <a:p>
            <a:pPr algn="r" indent="0" marL="0">
              <a:buNone/>
            </a:pPr>
            <a:r>
              <a:rPr lang="en-US" sz="850" dirty="0">
                <a:solidFill>
                  <a:srgbClr val="5C6B6E"/>
                </a:solidFill>
                <a:latin typeface="Courier New" pitchFamily="34" charset="0"/>
                <a:ea typeface="Courier New" pitchFamily="34" charset="-122"/>
                <a:cs typeface="Courier New" pitchFamily="34" charset="-120"/>
              </a:rPr>
              <a:t>cli.py</a:t>
            </a:r>
            <a:endParaRPr lang="en-US" sz="850" dirty="0"/>
          </a:p>
        </p:txBody>
      </p:sp>
      <p:sp>
        <p:nvSpPr>
          <p:cNvPr id="26" name="Shape 24"/>
          <p:cNvSpPr/>
          <p:nvPr/>
        </p:nvSpPr>
        <p:spPr>
          <a:xfrm>
            <a:off x="566928" y="3227832"/>
            <a:ext cx="11064240" cy="438912"/>
          </a:xfrm>
          <a:prstGeom prst="roundRect">
            <a:avLst>
              <a:gd name="adj" fmla="val 10417"/>
            </a:avLst>
          </a:prstGeom>
          <a:solidFill>
            <a:srgbClr val="EEF4F4"/>
          </a:solidFill>
          <a:ln w="9525">
            <a:solidFill>
              <a:srgbClr val="D7E2E2"/>
            </a:solidFill>
            <a:prstDash val="solid"/>
          </a:ln>
        </p:spPr>
      </p:sp>
      <p:sp>
        <p:nvSpPr>
          <p:cNvPr id="27" name="Shape 25"/>
          <p:cNvSpPr/>
          <p:nvPr/>
        </p:nvSpPr>
        <p:spPr>
          <a:xfrm>
            <a:off x="694944" y="3374136"/>
            <a:ext cx="146304" cy="146304"/>
          </a:xfrm>
          <a:prstGeom prst="ellipse">
            <a:avLst/>
          </a:prstGeom>
          <a:solidFill>
            <a:srgbClr val="028090"/>
          </a:solidFill>
          <a:ln/>
        </p:spPr>
      </p:sp>
      <p:sp>
        <p:nvSpPr>
          <p:cNvPr id="28" name="Text 26"/>
          <p:cNvSpPr txBox="1"/>
          <p:nvPr/>
        </p:nvSpPr>
        <p:spPr>
          <a:xfrm>
            <a:off x="960120" y="3346704"/>
            <a:ext cx="3108960" cy="237744"/>
          </a:xfrm>
          <a:prstGeom prst="rect">
            <a:avLst/>
          </a:prstGeom>
          <a:noFill/>
          <a:ln/>
        </p:spPr>
        <p:txBody>
          <a:bodyPr wrap="square" lIns="0" tIns="0" rIns="0" bIns="0" rtlCol="0" anchor="ctr"/>
          <a:lstStyle/>
          <a:p>
            <a:pPr indent="0" marL="0">
              <a:buNone/>
            </a:pPr>
            <a:r>
              <a:rPr lang="en-US" sz="1000" b="1" dirty="0">
                <a:solidFill>
                  <a:srgbClr val="10262B"/>
                </a:solidFill>
                <a:latin typeface="Calibri" pitchFamily="34" charset="0"/>
                <a:ea typeface="Calibri" pitchFamily="34" charset="-122"/>
                <a:cs typeface="Calibri" pitchFamily="34" charset="-120"/>
              </a:rPr>
              <a:t>arXiv returns 429 or 503</a:t>
            </a:r>
            <a:endParaRPr lang="en-US" sz="1000" dirty="0"/>
          </a:p>
        </p:txBody>
      </p:sp>
      <p:sp>
        <p:nvSpPr>
          <p:cNvPr id="29" name="Text 27"/>
          <p:cNvSpPr txBox="1"/>
          <p:nvPr/>
        </p:nvSpPr>
        <p:spPr>
          <a:xfrm>
            <a:off x="4160520" y="3346704"/>
            <a:ext cx="3520440" cy="237744"/>
          </a:xfrm>
          <a:prstGeom prst="rect">
            <a:avLst/>
          </a:prstGeom>
          <a:noFill/>
          <a:ln/>
        </p:spPr>
        <p:txBody>
          <a:bodyPr wrap="square" lIns="0" tIns="0" rIns="0" bIns="0" rtlCol="0" anchor="ctr"/>
          <a:lstStyle/>
          <a:p>
            <a:pPr indent="0" marL="0">
              <a:buNone/>
            </a:pPr>
            <a:r>
              <a:rPr lang="en-US" sz="950" dirty="0">
                <a:solidFill>
                  <a:srgbClr val="5C6B6E"/>
                </a:solidFill>
                <a:latin typeface="Calibri" pitchFamily="34" charset="0"/>
                <a:ea typeface="Calibri" pitchFamily="34" charset="-122"/>
                <a:cs typeface="Calibri" pitchFamily="34" charset="-120"/>
              </a:rPr>
              <a:t>retried up to 3 times with jitter inside the 8s deadline</a:t>
            </a:r>
            <a:endParaRPr lang="en-US" sz="950" dirty="0"/>
          </a:p>
        </p:txBody>
      </p:sp>
      <p:sp>
        <p:nvSpPr>
          <p:cNvPr id="30" name="Text 28"/>
          <p:cNvSpPr txBox="1"/>
          <p:nvPr/>
        </p:nvSpPr>
        <p:spPr>
          <a:xfrm>
            <a:off x="7772400" y="3346704"/>
            <a:ext cx="2743200" cy="237744"/>
          </a:xfrm>
          <a:prstGeom prst="rect">
            <a:avLst/>
          </a:prstGeom>
          <a:noFill/>
          <a:ln/>
        </p:spPr>
        <p:txBody>
          <a:bodyPr wrap="square" lIns="0" tIns="0" rIns="0" bIns="0" rtlCol="0" anchor="ctr"/>
          <a:lstStyle/>
          <a:p>
            <a:pPr indent="0" marL="0">
              <a:buNone/>
            </a:pPr>
            <a:r>
              <a:rPr lang="en-US" sz="950" dirty="0">
                <a:solidFill>
                  <a:srgbClr val="028090"/>
                </a:solidFill>
                <a:latin typeface="Calibri" pitchFamily="34" charset="0"/>
                <a:ea typeface="Calibri" pitchFamily="34" charset="-122"/>
                <a:cs typeface="Calibri" pitchFamily="34" charset="-120"/>
              </a:rPr>
              <a:t>usually recovers, silently</a:t>
            </a:r>
            <a:endParaRPr lang="en-US" sz="950" dirty="0"/>
          </a:p>
        </p:txBody>
      </p:sp>
      <p:sp>
        <p:nvSpPr>
          <p:cNvPr id="31" name="Text 29"/>
          <p:cNvSpPr txBox="1"/>
          <p:nvPr/>
        </p:nvSpPr>
        <p:spPr>
          <a:xfrm>
            <a:off x="10332720" y="3355848"/>
            <a:ext cx="1152144" cy="237744"/>
          </a:xfrm>
          <a:prstGeom prst="rect">
            <a:avLst/>
          </a:prstGeom>
          <a:noFill/>
          <a:ln/>
        </p:spPr>
        <p:txBody>
          <a:bodyPr wrap="square" lIns="0" tIns="0" rIns="0" bIns="0" rtlCol="0" anchor="ctr"/>
          <a:lstStyle/>
          <a:p>
            <a:pPr algn="r" indent="0" marL="0">
              <a:buNone/>
            </a:pPr>
            <a:r>
              <a:rPr lang="en-US" sz="850" dirty="0">
                <a:solidFill>
                  <a:srgbClr val="5C6B6E"/>
                </a:solidFill>
                <a:latin typeface="Courier New" pitchFamily="34" charset="0"/>
                <a:ea typeface="Courier New" pitchFamily="34" charset="-122"/>
                <a:cs typeface="Courier New" pitchFamily="34" charset="-120"/>
              </a:rPr>
              <a:t>ai_service.py</a:t>
            </a:r>
            <a:endParaRPr lang="en-US" sz="850" dirty="0"/>
          </a:p>
        </p:txBody>
      </p:sp>
      <p:sp>
        <p:nvSpPr>
          <p:cNvPr id="32" name="Shape 30"/>
          <p:cNvSpPr/>
          <p:nvPr/>
        </p:nvSpPr>
        <p:spPr>
          <a:xfrm>
            <a:off x="566928" y="3739896"/>
            <a:ext cx="11064240" cy="438912"/>
          </a:xfrm>
          <a:prstGeom prst="roundRect">
            <a:avLst>
              <a:gd name="adj" fmla="val 10417"/>
            </a:avLst>
          </a:prstGeom>
          <a:solidFill>
            <a:srgbClr val="EEF4F4"/>
          </a:solidFill>
          <a:ln w="9525">
            <a:solidFill>
              <a:srgbClr val="D7E2E2"/>
            </a:solidFill>
            <a:prstDash val="solid"/>
          </a:ln>
        </p:spPr>
      </p:sp>
      <p:sp>
        <p:nvSpPr>
          <p:cNvPr id="33" name="Shape 31"/>
          <p:cNvSpPr/>
          <p:nvPr/>
        </p:nvSpPr>
        <p:spPr>
          <a:xfrm>
            <a:off x="694944" y="3886200"/>
            <a:ext cx="146304" cy="146304"/>
          </a:xfrm>
          <a:prstGeom prst="ellipse">
            <a:avLst/>
          </a:prstGeom>
          <a:solidFill>
            <a:srgbClr val="028090"/>
          </a:solidFill>
          <a:ln/>
        </p:spPr>
      </p:sp>
      <p:sp>
        <p:nvSpPr>
          <p:cNvPr id="34" name="Text 32"/>
          <p:cNvSpPr txBox="1"/>
          <p:nvPr/>
        </p:nvSpPr>
        <p:spPr>
          <a:xfrm>
            <a:off x="960120" y="3858768"/>
            <a:ext cx="3108960" cy="237744"/>
          </a:xfrm>
          <a:prstGeom prst="rect">
            <a:avLst/>
          </a:prstGeom>
          <a:noFill/>
          <a:ln/>
        </p:spPr>
        <p:txBody>
          <a:bodyPr wrap="square" lIns="0" tIns="0" rIns="0" bIns="0" rtlCol="0" anchor="ctr"/>
          <a:lstStyle/>
          <a:p>
            <a:pPr indent="0" marL="0">
              <a:buNone/>
            </a:pPr>
            <a:r>
              <a:rPr lang="en-US" sz="1000" b="1" dirty="0">
                <a:solidFill>
                  <a:srgbClr val="10262B"/>
                </a:solidFill>
                <a:latin typeface="Calibri" pitchFamily="34" charset="0"/>
                <a:ea typeface="Calibri" pitchFamily="34" charset="-122"/>
                <a:cs typeface="Calibri" pitchFamily="34" charset="-120"/>
              </a:rPr>
              <a:t>Wikipedia returns nothing</a:t>
            </a:r>
            <a:endParaRPr lang="en-US" sz="1000" dirty="0"/>
          </a:p>
        </p:txBody>
      </p:sp>
      <p:sp>
        <p:nvSpPr>
          <p:cNvPr id="35" name="Text 33"/>
          <p:cNvSpPr txBox="1"/>
          <p:nvPr/>
        </p:nvSpPr>
        <p:spPr>
          <a:xfrm>
            <a:off x="4160520" y="3858768"/>
            <a:ext cx="3520440" cy="237744"/>
          </a:xfrm>
          <a:prstGeom prst="rect">
            <a:avLst/>
          </a:prstGeom>
          <a:noFill/>
          <a:ln/>
        </p:spPr>
        <p:txBody>
          <a:bodyPr wrap="square" lIns="0" tIns="0" rIns="0" bIns="0" rtlCol="0" anchor="ctr"/>
          <a:lstStyle/>
          <a:p>
            <a:pPr indent="0" marL="0">
              <a:buNone/>
            </a:pPr>
            <a:r>
              <a:rPr lang="en-US" sz="950" dirty="0">
                <a:solidFill>
                  <a:srgbClr val="5C6B6E"/>
                </a:solidFill>
                <a:latin typeface="Calibri" pitchFamily="34" charset="0"/>
                <a:ea typeface="Calibri" pitchFamily="34" charset="-122"/>
                <a:cs typeface="Calibri" pitchFamily="34" charset="-120"/>
              </a:rPr>
              <a:t>recorded as a degraded source</a:t>
            </a:r>
            <a:endParaRPr lang="en-US" sz="950" dirty="0"/>
          </a:p>
        </p:txBody>
      </p:sp>
      <p:sp>
        <p:nvSpPr>
          <p:cNvPr id="36" name="Text 34"/>
          <p:cNvSpPr txBox="1"/>
          <p:nvPr/>
        </p:nvSpPr>
        <p:spPr>
          <a:xfrm>
            <a:off x="7772400" y="3858768"/>
            <a:ext cx="2743200" cy="237744"/>
          </a:xfrm>
          <a:prstGeom prst="rect">
            <a:avLst/>
          </a:prstGeom>
          <a:noFill/>
          <a:ln/>
        </p:spPr>
        <p:txBody>
          <a:bodyPr wrap="square" lIns="0" tIns="0" rIns="0" bIns="0" rtlCol="0" anchor="ctr"/>
          <a:lstStyle/>
          <a:p>
            <a:pPr indent="0" marL="0">
              <a:buNone/>
            </a:pPr>
            <a:r>
              <a:rPr lang="en-US" sz="950" dirty="0">
                <a:solidFill>
                  <a:srgbClr val="028090"/>
                </a:solidFill>
                <a:latin typeface="Calibri" pitchFamily="34" charset="0"/>
                <a:ea typeface="Calibri" pitchFamily="34" charset="-122"/>
                <a:cs typeface="Calibri" pitchFamily="34" charset="-120"/>
              </a:rPr>
              <a:t>answer from the other two, failure named</a:t>
            </a:r>
            <a:endParaRPr lang="en-US" sz="950" dirty="0"/>
          </a:p>
        </p:txBody>
      </p:sp>
      <p:sp>
        <p:nvSpPr>
          <p:cNvPr id="37" name="Text 35"/>
          <p:cNvSpPr txBox="1"/>
          <p:nvPr/>
        </p:nvSpPr>
        <p:spPr>
          <a:xfrm>
            <a:off x="10332720" y="3867912"/>
            <a:ext cx="1152144" cy="237744"/>
          </a:xfrm>
          <a:prstGeom prst="rect">
            <a:avLst/>
          </a:prstGeom>
          <a:noFill/>
          <a:ln/>
        </p:spPr>
        <p:txBody>
          <a:bodyPr wrap="square" lIns="0" tIns="0" rIns="0" bIns="0" rtlCol="0" anchor="ctr"/>
          <a:lstStyle/>
          <a:p>
            <a:pPr algn="r" indent="0" marL="0">
              <a:buNone/>
            </a:pPr>
            <a:r>
              <a:rPr lang="en-US" sz="850" dirty="0">
                <a:solidFill>
                  <a:srgbClr val="5C6B6E"/>
                </a:solidFill>
                <a:latin typeface="Courier New" pitchFamily="34" charset="0"/>
                <a:ea typeface="Courier New" pitchFamily="34" charset="-122"/>
                <a:cs typeface="Courier New" pitchFamily="34" charset="-120"/>
              </a:rPr>
              <a:t>researcher.py</a:t>
            </a:r>
            <a:endParaRPr lang="en-US" sz="850" dirty="0"/>
          </a:p>
        </p:txBody>
      </p:sp>
      <p:sp>
        <p:nvSpPr>
          <p:cNvPr id="38" name="Shape 36"/>
          <p:cNvSpPr/>
          <p:nvPr/>
        </p:nvSpPr>
        <p:spPr>
          <a:xfrm>
            <a:off x="566928" y="4251960"/>
            <a:ext cx="11064240" cy="438912"/>
          </a:xfrm>
          <a:prstGeom prst="roundRect">
            <a:avLst>
              <a:gd name="adj" fmla="val 10417"/>
            </a:avLst>
          </a:prstGeom>
          <a:solidFill>
            <a:srgbClr val="EEF4F4"/>
          </a:solidFill>
          <a:ln w="9525">
            <a:solidFill>
              <a:srgbClr val="D7E2E2"/>
            </a:solidFill>
            <a:prstDash val="solid"/>
          </a:ln>
        </p:spPr>
      </p:sp>
      <p:sp>
        <p:nvSpPr>
          <p:cNvPr id="39" name="Shape 37"/>
          <p:cNvSpPr/>
          <p:nvPr/>
        </p:nvSpPr>
        <p:spPr>
          <a:xfrm>
            <a:off x="694944" y="4398264"/>
            <a:ext cx="146304" cy="146304"/>
          </a:xfrm>
          <a:prstGeom prst="ellipse">
            <a:avLst/>
          </a:prstGeom>
          <a:solidFill>
            <a:srgbClr val="028090"/>
          </a:solidFill>
          <a:ln/>
        </p:spPr>
      </p:sp>
      <p:sp>
        <p:nvSpPr>
          <p:cNvPr id="40" name="Text 38"/>
          <p:cNvSpPr txBox="1"/>
          <p:nvPr/>
        </p:nvSpPr>
        <p:spPr>
          <a:xfrm>
            <a:off x="960120" y="4370832"/>
            <a:ext cx="3108960" cy="237744"/>
          </a:xfrm>
          <a:prstGeom prst="rect">
            <a:avLst/>
          </a:prstGeom>
          <a:noFill/>
          <a:ln/>
        </p:spPr>
        <p:txBody>
          <a:bodyPr wrap="square" lIns="0" tIns="0" rIns="0" bIns="0" rtlCol="0" anchor="ctr"/>
          <a:lstStyle/>
          <a:p>
            <a:pPr indent="0" marL="0">
              <a:buNone/>
            </a:pPr>
            <a:r>
              <a:rPr lang="en-US" sz="1000" b="1" dirty="0">
                <a:solidFill>
                  <a:srgbClr val="10262B"/>
                </a:solidFill>
                <a:latin typeface="Calibri" pitchFamily="34" charset="0"/>
                <a:ea typeface="Calibri" pitchFamily="34" charset="-122"/>
                <a:cs typeface="Calibri" pitchFamily="34" charset="-120"/>
              </a:rPr>
              <a:t>A source exceeds 8 seconds</a:t>
            </a:r>
            <a:endParaRPr lang="en-US" sz="1000" dirty="0"/>
          </a:p>
        </p:txBody>
      </p:sp>
      <p:sp>
        <p:nvSpPr>
          <p:cNvPr id="41" name="Text 39"/>
          <p:cNvSpPr txBox="1"/>
          <p:nvPr/>
        </p:nvSpPr>
        <p:spPr>
          <a:xfrm>
            <a:off x="4160520" y="4370832"/>
            <a:ext cx="3520440" cy="237744"/>
          </a:xfrm>
          <a:prstGeom prst="rect">
            <a:avLst/>
          </a:prstGeom>
          <a:noFill/>
          <a:ln/>
        </p:spPr>
        <p:txBody>
          <a:bodyPr wrap="square" lIns="0" tIns="0" rIns="0" bIns="0" rtlCol="0" anchor="ctr"/>
          <a:lstStyle/>
          <a:p>
            <a:pPr indent="0" marL="0">
              <a:buNone/>
            </a:pPr>
            <a:r>
              <a:rPr lang="en-US" sz="950" dirty="0">
                <a:solidFill>
                  <a:srgbClr val="5C6B6E"/>
                </a:solidFill>
                <a:latin typeface="Calibri" pitchFamily="34" charset="0"/>
                <a:ea typeface="Calibri" pitchFamily="34" charset="-122"/>
                <a:cs typeface="Calibri" pitchFamily="34" charset="-120"/>
              </a:rPr>
              <a:t>cancelled; the other two are unaffected</a:t>
            </a:r>
            <a:endParaRPr lang="en-US" sz="950" dirty="0"/>
          </a:p>
        </p:txBody>
      </p:sp>
      <p:sp>
        <p:nvSpPr>
          <p:cNvPr id="42" name="Text 40"/>
          <p:cNvSpPr txBox="1"/>
          <p:nvPr/>
        </p:nvSpPr>
        <p:spPr>
          <a:xfrm>
            <a:off x="7772400" y="4370832"/>
            <a:ext cx="2743200" cy="237744"/>
          </a:xfrm>
          <a:prstGeom prst="rect">
            <a:avLst/>
          </a:prstGeom>
          <a:noFill/>
          <a:ln/>
        </p:spPr>
        <p:txBody>
          <a:bodyPr wrap="square" lIns="0" tIns="0" rIns="0" bIns="0" rtlCol="0" anchor="ctr"/>
          <a:lstStyle/>
          <a:p>
            <a:pPr indent="0" marL="0">
              <a:buNone/>
            </a:pPr>
            <a:r>
              <a:rPr lang="en-US" sz="950" dirty="0">
                <a:solidFill>
                  <a:srgbClr val="028090"/>
                </a:solidFill>
                <a:latin typeface="Calibri" pitchFamily="34" charset="0"/>
                <a:ea typeface="Calibri" pitchFamily="34" charset="-122"/>
                <a:cs typeface="Calibri" pitchFamily="34" charset="-120"/>
              </a:rPr>
              <a:t>answer from the other two</a:t>
            </a:r>
            <a:endParaRPr lang="en-US" sz="950" dirty="0"/>
          </a:p>
        </p:txBody>
      </p:sp>
      <p:sp>
        <p:nvSpPr>
          <p:cNvPr id="43" name="Text 41"/>
          <p:cNvSpPr txBox="1"/>
          <p:nvPr/>
        </p:nvSpPr>
        <p:spPr>
          <a:xfrm>
            <a:off x="10332720" y="4379976"/>
            <a:ext cx="1152144" cy="237744"/>
          </a:xfrm>
          <a:prstGeom prst="rect">
            <a:avLst/>
          </a:prstGeom>
          <a:noFill/>
          <a:ln/>
        </p:spPr>
        <p:txBody>
          <a:bodyPr wrap="square" lIns="0" tIns="0" rIns="0" bIns="0" rtlCol="0" anchor="ctr"/>
          <a:lstStyle/>
          <a:p>
            <a:pPr algn="r" indent="0" marL="0">
              <a:buNone/>
            </a:pPr>
            <a:r>
              <a:rPr lang="en-US" sz="850" dirty="0">
                <a:solidFill>
                  <a:srgbClr val="5C6B6E"/>
                </a:solidFill>
                <a:latin typeface="Courier New" pitchFamily="34" charset="0"/>
                <a:ea typeface="Courier New" pitchFamily="34" charset="-122"/>
                <a:cs typeface="Courier New" pitchFamily="34" charset="-120"/>
              </a:rPr>
              <a:t>orchestrator.py</a:t>
            </a:r>
            <a:endParaRPr lang="en-US" sz="850" dirty="0"/>
          </a:p>
        </p:txBody>
      </p:sp>
      <p:sp>
        <p:nvSpPr>
          <p:cNvPr id="44" name="Shape 42"/>
          <p:cNvSpPr/>
          <p:nvPr/>
        </p:nvSpPr>
        <p:spPr>
          <a:xfrm>
            <a:off x="566928" y="4764024"/>
            <a:ext cx="11064240" cy="438912"/>
          </a:xfrm>
          <a:prstGeom prst="roundRect">
            <a:avLst>
              <a:gd name="adj" fmla="val 10417"/>
            </a:avLst>
          </a:prstGeom>
          <a:solidFill>
            <a:srgbClr val="F9F0ED"/>
          </a:solidFill>
          <a:ln w="9525">
            <a:solidFill>
              <a:srgbClr val="D7E2E2"/>
            </a:solidFill>
            <a:prstDash val="solid"/>
          </a:ln>
        </p:spPr>
      </p:sp>
      <p:sp>
        <p:nvSpPr>
          <p:cNvPr id="45" name="Shape 43"/>
          <p:cNvSpPr/>
          <p:nvPr/>
        </p:nvSpPr>
        <p:spPr>
          <a:xfrm>
            <a:off x="694944" y="4910328"/>
            <a:ext cx="146304" cy="146304"/>
          </a:xfrm>
          <a:prstGeom prst="ellipse">
            <a:avLst/>
          </a:prstGeom>
          <a:solidFill>
            <a:srgbClr val="B85042"/>
          </a:solidFill>
          <a:ln/>
        </p:spPr>
      </p:sp>
      <p:sp>
        <p:nvSpPr>
          <p:cNvPr id="46" name="Text 44"/>
          <p:cNvSpPr txBox="1"/>
          <p:nvPr/>
        </p:nvSpPr>
        <p:spPr>
          <a:xfrm>
            <a:off x="960120" y="4882896"/>
            <a:ext cx="3108960" cy="237744"/>
          </a:xfrm>
          <a:prstGeom prst="rect">
            <a:avLst/>
          </a:prstGeom>
          <a:noFill/>
          <a:ln/>
        </p:spPr>
        <p:txBody>
          <a:bodyPr wrap="square" lIns="0" tIns="0" rIns="0" bIns="0" rtlCol="0" anchor="ctr"/>
          <a:lstStyle/>
          <a:p>
            <a:pPr indent="0" marL="0">
              <a:buNone/>
            </a:pPr>
            <a:r>
              <a:rPr lang="en-US" sz="1000" b="1" dirty="0">
                <a:solidFill>
                  <a:srgbClr val="10262B"/>
                </a:solidFill>
                <a:latin typeface="Calibri" pitchFamily="34" charset="0"/>
                <a:ea typeface="Calibri" pitchFamily="34" charset="-122"/>
                <a:cs typeface="Calibri" pitchFamily="34" charset="-120"/>
              </a:rPr>
              <a:t>Every source fails</a:t>
            </a:r>
            <a:endParaRPr lang="en-US" sz="1000" dirty="0"/>
          </a:p>
        </p:txBody>
      </p:sp>
      <p:sp>
        <p:nvSpPr>
          <p:cNvPr id="47" name="Text 45"/>
          <p:cNvSpPr txBox="1"/>
          <p:nvPr/>
        </p:nvSpPr>
        <p:spPr>
          <a:xfrm>
            <a:off x="4160520" y="4882896"/>
            <a:ext cx="3520440" cy="237744"/>
          </a:xfrm>
          <a:prstGeom prst="rect">
            <a:avLst/>
          </a:prstGeom>
          <a:noFill/>
          <a:ln/>
        </p:spPr>
        <p:txBody>
          <a:bodyPr wrap="square" lIns="0" tIns="0" rIns="0" bIns="0" rtlCol="0" anchor="ctr"/>
          <a:lstStyle/>
          <a:p>
            <a:pPr indent="0" marL="0">
              <a:buNone/>
            </a:pPr>
            <a:r>
              <a:rPr lang="en-US" sz="950" dirty="0">
                <a:solidFill>
                  <a:srgbClr val="5C6B6E"/>
                </a:solidFill>
                <a:latin typeface="Calibri" pitchFamily="34" charset="0"/>
                <a:ea typeface="Calibri" pitchFamily="34" charset="-122"/>
                <a:cs typeface="Calibri" pitchFamily="34" charset="-120"/>
              </a:rPr>
              <a:t>there is nothing to synthesise from</a:t>
            </a:r>
            <a:endParaRPr lang="en-US" sz="950" dirty="0"/>
          </a:p>
        </p:txBody>
      </p:sp>
      <p:sp>
        <p:nvSpPr>
          <p:cNvPr id="48" name="Text 46"/>
          <p:cNvSpPr txBox="1"/>
          <p:nvPr/>
        </p:nvSpPr>
        <p:spPr>
          <a:xfrm>
            <a:off x="7772400" y="4882896"/>
            <a:ext cx="2743200" cy="237744"/>
          </a:xfrm>
          <a:prstGeom prst="rect">
            <a:avLst/>
          </a:prstGeom>
          <a:noFill/>
          <a:ln/>
        </p:spPr>
        <p:txBody>
          <a:bodyPr wrap="square" lIns="0" tIns="0" rIns="0" bIns="0" rtlCol="0" anchor="ctr"/>
          <a:lstStyle/>
          <a:p>
            <a:pPr indent="0" marL="0">
              <a:buNone/>
            </a:pPr>
            <a:r>
              <a:rPr lang="en-US" sz="950" dirty="0">
                <a:solidFill>
                  <a:srgbClr val="B85042"/>
                </a:solidFill>
                <a:latin typeface="Calibri" pitchFamily="34" charset="0"/>
                <a:ea typeface="Calibri" pitchFamily="34" charset="-122"/>
                <a:cs typeface="Calibri" pitchFamily="34" charset="-120"/>
              </a:rPr>
              <a:t>exit 1 · one sentence</a:t>
            </a:r>
            <a:endParaRPr lang="en-US" sz="950" dirty="0"/>
          </a:p>
        </p:txBody>
      </p:sp>
      <p:sp>
        <p:nvSpPr>
          <p:cNvPr id="49" name="Text 47"/>
          <p:cNvSpPr txBox="1"/>
          <p:nvPr/>
        </p:nvSpPr>
        <p:spPr>
          <a:xfrm>
            <a:off x="10332720" y="4892040"/>
            <a:ext cx="1152144" cy="237744"/>
          </a:xfrm>
          <a:prstGeom prst="rect">
            <a:avLst/>
          </a:prstGeom>
          <a:noFill/>
          <a:ln/>
        </p:spPr>
        <p:txBody>
          <a:bodyPr wrap="square" lIns="0" tIns="0" rIns="0" bIns="0" rtlCol="0" anchor="ctr"/>
          <a:lstStyle/>
          <a:p>
            <a:pPr algn="r" indent="0" marL="0">
              <a:buNone/>
            </a:pPr>
            <a:r>
              <a:rPr lang="en-US" sz="850" dirty="0">
                <a:solidFill>
                  <a:srgbClr val="5C6B6E"/>
                </a:solidFill>
                <a:latin typeface="Courier New" pitchFamily="34" charset="0"/>
                <a:ea typeface="Courier New" pitchFamily="34" charset="-122"/>
                <a:cs typeface="Courier New" pitchFamily="34" charset="-120"/>
              </a:rPr>
              <a:t>researcher.py</a:t>
            </a:r>
            <a:endParaRPr lang="en-US" sz="850" dirty="0"/>
          </a:p>
        </p:txBody>
      </p:sp>
      <p:sp>
        <p:nvSpPr>
          <p:cNvPr id="50" name="Shape 48"/>
          <p:cNvSpPr/>
          <p:nvPr/>
        </p:nvSpPr>
        <p:spPr>
          <a:xfrm>
            <a:off x="566928" y="5276088"/>
            <a:ext cx="11064240" cy="438912"/>
          </a:xfrm>
          <a:prstGeom prst="roundRect">
            <a:avLst>
              <a:gd name="adj" fmla="val 10417"/>
            </a:avLst>
          </a:prstGeom>
          <a:solidFill>
            <a:srgbClr val="EEF4F4"/>
          </a:solidFill>
          <a:ln w="9525">
            <a:solidFill>
              <a:srgbClr val="D7E2E2"/>
            </a:solidFill>
            <a:prstDash val="solid"/>
          </a:ln>
        </p:spPr>
      </p:sp>
      <p:sp>
        <p:nvSpPr>
          <p:cNvPr id="51" name="Shape 49"/>
          <p:cNvSpPr/>
          <p:nvPr/>
        </p:nvSpPr>
        <p:spPr>
          <a:xfrm>
            <a:off x="694944" y="5422392"/>
            <a:ext cx="146304" cy="146304"/>
          </a:xfrm>
          <a:prstGeom prst="ellipse">
            <a:avLst/>
          </a:prstGeom>
          <a:solidFill>
            <a:srgbClr val="028090"/>
          </a:solidFill>
          <a:ln/>
        </p:spPr>
      </p:sp>
      <p:sp>
        <p:nvSpPr>
          <p:cNvPr id="52" name="Text 50"/>
          <p:cNvSpPr txBox="1"/>
          <p:nvPr/>
        </p:nvSpPr>
        <p:spPr>
          <a:xfrm>
            <a:off x="960120" y="5394960"/>
            <a:ext cx="3108960" cy="237744"/>
          </a:xfrm>
          <a:prstGeom prst="rect">
            <a:avLst/>
          </a:prstGeom>
          <a:noFill/>
          <a:ln/>
        </p:spPr>
        <p:txBody>
          <a:bodyPr wrap="square" lIns="0" tIns="0" rIns="0" bIns="0" rtlCol="0" anchor="ctr"/>
          <a:lstStyle/>
          <a:p>
            <a:pPr indent="0" marL="0">
              <a:buNone/>
            </a:pPr>
            <a:r>
              <a:rPr lang="en-US" sz="1000" b="1" dirty="0">
                <a:solidFill>
                  <a:srgbClr val="10262B"/>
                </a:solidFill>
                <a:latin typeface="Calibri" pitchFamily="34" charset="0"/>
                <a:ea typeface="Calibri" pitchFamily="34" charset="-122"/>
                <a:cs typeface="Calibri" pitchFamily="34" charset="-120"/>
              </a:rPr>
              <a:t>Corrupt or unreadable cache file</a:t>
            </a:r>
            <a:endParaRPr lang="en-US" sz="1000" dirty="0"/>
          </a:p>
        </p:txBody>
      </p:sp>
      <p:sp>
        <p:nvSpPr>
          <p:cNvPr id="53" name="Text 51"/>
          <p:cNvSpPr txBox="1"/>
          <p:nvPr/>
        </p:nvSpPr>
        <p:spPr>
          <a:xfrm>
            <a:off x="4160520" y="5394960"/>
            <a:ext cx="3520440" cy="237744"/>
          </a:xfrm>
          <a:prstGeom prst="rect">
            <a:avLst/>
          </a:prstGeom>
          <a:noFill/>
          <a:ln/>
        </p:spPr>
        <p:txBody>
          <a:bodyPr wrap="square" lIns="0" tIns="0" rIns="0" bIns="0" rtlCol="0" anchor="ctr"/>
          <a:lstStyle/>
          <a:p>
            <a:pPr indent="0" marL="0">
              <a:buNone/>
            </a:pPr>
            <a:r>
              <a:rPr lang="en-US" sz="950" dirty="0">
                <a:solidFill>
                  <a:srgbClr val="5C6B6E"/>
                </a:solidFill>
                <a:latin typeface="Calibri" pitchFamily="34" charset="0"/>
                <a:ea typeface="Calibri" pitchFamily="34" charset="-122"/>
                <a:cs typeface="Calibri" pitchFamily="34" charset="-120"/>
              </a:rPr>
              <a:t>logged, deleted, treated as a miss</a:t>
            </a:r>
            <a:endParaRPr lang="en-US" sz="950" dirty="0"/>
          </a:p>
        </p:txBody>
      </p:sp>
      <p:sp>
        <p:nvSpPr>
          <p:cNvPr id="54" name="Text 52"/>
          <p:cNvSpPr txBox="1"/>
          <p:nvPr/>
        </p:nvSpPr>
        <p:spPr>
          <a:xfrm>
            <a:off x="7772400" y="5394960"/>
            <a:ext cx="2743200" cy="237744"/>
          </a:xfrm>
          <a:prstGeom prst="rect">
            <a:avLst/>
          </a:prstGeom>
          <a:noFill/>
          <a:ln/>
        </p:spPr>
        <p:txBody>
          <a:bodyPr wrap="square" lIns="0" tIns="0" rIns="0" bIns="0" rtlCol="0" anchor="ctr"/>
          <a:lstStyle/>
          <a:p>
            <a:pPr indent="0" marL="0">
              <a:buNone/>
            </a:pPr>
            <a:r>
              <a:rPr lang="en-US" sz="950" dirty="0">
                <a:solidFill>
                  <a:srgbClr val="028090"/>
                </a:solidFill>
                <a:latin typeface="Calibri" pitchFamily="34" charset="0"/>
                <a:ea typeface="Calibri" pitchFamily="34" charset="-122"/>
                <a:cs typeface="Calibri" pitchFamily="34" charset="-120"/>
              </a:rPr>
              <a:t>re-fetch — the cache never raises</a:t>
            </a:r>
            <a:endParaRPr lang="en-US" sz="950" dirty="0"/>
          </a:p>
        </p:txBody>
      </p:sp>
      <p:sp>
        <p:nvSpPr>
          <p:cNvPr id="55" name="Text 53"/>
          <p:cNvSpPr txBox="1"/>
          <p:nvPr/>
        </p:nvSpPr>
        <p:spPr>
          <a:xfrm>
            <a:off x="10332720" y="5404104"/>
            <a:ext cx="1152144" cy="237744"/>
          </a:xfrm>
          <a:prstGeom prst="rect">
            <a:avLst/>
          </a:prstGeom>
          <a:noFill/>
          <a:ln/>
        </p:spPr>
        <p:txBody>
          <a:bodyPr wrap="square" lIns="0" tIns="0" rIns="0" bIns="0" rtlCol="0" anchor="ctr"/>
          <a:lstStyle/>
          <a:p>
            <a:pPr algn="r" indent="0" marL="0">
              <a:buNone/>
            </a:pPr>
            <a:r>
              <a:rPr lang="en-US" sz="850" dirty="0">
                <a:solidFill>
                  <a:srgbClr val="5C6B6E"/>
                </a:solidFill>
                <a:latin typeface="Courier New" pitchFamily="34" charset="0"/>
                <a:ea typeface="Courier New" pitchFamily="34" charset="-122"/>
                <a:cs typeface="Courier New" pitchFamily="34" charset="-120"/>
              </a:rPr>
              <a:t>cache_store.py</a:t>
            </a:r>
            <a:endParaRPr lang="en-US" sz="850" dirty="0"/>
          </a:p>
        </p:txBody>
      </p:sp>
      <p:sp>
        <p:nvSpPr>
          <p:cNvPr id="56" name="Shape 54"/>
          <p:cNvSpPr/>
          <p:nvPr/>
        </p:nvSpPr>
        <p:spPr>
          <a:xfrm>
            <a:off x="566928" y="5788152"/>
            <a:ext cx="11064240" cy="438912"/>
          </a:xfrm>
          <a:prstGeom prst="roundRect">
            <a:avLst>
              <a:gd name="adj" fmla="val 10417"/>
            </a:avLst>
          </a:prstGeom>
          <a:solidFill>
            <a:srgbClr val="EEF4F4"/>
          </a:solidFill>
          <a:ln w="9525">
            <a:solidFill>
              <a:srgbClr val="D7E2E2"/>
            </a:solidFill>
            <a:prstDash val="solid"/>
          </a:ln>
        </p:spPr>
      </p:sp>
      <p:sp>
        <p:nvSpPr>
          <p:cNvPr id="57" name="Shape 55"/>
          <p:cNvSpPr/>
          <p:nvPr/>
        </p:nvSpPr>
        <p:spPr>
          <a:xfrm>
            <a:off x="694944" y="5934456"/>
            <a:ext cx="146304" cy="146304"/>
          </a:xfrm>
          <a:prstGeom prst="ellipse">
            <a:avLst/>
          </a:prstGeom>
          <a:solidFill>
            <a:srgbClr val="028090"/>
          </a:solidFill>
          <a:ln/>
        </p:spPr>
      </p:sp>
      <p:sp>
        <p:nvSpPr>
          <p:cNvPr id="58" name="Text 56"/>
          <p:cNvSpPr txBox="1"/>
          <p:nvPr/>
        </p:nvSpPr>
        <p:spPr>
          <a:xfrm>
            <a:off x="960120" y="5907024"/>
            <a:ext cx="3108960" cy="237744"/>
          </a:xfrm>
          <a:prstGeom prst="rect">
            <a:avLst/>
          </a:prstGeom>
          <a:noFill/>
          <a:ln/>
        </p:spPr>
        <p:txBody>
          <a:bodyPr wrap="square" lIns="0" tIns="0" rIns="0" bIns="0" rtlCol="0" anchor="ctr"/>
          <a:lstStyle/>
          <a:p>
            <a:pPr indent="0" marL="0">
              <a:buNone/>
            </a:pPr>
            <a:r>
              <a:rPr lang="en-US" sz="1000" b="1" dirty="0">
                <a:solidFill>
                  <a:srgbClr val="10262B"/>
                </a:solidFill>
                <a:latin typeface="Calibri" pitchFamily="34" charset="0"/>
                <a:ea typeface="Calibri" pitchFamily="34" charset="-122"/>
                <a:cs typeface="Calibri" pitchFamily="34" charset="-120"/>
              </a:rPr>
              <a:t>Ctrl-C mid-run</a:t>
            </a:r>
            <a:endParaRPr lang="en-US" sz="1000" dirty="0"/>
          </a:p>
        </p:txBody>
      </p:sp>
      <p:sp>
        <p:nvSpPr>
          <p:cNvPr id="59" name="Text 57"/>
          <p:cNvSpPr txBox="1"/>
          <p:nvPr/>
        </p:nvSpPr>
        <p:spPr>
          <a:xfrm>
            <a:off x="4160520" y="5907024"/>
            <a:ext cx="3520440" cy="237744"/>
          </a:xfrm>
          <a:prstGeom prst="rect">
            <a:avLst/>
          </a:prstGeom>
          <a:noFill/>
          <a:ln/>
        </p:spPr>
        <p:txBody>
          <a:bodyPr wrap="square" lIns="0" tIns="0" rIns="0" bIns="0" rtlCol="0" anchor="ctr"/>
          <a:lstStyle/>
          <a:p>
            <a:pPr indent="0" marL="0">
              <a:buNone/>
            </a:pPr>
            <a:r>
              <a:rPr lang="en-US" sz="950" dirty="0">
                <a:solidFill>
                  <a:srgbClr val="5C6B6E"/>
                </a:solidFill>
                <a:latin typeface="Calibri" pitchFamily="34" charset="0"/>
                <a:ea typeface="Calibri" pitchFamily="34" charset="-122"/>
                <a:cs typeface="Calibri" pitchFamily="34" charset="-120"/>
              </a:rPr>
              <a:t>KeyboardInterrupt is caught at the top level</a:t>
            </a:r>
            <a:endParaRPr lang="en-US" sz="950" dirty="0"/>
          </a:p>
        </p:txBody>
      </p:sp>
      <p:sp>
        <p:nvSpPr>
          <p:cNvPr id="60" name="Text 58"/>
          <p:cNvSpPr txBox="1"/>
          <p:nvPr/>
        </p:nvSpPr>
        <p:spPr>
          <a:xfrm>
            <a:off x="7772400" y="5907024"/>
            <a:ext cx="2743200" cy="237744"/>
          </a:xfrm>
          <a:prstGeom prst="rect">
            <a:avLst/>
          </a:prstGeom>
          <a:noFill/>
          <a:ln/>
        </p:spPr>
        <p:txBody>
          <a:bodyPr wrap="square" lIns="0" tIns="0" rIns="0" bIns="0" rtlCol="0" anchor="ctr"/>
          <a:lstStyle/>
          <a:p>
            <a:pPr indent="0" marL="0">
              <a:buNone/>
            </a:pPr>
            <a:r>
              <a:rPr lang="en-US" sz="950" dirty="0">
                <a:solidFill>
                  <a:srgbClr val="028090"/>
                </a:solidFill>
                <a:latin typeface="Calibri" pitchFamily="34" charset="0"/>
                <a:ea typeface="Calibri" pitchFamily="34" charset="-122"/>
                <a:cs typeface="Calibri" pitchFamily="34" charset="-120"/>
              </a:rPr>
              <a:t>exit 130, the shell convention</a:t>
            </a:r>
            <a:endParaRPr lang="en-US" sz="950" dirty="0"/>
          </a:p>
        </p:txBody>
      </p:sp>
      <p:sp>
        <p:nvSpPr>
          <p:cNvPr id="61" name="Text 59"/>
          <p:cNvSpPr txBox="1"/>
          <p:nvPr/>
        </p:nvSpPr>
        <p:spPr>
          <a:xfrm>
            <a:off x="10332720" y="5916168"/>
            <a:ext cx="1152144" cy="237744"/>
          </a:xfrm>
          <a:prstGeom prst="rect">
            <a:avLst/>
          </a:prstGeom>
          <a:noFill/>
          <a:ln/>
        </p:spPr>
        <p:txBody>
          <a:bodyPr wrap="square" lIns="0" tIns="0" rIns="0" bIns="0" rtlCol="0" anchor="ctr"/>
          <a:lstStyle/>
          <a:p>
            <a:pPr algn="r" indent="0" marL="0">
              <a:buNone/>
            </a:pPr>
            <a:r>
              <a:rPr lang="en-US" sz="850" dirty="0">
                <a:solidFill>
                  <a:srgbClr val="5C6B6E"/>
                </a:solidFill>
                <a:latin typeface="Courier New" pitchFamily="34" charset="0"/>
                <a:ea typeface="Courier New" pitchFamily="34" charset="-122"/>
                <a:cs typeface="Courier New" pitchFamily="34" charset="-120"/>
              </a:rPr>
              <a:t>cli.py</a:t>
            </a:r>
            <a:endParaRPr lang="en-US" sz="850" dirty="0"/>
          </a:p>
        </p:txBody>
      </p:sp>
      <p:sp>
        <p:nvSpPr>
          <p:cNvPr id="62" name="Text 60"/>
          <p:cNvSpPr txBox="1"/>
          <p:nvPr/>
        </p:nvSpPr>
        <p:spPr>
          <a:xfrm>
            <a:off x="566928" y="6419088"/>
            <a:ext cx="11064240" cy="274320"/>
          </a:xfrm>
          <a:prstGeom prst="rect">
            <a:avLst/>
          </a:prstGeom>
          <a:noFill/>
          <a:ln/>
        </p:spPr>
        <p:txBody>
          <a:bodyPr wrap="square" lIns="0" tIns="0" rIns="0" bIns="0" rtlCol="0" anchor="ctr"/>
          <a:lstStyle/>
          <a:p>
            <a:pPr indent="0" marL="0">
              <a:buNone/>
            </a:pPr>
            <a:r>
              <a:rPr lang="en-US" sz="950" i="1" dirty="0">
                <a:solidFill>
                  <a:srgbClr val="5C6B6E"/>
                </a:solidFill>
                <a:latin typeface="Calibri" pitchFamily="34" charset="0"/>
                <a:ea typeface="Calibri" pitchFamily="34" charset="-122"/>
                <a:cs typeface="Calibri" pitchFamily="34" charset="-120"/>
              </a:rPr>
              <a:t>Teal = the run still produces an answer.   Red = the run stops, but with a sentence rather than a stack trace.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THE TEAM</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Who built what</a:t>
            </a:r>
            <a:endParaRPr lang="en-US" sz="3400" dirty="0"/>
          </a:p>
        </p:txBody>
      </p:sp>
      <p:sp>
        <p:nvSpPr>
          <p:cNvPr id="4" name="Shape 2"/>
          <p:cNvSpPr/>
          <p:nvPr/>
        </p:nvSpPr>
        <p:spPr>
          <a:xfrm>
            <a:off x="566928" y="1536192"/>
            <a:ext cx="3474720" cy="4160520"/>
          </a:xfrm>
          <a:prstGeom prst="roundRect">
            <a:avLst>
              <a:gd name="adj" fmla="val 1579"/>
            </a:avLst>
          </a:prstGeom>
          <a:solidFill>
            <a:srgbClr val="FFFFFF"/>
          </a:solidFill>
          <a:ln w="9525">
            <a:solidFill>
              <a:srgbClr val="D7E2E2"/>
            </a:solidFill>
            <a:prstDash val="solid"/>
          </a:ln>
        </p:spPr>
      </p:sp>
      <p:sp>
        <p:nvSpPr>
          <p:cNvPr id="5" name="Shape 3"/>
          <p:cNvSpPr/>
          <p:nvPr/>
        </p:nvSpPr>
        <p:spPr>
          <a:xfrm>
            <a:off x="841248" y="1755648"/>
            <a:ext cx="457200" cy="457200"/>
          </a:xfrm>
          <a:prstGeom prst="ellipse">
            <a:avLst/>
          </a:prstGeom>
          <a:solidFill>
            <a:srgbClr val="028090"/>
          </a:solidFill>
          <a:ln/>
        </p:spPr>
      </p:sp>
      <p:sp>
        <p:nvSpPr>
          <p:cNvPr id="6" name="Text 4"/>
          <p:cNvSpPr txBox="1"/>
          <p:nvPr/>
        </p:nvSpPr>
        <p:spPr>
          <a:xfrm>
            <a:off x="841248" y="1819656"/>
            <a:ext cx="45720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35608" y="1773936"/>
            <a:ext cx="2468880" cy="274320"/>
          </a:xfrm>
          <a:prstGeom prst="rect">
            <a:avLst/>
          </a:prstGeom>
          <a:noFill/>
          <a:ln/>
        </p:spPr>
        <p:txBody>
          <a:bodyPr wrap="square" lIns="0" tIns="0" rIns="0" bIns="0" rtlCol="0" anchor="ctr"/>
          <a:lstStyle/>
          <a:p>
            <a:pPr indent="0" marL="0">
              <a:buNone/>
            </a:pPr>
            <a:r>
              <a:rPr lang="en-US" sz="1400" b="1" dirty="0">
                <a:solidFill>
                  <a:srgbClr val="10262B"/>
                </a:solidFill>
                <a:latin typeface="Calibri" pitchFamily="34" charset="0"/>
                <a:ea typeface="Calibri" pitchFamily="34" charset="-122"/>
                <a:cs typeface="Calibri" pitchFamily="34" charset="-120"/>
              </a:rPr>
              <a:t>Nigar Alimammadova</a:t>
            </a:r>
            <a:endParaRPr lang="en-US" sz="1400" dirty="0"/>
          </a:p>
        </p:txBody>
      </p:sp>
      <p:sp>
        <p:nvSpPr>
          <p:cNvPr id="8" name="Text 6"/>
          <p:cNvSpPr txBox="1"/>
          <p:nvPr/>
        </p:nvSpPr>
        <p:spPr>
          <a:xfrm>
            <a:off x="1435608" y="2048256"/>
            <a:ext cx="2468880" cy="228600"/>
          </a:xfrm>
          <a:prstGeom prst="rect">
            <a:avLst/>
          </a:prstGeom>
          <a:noFill/>
          <a:ln/>
        </p:spPr>
        <p:txBody>
          <a:bodyPr wrap="square" lIns="0" tIns="0" rIns="0" bIns="0" rtlCol="0" anchor="ctr"/>
          <a:lstStyle/>
          <a:p>
            <a:pPr indent="0" marL="0">
              <a:buNone/>
            </a:pPr>
            <a:r>
              <a:rPr lang="en-US" sz="950" spc="100" kern="0" dirty="0">
                <a:solidFill>
                  <a:srgbClr val="5C6B6E"/>
                </a:solidFill>
                <a:latin typeface="Courier New" pitchFamily="34" charset="0"/>
                <a:ea typeface="Courier New" pitchFamily="34" charset="-122"/>
                <a:cs typeface="Courier New" pitchFamily="34" charset="-120"/>
              </a:rPr>
              <a:t>MEMBER 1</a:t>
            </a:r>
            <a:endParaRPr lang="en-US" sz="950" dirty="0"/>
          </a:p>
        </p:txBody>
      </p:sp>
      <p:sp>
        <p:nvSpPr>
          <p:cNvPr id="9" name="Text 7"/>
          <p:cNvSpPr txBox="1"/>
          <p:nvPr/>
        </p:nvSpPr>
        <p:spPr>
          <a:xfrm>
            <a:off x="859536" y="2450592"/>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config.py — typed settings</a:t>
            </a:r>
            <a:endParaRPr lang="en-US" sz="1150" dirty="0"/>
          </a:p>
        </p:txBody>
      </p:sp>
      <p:sp>
        <p:nvSpPr>
          <p:cNvPr id="10" name="Text 8"/>
          <p:cNvSpPr txBox="1"/>
          <p:nvPr/>
        </p:nvSpPr>
        <p:spPr>
          <a:xfrm>
            <a:off x="859536" y="3017520"/>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models.py — request/response</a:t>
            </a:r>
            <a:endParaRPr lang="en-US" sz="1150" dirty="0"/>
          </a:p>
        </p:txBody>
      </p:sp>
      <p:sp>
        <p:nvSpPr>
          <p:cNvPr id="11" name="Text 9"/>
          <p:cNvSpPr txBox="1"/>
          <p:nvPr/>
        </p:nvSpPr>
        <p:spPr>
          <a:xfrm>
            <a:off x="859536" y="3584448"/>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concurrency/orchestrator.py</a:t>
            </a:r>
            <a:endParaRPr lang="en-US" sz="1150" dirty="0"/>
          </a:p>
        </p:txBody>
      </p:sp>
      <p:sp>
        <p:nvSpPr>
          <p:cNvPr id="12" name="Text 10"/>
          <p:cNvSpPr txBox="1"/>
          <p:nvPr/>
        </p:nvSpPr>
        <p:spPr>
          <a:xfrm>
            <a:off x="859536" y="4151376"/>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Dockerfile + docker-compose</a:t>
            </a:r>
            <a:endParaRPr lang="en-US" sz="1150" dirty="0"/>
          </a:p>
        </p:txBody>
      </p:sp>
      <p:sp>
        <p:nvSpPr>
          <p:cNvPr id="13" name="Text 11"/>
          <p:cNvSpPr txBox="1"/>
          <p:nvPr/>
        </p:nvSpPr>
        <p:spPr>
          <a:xfrm>
            <a:off x="859536" y="4718304"/>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benchmark script</a:t>
            </a:r>
            <a:endParaRPr lang="en-US" sz="1150" dirty="0"/>
          </a:p>
        </p:txBody>
      </p:sp>
      <p:sp>
        <p:nvSpPr>
          <p:cNvPr id="14" name="Shape 12"/>
          <p:cNvSpPr/>
          <p:nvPr/>
        </p:nvSpPr>
        <p:spPr>
          <a:xfrm>
            <a:off x="4270248" y="1536192"/>
            <a:ext cx="3474720" cy="4160520"/>
          </a:xfrm>
          <a:prstGeom prst="roundRect">
            <a:avLst>
              <a:gd name="adj" fmla="val 1579"/>
            </a:avLst>
          </a:prstGeom>
          <a:solidFill>
            <a:srgbClr val="FFFFFF"/>
          </a:solidFill>
          <a:ln w="9525">
            <a:solidFill>
              <a:srgbClr val="D7E2E2"/>
            </a:solidFill>
            <a:prstDash val="solid"/>
          </a:ln>
        </p:spPr>
      </p:sp>
      <p:sp>
        <p:nvSpPr>
          <p:cNvPr id="15" name="Shape 13"/>
          <p:cNvSpPr/>
          <p:nvPr/>
        </p:nvSpPr>
        <p:spPr>
          <a:xfrm>
            <a:off x="4544568" y="1755648"/>
            <a:ext cx="457200" cy="457200"/>
          </a:xfrm>
          <a:prstGeom prst="ellipse">
            <a:avLst/>
          </a:prstGeom>
          <a:solidFill>
            <a:srgbClr val="00A896"/>
          </a:solidFill>
          <a:ln/>
        </p:spPr>
      </p:sp>
      <p:sp>
        <p:nvSpPr>
          <p:cNvPr id="16" name="Text 14"/>
          <p:cNvSpPr txBox="1"/>
          <p:nvPr/>
        </p:nvSpPr>
        <p:spPr>
          <a:xfrm>
            <a:off x="4544568" y="1819656"/>
            <a:ext cx="45720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5"/>
          <p:cNvSpPr txBox="1"/>
          <p:nvPr/>
        </p:nvSpPr>
        <p:spPr>
          <a:xfrm>
            <a:off x="5138928" y="1773936"/>
            <a:ext cx="2468880" cy="274320"/>
          </a:xfrm>
          <a:prstGeom prst="rect">
            <a:avLst/>
          </a:prstGeom>
          <a:noFill/>
          <a:ln/>
        </p:spPr>
        <p:txBody>
          <a:bodyPr wrap="square" lIns="0" tIns="0" rIns="0" bIns="0" rtlCol="0" anchor="ctr"/>
          <a:lstStyle/>
          <a:p>
            <a:pPr indent="0" marL="0">
              <a:buNone/>
            </a:pPr>
            <a:r>
              <a:rPr lang="en-US" sz="1400" b="1" dirty="0">
                <a:solidFill>
                  <a:srgbClr val="10262B"/>
                </a:solidFill>
                <a:latin typeface="Calibri" pitchFamily="34" charset="0"/>
                <a:ea typeface="Calibri" pitchFamily="34" charset="-122"/>
                <a:cs typeface="Calibri" pitchFamily="34" charset="-120"/>
              </a:rPr>
              <a:t>Sahib Aliyev</a:t>
            </a:r>
            <a:endParaRPr lang="en-US" sz="1400" dirty="0"/>
          </a:p>
        </p:txBody>
      </p:sp>
      <p:sp>
        <p:nvSpPr>
          <p:cNvPr id="18" name="Text 16"/>
          <p:cNvSpPr txBox="1"/>
          <p:nvPr/>
        </p:nvSpPr>
        <p:spPr>
          <a:xfrm>
            <a:off x="5138928" y="2048256"/>
            <a:ext cx="2468880" cy="228600"/>
          </a:xfrm>
          <a:prstGeom prst="rect">
            <a:avLst/>
          </a:prstGeom>
          <a:noFill/>
          <a:ln/>
        </p:spPr>
        <p:txBody>
          <a:bodyPr wrap="square" lIns="0" tIns="0" rIns="0" bIns="0" rtlCol="0" anchor="ctr"/>
          <a:lstStyle/>
          <a:p>
            <a:pPr indent="0" marL="0">
              <a:buNone/>
            </a:pPr>
            <a:r>
              <a:rPr lang="en-US" sz="950" spc="100" kern="0" dirty="0">
                <a:solidFill>
                  <a:srgbClr val="5C6B6E"/>
                </a:solidFill>
                <a:latin typeface="Courier New" pitchFamily="34" charset="0"/>
                <a:ea typeface="Courier New" pitchFamily="34" charset="-122"/>
                <a:cs typeface="Courier New" pitchFamily="34" charset="-120"/>
              </a:rPr>
              <a:t>MEMBER 2</a:t>
            </a:r>
            <a:endParaRPr lang="en-US" sz="950" dirty="0"/>
          </a:p>
        </p:txBody>
      </p:sp>
      <p:sp>
        <p:nvSpPr>
          <p:cNvPr id="19" name="Text 17"/>
          <p:cNvSpPr txBox="1"/>
          <p:nvPr/>
        </p:nvSpPr>
        <p:spPr>
          <a:xfrm>
            <a:off x="4562856" y="2450592"/>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services/cache.py — cache-aside</a:t>
            </a:r>
            <a:endParaRPr lang="en-US" sz="1150" dirty="0"/>
          </a:p>
        </p:txBody>
      </p:sp>
      <p:sp>
        <p:nvSpPr>
          <p:cNvPr id="20" name="Text 18"/>
          <p:cNvSpPr txBox="1"/>
          <p:nvPr/>
        </p:nvSpPr>
        <p:spPr>
          <a:xfrm>
            <a:off x="4562856" y="3017520"/>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services/http_client.py — shared client</a:t>
            </a:r>
            <a:endParaRPr lang="en-US" sz="1150" dirty="0"/>
          </a:p>
        </p:txBody>
      </p:sp>
      <p:sp>
        <p:nvSpPr>
          <p:cNvPr id="21" name="Text 19"/>
          <p:cNvSpPr txBox="1"/>
          <p:nvPr/>
        </p:nvSpPr>
        <p:spPr>
          <a:xfrm>
            <a:off x="4562856" y="3584448"/>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README + .env.example</a:t>
            </a:r>
            <a:endParaRPr lang="en-US" sz="1150" dirty="0"/>
          </a:p>
        </p:txBody>
      </p:sp>
      <p:sp>
        <p:nvSpPr>
          <p:cNvPr id="22" name="Text 20"/>
          <p:cNvSpPr txBox="1"/>
          <p:nvPr/>
        </p:nvSpPr>
        <p:spPr>
          <a:xfrm>
            <a:off x="4562856" y="4151376"/>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respx HTTP test suite</a:t>
            </a:r>
            <a:endParaRPr lang="en-US" sz="1150" dirty="0"/>
          </a:p>
        </p:txBody>
      </p:sp>
      <p:sp>
        <p:nvSpPr>
          <p:cNvPr id="23" name="Shape 21"/>
          <p:cNvSpPr/>
          <p:nvPr/>
        </p:nvSpPr>
        <p:spPr>
          <a:xfrm>
            <a:off x="7973568" y="1536192"/>
            <a:ext cx="3474720" cy="4160520"/>
          </a:xfrm>
          <a:prstGeom prst="roundRect">
            <a:avLst>
              <a:gd name="adj" fmla="val 1579"/>
            </a:avLst>
          </a:prstGeom>
          <a:solidFill>
            <a:srgbClr val="FFFFFF"/>
          </a:solidFill>
          <a:ln w="9525">
            <a:solidFill>
              <a:srgbClr val="D7E2E2"/>
            </a:solidFill>
            <a:prstDash val="solid"/>
          </a:ln>
        </p:spPr>
      </p:sp>
      <p:sp>
        <p:nvSpPr>
          <p:cNvPr id="24" name="Shape 22"/>
          <p:cNvSpPr/>
          <p:nvPr/>
        </p:nvSpPr>
        <p:spPr>
          <a:xfrm>
            <a:off x="8247888" y="1755648"/>
            <a:ext cx="457200" cy="457200"/>
          </a:xfrm>
          <a:prstGeom prst="ellipse">
            <a:avLst/>
          </a:prstGeom>
          <a:solidFill>
            <a:srgbClr val="02C39A"/>
          </a:solidFill>
          <a:ln/>
        </p:spPr>
      </p:sp>
      <p:sp>
        <p:nvSpPr>
          <p:cNvPr id="25" name="Text 23"/>
          <p:cNvSpPr txBox="1"/>
          <p:nvPr/>
        </p:nvSpPr>
        <p:spPr>
          <a:xfrm>
            <a:off x="8247888" y="1819656"/>
            <a:ext cx="45720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6" name="Text 24"/>
          <p:cNvSpPr txBox="1"/>
          <p:nvPr/>
        </p:nvSpPr>
        <p:spPr>
          <a:xfrm>
            <a:off x="8842248" y="1773936"/>
            <a:ext cx="2468880" cy="274320"/>
          </a:xfrm>
          <a:prstGeom prst="rect">
            <a:avLst/>
          </a:prstGeom>
          <a:noFill/>
          <a:ln/>
        </p:spPr>
        <p:txBody>
          <a:bodyPr wrap="square" lIns="0" tIns="0" rIns="0" bIns="0" rtlCol="0" anchor="ctr"/>
          <a:lstStyle/>
          <a:p>
            <a:pPr indent="0" marL="0">
              <a:buNone/>
            </a:pPr>
            <a:r>
              <a:rPr lang="en-US" sz="1400" b="1" dirty="0">
                <a:solidFill>
                  <a:srgbClr val="10262B"/>
                </a:solidFill>
                <a:latin typeface="Calibri" pitchFamily="34" charset="0"/>
                <a:ea typeface="Calibri" pitchFamily="34" charset="-122"/>
                <a:cs typeface="Calibri" pitchFamily="34" charset="-120"/>
              </a:rPr>
              <a:t>Farid Dilaverli</a:t>
            </a:r>
            <a:endParaRPr lang="en-US" sz="1400" dirty="0"/>
          </a:p>
        </p:txBody>
      </p:sp>
      <p:sp>
        <p:nvSpPr>
          <p:cNvPr id="27" name="Text 25"/>
          <p:cNvSpPr txBox="1"/>
          <p:nvPr/>
        </p:nvSpPr>
        <p:spPr>
          <a:xfrm>
            <a:off x="8842248" y="2048256"/>
            <a:ext cx="2468880" cy="228600"/>
          </a:xfrm>
          <a:prstGeom prst="rect">
            <a:avLst/>
          </a:prstGeom>
          <a:noFill/>
          <a:ln/>
        </p:spPr>
        <p:txBody>
          <a:bodyPr wrap="square" lIns="0" tIns="0" rIns="0" bIns="0" rtlCol="0" anchor="ctr"/>
          <a:lstStyle/>
          <a:p>
            <a:pPr indent="0" marL="0">
              <a:buNone/>
            </a:pPr>
            <a:r>
              <a:rPr lang="en-US" sz="950" spc="100" kern="0" dirty="0">
                <a:solidFill>
                  <a:srgbClr val="5C6B6E"/>
                </a:solidFill>
                <a:latin typeface="Courier New" pitchFamily="34" charset="0"/>
                <a:ea typeface="Courier New" pitchFamily="34" charset="-122"/>
                <a:cs typeface="Courier New" pitchFamily="34" charset="-120"/>
              </a:rPr>
              <a:t>MEMBER 3</a:t>
            </a:r>
            <a:endParaRPr lang="en-US" sz="950" dirty="0"/>
          </a:p>
        </p:txBody>
      </p:sp>
      <p:sp>
        <p:nvSpPr>
          <p:cNvPr id="28" name="Text 26"/>
          <p:cNvSpPr txBox="1"/>
          <p:nvPr/>
        </p:nvSpPr>
        <p:spPr>
          <a:xfrm>
            <a:off x="8266176" y="2450592"/>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storage/cache_store.py — TTL cache</a:t>
            </a:r>
            <a:endParaRPr lang="en-US" sz="1150" dirty="0"/>
          </a:p>
        </p:txBody>
      </p:sp>
      <p:sp>
        <p:nvSpPr>
          <p:cNvPr id="29" name="Text 27"/>
          <p:cNvSpPr txBox="1"/>
          <p:nvPr/>
        </p:nvSpPr>
        <p:spPr>
          <a:xfrm>
            <a:off x="8266176" y="3017520"/>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services/ai_service.py — retries</a:t>
            </a:r>
            <a:endParaRPr lang="en-US" sz="1150" dirty="0"/>
          </a:p>
        </p:txBody>
      </p:sp>
      <p:sp>
        <p:nvSpPr>
          <p:cNvPr id="30" name="Text 28"/>
          <p:cNvSpPr txBox="1"/>
          <p:nvPr/>
        </p:nvSpPr>
        <p:spPr>
          <a:xfrm>
            <a:off x="8266176" y="3584448"/>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core/researcher.py — workflow</a:t>
            </a:r>
            <a:endParaRPr lang="en-US" sz="1150" dirty="0"/>
          </a:p>
        </p:txBody>
      </p:sp>
      <p:sp>
        <p:nvSpPr>
          <p:cNvPr id="31" name="Text 29"/>
          <p:cNvSpPr txBox="1"/>
          <p:nvPr/>
        </p:nvSpPr>
        <p:spPr>
          <a:xfrm>
            <a:off x="8266176" y="4151376"/>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cli.py + researcher/ package</a:t>
            </a:r>
            <a:endParaRPr lang="en-US" sz="1150" dirty="0"/>
          </a:p>
        </p:txBody>
      </p:sp>
      <p:sp>
        <p:nvSpPr>
          <p:cNvPr id="32" name="Text 30"/>
          <p:cNvSpPr txBox="1"/>
          <p:nvPr/>
        </p:nvSpPr>
        <p:spPr>
          <a:xfrm>
            <a:off x="8266176" y="4718304"/>
            <a:ext cx="2926080" cy="502920"/>
          </a:xfrm>
          <a:prstGeom prst="rect">
            <a:avLst/>
          </a:prstGeom>
          <a:noFill/>
          <a:ln/>
        </p:spPr>
        <p:txBody>
          <a:bodyPr wrap="square" lIns="0" tIns="0" rIns="0" bIns="0" rtlCol="0" anchor="ctr"/>
          <a:lstStyle/>
          <a:p>
            <a:pPr indent="0" marL="0">
              <a:lnSpc>
                <a:spcPts val="1500"/>
              </a:lnSpc>
              <a:buNone/>
            </a:pPr>
            <a:r>
              <a:rPr lang="en-US" sz="1150" dirty="0">
                <a:solidFill>
                  <a:srgbClr val="10262B"/>
                </a:solidFill>
                <a:latin typeface="Calibri" pitchFamily="34" charset="0"/>
                <a:ea typeface="Calibri" pitchFamily="34" charset="-122"/>
                <a:cs typeface="Calibri" pitchFamily="34" charset="-120"/>
              </a:rPr>
              <a:t>114 of the 139 tests</a:t>
            </a:r>
            <a:endParaRPr lang="en-US" sz="1150" dirty="0"/>
          </a:p>
        </p:txBody>
      </p:sp>
      <p:sp>
        <p:nvSpPr>
          <p:cNvPr id="33" name="Shape 31"/>
          <p:cNvSpPr/>
          <p:nvPr/>
        </p:nvSpPr>
        <p:spPr>
          <a:xfrm>
            <a:off x="566928" y="5833872"/>
            <a:ext cx="11064240" cy="566928"/>
          </a:xfrm>
          <a:prstGeom prst="roundRect">
            <a:avLst>
              <a:gd name="adj" fmla="val 9677"/>
            </a:avLst>
          </a:prstGeom>
          <a:solidFill>
            <a:srgbClr val="10262B"/>
          </a:solidFill>
          <a:ln w="9525">
            <a:solidFill>
              <a:srgbClr val="D7E2E2"/>
            </a:solidFill>
            <a:prstDash val="solid"/>
          </a:ln>
        </p:spPr>
      </p:sp>
      <p:sp>
        <p:nvSpPr>
          <p:cNvPr id="34" name="Text 32"/>
          <p:cNvSpPr txBox="1"/>
          <p:nvPr/>
        </p:nvSpPr>
        <p:spPr>
          <a:xfrm>
            <a:off x="841248" y="5989320"/>
            <a:ext cx="10515600" cy="274320"/>
          </a:xfrm>
          <a:prstGeom prst="rect">
            <a:avLst/>
          </a:prstGeom>
          <a:noFill/>
          <a:ln/>
        </p:spPr>
        <p:txBody>
          <a:bodyPr wrap="square" lIns="0" tIns="0" rIns="0" bIns="0" rtlCol="0" anchor="ctr"/>
          <a:lstStyle/>
          <a:p>
            <a:pPr indent="0" marL="0">
              <a:buNone/>
            </a:pPr>
            <a:r>
              <a:rPr lang="en-US" sz="1150" dirty="0">
                <a:solidFill>
                  <a:srgbClr val="D6E6E6"/>
                </a:solidFill>
                <a:latin typeface="Calibri" pitchFamily="34" charset="0"/>
                <a:ea typeface="Calibri" pitchFamily="34" charset="-122"/>
                <a:cs typeface="Calibri" pitchFamily="34" charset="-120"/>
              </a:rPr>
              <a:t>39 commits on main   ·   Nigar 16   ·   Sahib 7   ·   Farid 16   ·   every file went in through a pull request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MEMBER 1  ·  NIGAR</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Concurrency: the orchestrator</a:t>
            </a:r>
            <a:endParaRPr lang="en-US" sz="3400" dirty="0"/>
          </a:p>
        </p:txBody>
      </p:sp>
      <p:sp>
        <p:nvSpPr>
          <p:cNvPr id="4" name="Text 2"/>
          <p:cNvSpPr txBox="1"/>
          <p:nvPr/>
        </p:nvSpPr>
        <p:spPr>
          <a:xfrm>
            <a:off x="566928" y="1481328"/>
            <a:ext cx="5394960" cy="1188720"/>
          </a:xfrm>
          <a:prstGeom prst="rect">
            <a:avLst/>
          </a:prstGeom>
          <a:noFill/>
          <a:ln/>
        </p:spPr>
        <p:txBody>
          <a:bodyPr wrap="square" lIns="0" tIns="0" rIns="0" bIns="0" rtlCol="0" anchor="ctr"/>
          <a:lstStyle/>
          <a:p>
            <a:pPr indent="0" marL="0">
              <a:lnSpc>
                <a:spcPts val="2100"/>
              </a:lnSpc>
              <a:buNone/>
            </a:pPr>
            <a:r>
              <a:rPr lang="en-US" sz="1400" dirty="0">
                <a:solidFill>
                  <a:srgbClr val="10262B"/>
                </a:solidFill>
                <a:latin typeface="Calibri" pitchFamily="34" charset="0"/>
                <a:ea typeface="Calibri" pitchFamily="34" charset="-122"/>
                <a:cs typeface="Calibri" pitchFamily="34" charset="-120"/>
              </a:rPr>
              <a:t>ConcurrentOrchestrator.fetch_all() starts every requested source at the same moment and is guaranteed never to raise. A caller always gets a dictionary back — results for the sources that worked, exception objects for the ones that did not.</a:t>
            </a:r>
            <a:endParaRPr lang="en-US" sz="1400" dirty="0"/>
          </a:p>
        </p:txBody>
      </p:sp>
      <p:sp>
        <p:nvSpPr>
          <p:cNvPr id="5" name="Shape 3"/>
          <p:cNvSpPr/>
          <p:nvPr/>
        </p:nvSpPr>
        <p:spPr>
          <a:xfrm>
            <a:off x="566928" y="2788920"/>
            <a:ext cx="5394960" cy="731520"/>
          </a:xfrm>
          <a:prstGeom prst="roundRect">
            <a:avLst>
              <a:gd name="adj" fmla="val 7500"/>
            </a:avLst>
          </a:prstGeom>
          <a:solidFill>
            <a:srgbClr val="EEF4F4"/>
          </a:solidFill>
          <a:ln w="9525">
            <a:solidFill>
              <a:srgbClr val="D7E2E2"/>
            </a:solidFill>
            <a:prstDash val="solid"/>
          </a:ln>
        </p:spPr>
      </p:sp>
      <p:sp>
        <p:nvSpPr>
          <p:cNvPr id="6" name="Text 4"/>
          <p:cNvSpPr txBox="1"/>
          <p:nvPr/>
        </p:nvSpPr>
        <p:spPr>
          <a:xfrm>
            <a:off x="822960" y="2880360"/>
            <a:ext cx="4937760" cy="256032"/>
          </a:xfrm>
          <a:prstGeom prst="rect">
            <a:avLst/>
          </a:prstGeom>
          <a:noFill/>
          <a:ln/>
        </p:spPr>
        <p:txBody>
          <a:bodyPr wrap="square" lIns="0" tIns="0" rIns="0" bIns="0" rtlCol="0" anchor="ctr"/>
          <a:lstStyle/>
          <a:p>
            <a:pPr indent="0" marL="0">
              <a:buNone/>
            </a:pPr>
            <a:r>
              <a:rPr lang="en-US" sz="1100" b="1" dirty="0">
                <a:solidFill>
                  <a:srgbClr val="028090"/>
                </a:solidFill>
                <a:latin typeface="Courier New" pitchFamily="34" charset="0"/>
                <a:ea typeface="Courier New" pitchFamily="34" charset="-122"/>
                <a:cs typeface="Courier New" pitchFamily="34" charset="-120"/>
              </a:rPr>
              <a:t>asyncio.gather(return_exceptions=True)</a:t>
            </a:r>
            <a:endParaRPr lang="en-US" sz="1100" dirty="0"/>
          </a:p>
        </p:txBody>
      </p:sp>
      <p:sp>
        <p:nvSpPr>
          <p:cNvPr id="7" name="Text 5"/>
          <p:cNvSpPr txBox="1"/>
          <p:nvPr/>
        </p:nvSpPr>
        <p:spPr>
          <a:xfrm>
            <a:off x="822960" y="3172968"/>
            <a:ext cx="4937760" cy="274320"/>
          </a:xfrm>
          <a:prstGeom prst="rect">
            <a:avLst/>
          </a:prstGeom>
          <a:noFill/>
          <a:ln/>
        </p:spPr>
        <p:txBody>
          <a:bodyPr wrap="square" lIns="0" tIns="0" rIns="0" bIns="0" rtlCol="0" anchor="ctr"/>
          <a:lstStyle/>
          <a:p>
            <a:pPr indent="0" marL="0">
              <a:buNone/>
            </a:pPr>
            <a:r>
              <a:rPr lang="en-US" sz="1150" dirty="0">
                <a:solidFill>
                  <a:srgbClr val="5C6B6E"/>
                </a:solidFill>
                <a:latin typeface="Calibri" pitchFamily="34" charset="0"/>
                <a:ea typeface="Calibri" pitchFamily="34" charset="-122"/>
                <a:cs typeface="Calibri" pitchFamily="34" charset="-120"/>
              </a:rPr>
              <a:t>one dead source cannot kill the other two</a:t>
            </a:r>
            <a:endParaRPr lang="en-US" sz="1150" dirty="0"/>
          </a:p>
        </p:txBody>
      </p:sp>
      <p:sp>
        <p:nvSpPr>
          <p:cNvPr id="8" name="Shape 6"/>
          <p:cNvSpPr/>
          <p:nvPr/>
        </p:nvSpPr>
        <p:spPr>
          <a:xfrm>
            <a:off x="566928" y="3630168"/>
            <a:ext cx="5394960" cy="731520"/>
          </a:xfrm>
          <a:prstGeom prst="roundRect">
            <a:avLst>
              <a:gd name="adj" fmla="val 7500"/>
            </a:avLst>
          </a:prstGeom>
          <a:solidFill>
            <a:srgbClr val="EEF4F4"/>
          </a:solidFill>
          <a:ln w="9525">
            <a:solidFill>
              <a:srgbClr val="D7E2E2"/>
            </a:solidFill>
            <a:prstDash val="solid"/>
          </a:ln>
        </p:spPr>
      </p:sp>
      <p:sp>
        <p:nvSpPr>
          <p:cNvPr id="9" name="Text 7"/>
          <p:cNvSpPr txBox="1"/>
          <p:nvPr/>
        </p:nvSpPr>
        <p:spPr>
          <a:xfrm>
            <a:off x="822960" y="3721608"/>
            <a:ext cx="4937760" cy="256032"/>
          </a:xfrm>
          <a:prstGeom prst="rect">
            <a:avLst/>
          </a:prstGeom>
          <a:noFill/>
          <a:ln/>
        </p:spPr>
        <p:txBody>
          <a:bodyPr wrap="square" lIns="0" tIns="0" rIns="0" bIns="0" rtlCol="0" anchor="ctr"/>
          <a:lstStyle/>
          <a:p>
            <a:pPr indent="0" marL="0">
              <a:buNone/>
            </a:pPr>
            <a:r>
              <a:rPr lang="en-US" sz="1100" b="1" dirty="0">
                <a:solidFill>
                  <a:srgbClr val="028090"/>
                </a:solidFill>
                <a:latin typeface="Courier New" pitchFamily="34" charset="0"/>
                <a:ea typeface="Courier New" pitchFamily="34" charset="-122"/>
                <a:cs typeface="Courier New" pitchFamily="34" charset="-120"/>
              </a:rPr>
              <a:t>asyncio.wait_for(coro, timeout=8.0)</a:t>
            </a:r>
            <a:endParaRPr lang="en-US" sz="1100" dirty="0"/>
          </a:p>
        </p:txBody>
      </p:sp>
      <p:sp>
        <p:nvSpPr>
          <p:cNvPr id="10" name="Text 8"/>
          <p:cNvSpPr txBox="1"/>
          <p:nvPr/>
        </p:nvSpPr>
        <p:spPr>
          <a:xfrm>
            <a:off x="822960" y="4014216"/>
            <a:ext cx="4937760" cy="274320"/>
          </a:xfrm>
          <a:prstGeom prst="rect">
            <a:avLst/>
          </a:prstGeom>
          <a:noFill/>
          <a:ln/>
        </p:spPr>
        <p:txBody>
          <a:bodyPr wrap="square" lIns="0" tIns="0" rIns="0" bIns="0" rtlCol="0" anchor="ctr"/>
          <a:lstStyle/>
          <a:p>
            <a:pPr indent="0" marL="0">
              <a:buNone/>
            </a:pPr>
            <a:r>
              <a:rPr lang="en-US" sz="1150" dirty="0">
                <a:solidFill>
                  <a:srgbClr val="5C6B6E"/>
                </a:solidFill>
                <a:latin typeface="Calibri" pitchFamily="34" charset="0"/>
                <a:ea typeface="Calibri" pitchFamily="34" charset="-122"/>
                <a:cs typeface="Calibri" pitchFamily="34" charset="-120"/>
              </a:rPr>
              <a:t>a per-source deadline, not one deadline for all</a:t>
            </a:r>
            <a:endParaRPr lang="en-US" sz="1150" dirty="0"/>
          </a:p>
        </p:txBody>
      </p:sp>
      <p:sp>
        <p:nvSpPr>
          <p:cNvPr id="11" name="Shape 9"/>
          <p:cNvSpPr/>
          <p:nvPr/>
        </p:nvSpPr>
        <p:spPr>
          <a:xfrm>
            <a:off x="566928" y="4471416"/>
            <a:ext cx="5394960" cy="731520"/>
          </a:xfrm>
          <a:prstGeom prst="roundRect">
            <a:avLst>
              <a:gd name="adj" fmla="val 7500"/>
            </a:avLst>
          </a:prstGeom>
          <a:solidFill>
            <a:srgbClr val="EEF4F4"/>
          </a:solidFill>
          <a:ln w="9525">
            <a:solidFill>
              <a:srgbClr val="D7E2E2"/>
            </a:solidFill>
            <a:prstDash val="solid"/>
          </a:ln>
        </p:spPr>
      </p:sp>
      <p:sp>
        <p:nvSpPr>
          <p:cNvPr id="12" name="Text 10"/>
          <p:cNvSpPr txBox="1"/>
          <p:nvPr/>
        </p:nvSpPr>
        <p:spPr>
          <a:xfrm>
            <a:off x="822960" y="4562856"/>
            <a:ext cx="4937760" cy="256032"/>
          </a:xfrm>
          <a:prstGeom prst="rect">
            <a:avLst/>
          </a:prstGeom>
          <a:noFill/>
          <a:ln/>
        </p:spPr>
        <p:txBody>
          <a:bodyPr wrap="square" lIns="0" tIns="0" rIns="0" bIns="0" rtlCol="0" anchor="ctr"/>
          <a:lstStyle/>
          <a:p>
            <a:pPr indent="0" marL="0">
              <a:buNone/>
            </a:pPr>
            <a:r>
              <a:rPr lang="en-US" sz="1100" b="1" dirty="0">
                <a:solidFill>
                  <a:srgbClr val="028090"/>
                </a:solidFill>
                <a:latin typeface="Courier New" pitchFamily="34" charset="0"/>
                <a:ea typeface="Courier New" pitchFamily="34" charset="-122"/>
                <a:cs typeface="Courier New" pitchFamily="34" charset="-120"/>
              </a:rPr>
              <a:t>asyncio.Semaphore(5)</a:t>
            </a:r>
            <a:endParaRPr lang="en-US" sz="1100" dirty="0"/>
          </a:p>
        </p:txBody>
      </p:sp>
      <p:sp>
        <p:nvSpPr>
          <p:cNvPr id="13" name="Text 11"/>
          <p:cNvSpPr txBox="1"/>
          <p:nvPr/>
        </p:nvSpPr>
        <p:spPr>
          <a:xfrm>
            <a:off x="822960" y="4855464"/>
            <a:ext cx="4937760" cy="274320"/>
          </a:xfrm>
          <a:prstGeom prst="rect">
            <a:avLst/>
          </a:prstGeom>
          <a:noFill/>
          <a:ln/>
        </p:spPr>
        <p:txBody>
          <a:bodyPr wrap="square" lIns="0" tIns="0" rIns="0" bIns="0" rtlCol="0" anchor="ctr"/>
          <a:lstStyle/>
          <a:p>
            <a:pPr indent="0" marL="0">
              <a:buNone/>
            </a:pPr>
            <a:r>
              <a:rPr lang="en-US" sz="1150" dirty="0">
                <a:solidFill>
                  <a:srgbClr val="5C6B6E"/>
                </a:solidFill>
                <a:latin typeface="Calibri" pitchFamily="34" charset="0"/>
                <a:ea typeface="Calibri" pitchFamily="34" charset="-122"/>
                <a:cs typeface="Calibri" pitchFamily="34" charset="-120"/>
              </a:rPr>
              <a:t>bounded parallelism — we never open unlimited sockets</a:t>
            </a:r>
            <a:endParaRPr lang="en-US" sz="1150" dirty="0"/>
          </a:p>
        </p:txBody>
      </p:sp>
      <p:sp>
        <p:nvSpPr>
          <p:cNvPr id="14" name="Shape 12"/>
          <p:cNvSpPr/>
          <p:nvPr/>
        </p:nvSpPr>
        <p:spPr>
          <a:xfrm>
            <a:off x="566928" y="5312664"/>
            <a:ext cx="5394960" cy="731520"/>
          </a:xfrm>
          <a:prstGeom prst="roundRect">
            <a:avLst>
              <a:gd name="adj" fmla="val 7500"/>
            </a:avLst>
          </a:prstGeom>
          <a:solidFill>
            <a:srgbClr val="EEF4F4"/>
          </a:solidFill>
          <a:ln w="9525">
            <a:solidFill>
              <a:srgbClr val="D7E2E2"/>
            </a:solidFill>
            <a:prstDash val="solid"/>
          </a:ln>
        </p:spPr>
      </p:sp>
      <p:sp>
        <p:nvSpPr>
          <p:cNvPr id="15" name="Text 13"/>
          <p:cNvSpPr txBox="1"/>
          <p:nvPr/>
        </p:nvSpPr>
        <p:spPr>
          <a:xfrm>
            <a:off x="822960" y="5404104"/>
            <a:ext cx="4937760" cy="256032"/>
          </a:xfrm>
          <a:prstGeom prst="rect">
            <a:avLst/>
          </a:prstGeom>
          <a:noFill/>
          <a:ln/>
        </p:spPr>
        <p:txBody>
          <a:bodyPr wrap="square" lIns="0" tIns="0" rIns="0" bIns="0" rtlCol="0" anchor="ctr"/>
          <a:lstStyle/>
          <a:p>
            <a:pPr indent="0" marL="0">
              <a:buNone/>
            </a:pPr>
            <a:r>
              <a:rPr lang="en-US" sz="1100" b="1" dirty="0">
                <a:solidFill>
                  <a:srgbClr val="028090"/>
                </a:solidFill>
                <a:latin typeface="Courier New" pitchFamily="34" charset="0"/>
                <a:ea typeface="Courier New" pitchFamily="34" charset="-122"/>
                <a:cs typeface="Courier New" pitchFamily="34" charset="-120"/>
              </a:rPr>
              <a:t>dict.fromkeys(sources)</a:t>
            </a:r>
            <a:endParaRPr lang="en-US" sz="1100" dirty="0"/>
          </a:p>
        </p:txBody>
      </p:sp>
      <p:sp>
        <p:nvSpPr>
          <p:cNvPr id="16" name="Text 14"/>
          <p:cNvSpPr txBox="1"/>
          <p:nvPr/>
        </p:nvSpPr>
        <p:spPr>
          <a:xfrm>
            <a:off x="822960" y="5696712"/>
            <a:ext cx="4937760" cy="274320"/>
          </a:xfrm>
          <a:prstGeom prst="rect">
            <a:avLst/>
          </a:prstGeom>
          <a:noFill/>
          <a:ln/>
        </p:spPr>
        <p:txBody>
          <a:bodyPr wrap="square" lIns="0" tIns="0" rIns="0" bIns="0" rtlCol="0" anchor="ctr"/>
          <a:lstStyle/>
          <a:p>
            <a:pPr indent="0" marL="0">
              <a:buNone/>
            </a:pPr>
            <a:r>
              <a:rPr lang="en-US" sz="1150" dirty="0">
                <a:solidFill>
                  <a:srgbClr val="5C6B6E"/>
                </a:solidFill>
                <a:latin typeface="Calibri" pitchFamily="34" charset="0"/>
                <a:ea typeface="Calibri" pitchFamily="34" charset="-122"/>
                <a:cs typeface="Calibri" pitchFamily="34" charset="-120"/>
              </a:rPr>
              <a:t>de-duplicates while preserving order</a:t>
            </a:r>
            <a:endParaRPr lang="en-US" sz="1150" dirty="0"/>
          </a:p>
        </p:txBody>
      </p:sp>
      <p:sp>
        <p:nvSpPr>
          <p:cNvPr id="17" name="Shape 15"/>
          <p:cNvSpPr/>
          <p:nvPr/>
        </p:nvSpPr>
        <p:spPr>
          <a:xfrm>
            <a:off x="6400800" y="1481328"/>
            <a:ext cx="5212080" cy="2286000"/>
          </a:xfrm>
          <a:prstGeom prst="roundRect">
            <a:avLst>
              <a:gd name="adj" fmla="val 2400"/>
            </a:avLst>
          </a:prstGeom>
          <a:solidFill>
            <a:srgbClr val="10262B"/>
          </a:solidFill>
          <a:ln w="9525">
            <a:solidFill>
              <a:srgbClr val="D7E2E2"/>
            </a:solidFill>
            <a:prstDash val="solid"/>
          </a:ln>
        </p:spPr>
      </p:sp>
      <p:sp>
        <p:nvSpPr>
          <p:cNvPr id="18" name="Text 16"/>
          <p:cNvSpPr txBox="1"/>
          <p:nvPr/>
        </p:nvSpPr>
        <p:spPr>
          <a:xfrm>
            <a:off x="6675120" y="1691640"/>
            <a:ext cx="4572000" cy="228600"/>
          </a:xfrm>
          <a:prstGeom prst="rect">
            <a:avLst/>
          </a:prstGeom>
          <a:noFill/>
          <a:ln/>
        </p:spPr>
        <p:txBody>
          <a:bodyPr wrap="square" lIns="0" tIns="0" rIns="0" bIns="0" rtlCol="0" anchor="ctr"/>
          <a:lstStyle/>
          <a:p>
            <a:pPr indent="0" marL="0">
              <a:buNone/>
            </a:pPr>
            <a:r>
              <a:rPr lang="en-US" sz="950" spc="150" kern="0" dirty="0">
                <a:solidFill>
                  <a:srgbClr val="02C39A"/>
                </a:solidFill>
                <a:latin typeface="Courier New" pitchFamily="34" charset="0"/>
                <a:ea typeface="Courier New" pitchFamily="34" charset="-122"/>
                <a:cs typeface="Courier New" pitchFamily="34" charset="-120"/>
              </a:rPr>
              <a:t>GRACEFUL DEGRADATION</a:t>
            </a:r>
            <a:endParaRPr lang="en-US" sz="950" dirty="0"/>
          </a:p>
        </p:txBody>
      </p:sp>
      <p:sp>
        <p:nvSpPr>
          <p:cNvPr id="19" name="Text 17"/>
          <p:cNvSpPr txBox="1"/>
          <p:nvPr/>
        </p:nvSpPr>
        <p:spPr>
          <a:xfrm>
            <a:off x="6675120" y="2011680"/>
            <a:ext cx="4663440" cy="1554480"/>
          </a:xfrm>
          <a:prstGeom prst="rect">
            <a:avLst/>
          </a:prstGeom>
          <a:noFill/>
          <a:ln/>
        </p:spPr>
        <p:txBody>
          <a:bodyPr wrap="square" lIns="0" tIns="0" rIns="0" bIns="0" rtlCol="0" anchor="ctr"/>
          <a:lstStyle/>
          <a:p>
            <a:pPr indent="0" marL="0">
              <a:lnSpc>
                <a:spcPts val="2000"/>
              </a:lnSpc>
              <a:buNone/>
            </a:pPr>
            <a:r>
              <a:rPr lang="en-US" sz="1300" dirty="0">
                <a:solidFill>
                  <a:srgbClr val="FFFFFF"/>
                </a:solidFill>
                <a:latin typeface="Calibri" pitchFamily="34" charset="0"/>
                <a:ea typeface="Calibri" pitchFamily="34" charset="-122"/>
                <a:cs typeface="Calibri" pitchFamily="34" charset="-120"/>
              </a:rPr>
              <a:t>arXiv times out.</a:t>
            </a:r>
            <a:endParaRPr lang="en-US" sz="1300" dirty="0"/>
          </a:p>
          <a:p>
            <a:pPr indent="0" marL="0">
              <a:lnSpc>
                <a:spcPts val="2000"/>
              </a:lnSpc>
              <a:buNone/>
            </a:pPr>
            <a:endParaRPr lang="en-US" sz="1300" dirty="0"/>
          </a:p>
          <a:p>
            <a:pPr indent="0" marL="0">
              <a:lnSpc>
                <a:spcPts val="2000"/>
              </a:lnSpc>
              <a:buNone/>
            </a:pPr>
            <a:r>
              <a:rPr lang="en-US" sz="1300" dirty="0">
                <a:solidFill>
                  <a:srgbClr val="FFFFFF"/>
                </a:solidFill>
                <a:latin typeface="Calibri" pitchFamily="34" charset="0"/>
                <a:ea typeface="Calibri" pitchFamily="34" charset="-122"/>
                <a:cs typeface="Calibri" pitchFamily="34" charset="-120"/>
              </a:rPr>
              <a:t>The answer is still produced from Wikipedia and the web, and the failed source is named in the output rather than hidden.</a:t>
            </a:r>
            <a:endParaRPr lang="en-US" sz="1300" dirty="0"/>
          </a:p>
        </p:txBody>
      </p:sp>
      <p:sp>
        <p:nvSpPr>
          <p:cNvPr id="20" name="Shape 18"/>
          <p:cNvSpPr/>
          <p:nvPr/>
        </p:nvSpPr>
        <p:spPr>
          <a:xfrm>
            <a:off x="6400800" y="3950208"/>
            <a:ext cx="5212080" cy="1234440"/>
          </a:xfrm>
          <a:prstGeom prst="roundRect">
            <a:avLst>
              <a:gd name="adj" fmla="val 4444"/>
            </a:avLst>
          </a:prstGeom>
          <a:solidFill>
            <a:srgbClr val="EEF4F4"/>
          </a:solidFill>
          <a:ln w="9525">
            <a:solidFill>
              <a:srgbClr val="D7E2E2"/>
            </a:solidFill>
            <a:prstDash val="solid"/>
          </a:ln>
        </p:spPr>
      </p:sp>
      <p:sp>
        <p:nvSpPr>
          <p:cNvPr id="21" name="Text 19"/>
          <p:cNvSpPr txBox="1"/>
          <p:nvPr/>
        </p:nvSpPr>
        <p:spPr>
          <a:xfrm>
            <a:off x="6675120" y="4114800"/>
            <a:ext cx="4663440" cy="274320"/>
          </a:xfrm>
          <a:prstGeom prst="rect">
            <a:avLst/>
          </a:prstGeom>
          <a:noFill/>
          <a:ln/>
        </p:spPr>
        <p:txBody>
          <a:bodyPr wrap="square" lIns="0" tIns="0" rIns="0" bIns="0" rtlCol="0" anchor="ctr"/>
          <a:lstStyle/>
          <a:p>
            <a:pPr indent="0" marL="0">
              <a:buNone/>
            </a:pPr>
            <a:r>
              <a:rPr lang="en-US" sz="1300" b="1" dirty="0">
                <a:solidFill>
                  <a:srgbClr val="10262B"/>
                </a:solidFill>
                <a:latin typeface="Calibri" pitchFamily="34" charset="0"/>
                <a:ea typeface="Calibri" pitchFamily="34" charset="-122"/>
                <a:cs typeface="Calibri" pitchFamily="34" charset="-120"/>
              </a:rPr>
              <a:t>Why per-source timeouts?</a:t>
            </a:r>
            <a:endParaRPr lang="en-US" sz="1300" dirty="0"/>
          </a:p>
        </p:txBody>
      </p:sp>
      <p:sp>
        <p:nvSpPr>
          <p:cNvPr id="22" name="Text 20"/>
          <p:cNvSpPr txBox="1"/>
          <p:nvPr/>
        </p:nvSpPr>
        <p:spPr>
          <a:xfrm>
            <a:off x="6675120" y="4407408"/>
            <a:ext cx="4663440" cy="685800"/>
          </a:xfrm>
          <a:prstGeom prst="rect">
            <a:avLst/>
          </a:prstGeom>
          <a:noFill/>
          <a:ln/>
        </p:spPr>
        <p:txBody>
          <a:bodyPr wrap="square" lIns="0" tIns="0" rIns="0" bIns="0" rtlCol="0" anchor="ctr"/>
          <a:lstStyle/>
          <a:p>
            <a:pPr indent="0" marL="0">
              <a:lnSpc>
                <a:spcPts val="1600"/>
              </a:lnSpc>
              <a:buNone/>
            </a:pPr>
            <a:r>
              <a:rPr lang="en-US" sz="1150" dirty="0">
                <a:solidFill>
                  <a:srgbClr val="5C6B6E"/>
                </a:solidFill>
                <a:latin typeface="Calibri" pitchFamily="34" charset="0"/>
                <a:ea typeface="Calibri" pitchFamily="34" charset="-122"/>
                <a:cs typeface="Calibri" pitchFamily="34" charset="-120"/>
              </a:rPr>
              <a:t>One timeout on the gather would let a slow Wikipedia eat the window arXiv needed. Each source gets its own eight seconds.</a:t>
            </a:r>
            <a:endParaRPr lang="en-US" sz="1150" dirty="0"/>
          </a:p>
        </p:txBody>
      </p:sp>
      <p:sp>
        <p:nvSpPr>
          <p:cNvPr id="23" name="Shape 21"/>
          <p:cNvSpPr/>
          <p:nvPr/>
        </p:nvSpPr>
        <p:spPr>
          <a:xfrm>
            <a:off x="6400800" y="5367528"/>
            <a:ext cx="5212080" cy="960120"/>
          </a:xfrm>
          <a:prstGeom prst="roundRect">
            <a:avLst>
              <a:gd name="adj" fmla="val 5714"/>
            </a:avLst>
          </a:prstGeom>
          <a:solidFill>
            <a:srgbClr val="EEF4F4"/>
          </a:solidFill>
          <a:ln w="9525">
            <a:solidFill>
              <a:srgbClr val="D7E2E2"/>
            </a:solidFill>
            <a:prstDash val="solid"/>
          </a:ln>
        </p:spPr>
      </p:sp>
      <p:sp>
        <p:nvSpPr>
          <p:cNvPr id="24" name="Text 22"/>
          <p:cNvSpPr txBox="1"/>
          <p:nvPr/>
        </p:nvSpPr>
        <p:spPr>
          <a:xfrm>
            <a:off x="6675120" y="5532120"/>
            <a:ext cx="4663440" cy="640080"/>
          </a:xfrm>
          <a:prstGeom prst="rect">
            <a:avLst/>
          </a:prstGeom>
          <a:noFill/>
          <a:ln/>
        </p:spPr>
        <p:txBody>
          <a:bodyPr wrap="square" lIns="0" tIns="0" rIns="0" bIns="0" rtlCol="0" anchor="ctr"/>
          <a:lstStyle/>
          <a:p>
            <a:pPr indent="0" marL="0">
              <a:lnSpc>
                <a:spcPts val="1600"/>
              </a:lnSpc>
              <a:buNone/>
            </a:pPr>
            <a:r>
              <a:rPr lang="en-US" sz="1150" dirty="0">
                <a:solidFill>
                  <a:srgbClr val="10262B"/>
                </a:solidFill>
                <a:latin typeface="Calibri" pitchFamily="34" charset="0"/>
                <a:ea typeface="Calibri" pitchFamily="34" charset="-122"/>
                <a:cs typeface="Calibri" pitchFamily="34" charset="-120"/>
              </a:rPr>
              <a:t>Also owned: config.py (typed settings, env-driven) · models.py · Dockerfile · docker-compose.yml</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MEMBER 2  ·  SAHIB</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The cache-aside layer and the shared client</a:t>
            </a:r>
            <a:endParaRPr lang="en-US" sz="3400" dirty="0"/>
          </a:p>
        </p:txBody>
      </p:sp>
      <p:sp>
        <p:nvSpPr>
          <p:cNvPr id="4" name="Shape 2"/>
          <p:cNvSpPr/>
          <p:nvPr/>
        </p:nvSpPr>
        <p:spPr>
          <a:xfrm>
            <a:off x="566928" y="1481328"/>
            <a:ext cx="5669280" cy="2240280"/>
          </a:xfrm>
          <a:prstGeom prst="roundRect">
            <a:avLst>
              <a:gd name="adj" fmla="val 2449"/>
            </a:avLst>
          </a:prstGeom>
          <a:solidFill>
            <a:srgbClr val="EEF4F4"/>
          </a:solidFill>
          <a:ln w="9525">
            <a:solidFill>
              <a:srgbClr val="D7E2E2"/>
            </a:solidFill>
            <a:prstDash val="solid"/>
          </a:ln>
        </p:spPr>
      </p:sp>
      <p:sp>
        <p:nvSpPr>
          <p:cNvPr id="5" name="Text 3"/>
          <p:cNvSpPr txBox="1"/>
          <p:nvPr/>
        </p:nvSpPr>
        <p:spPr>
          <a:xfrm>
            <a:off x="841248" y="1664208"/>
            <a:ext cx="5120640" cy="274320"/>
          </a:xfrm>
          <a:prstGeom prst="rect">
            <a:avLst/>
          </a:prstGeom>
          <a:noFill/>
          <a:ln/>
        </p:spPr>
        <p:txBody>
          <a:bodyPr wrap="square" lIns="0" tIns="0" rIns="0" bIns="0" rtlCol="0" anchor="ctr"/>
          <a:lstStyle/>
          <a:p>
            <a:pPr indent="0" marL="0">
              <a:buNone/>
            </a:pPr>
            <a:r>
              <a:rPr lang="en-US" sz="1300" b="1" dirty="0">
                <a:solidFill>
                  <a:srgbClr val="028090"/>
                </a:solidFill>
                <a:latin typeface="Courier New" pitchFamily="34" charset="0"/>
                <a:ea typeface="Courier New" pitchFamily="34" charset="-122"/>
                <a:cs typeface="Courier New" pitchFamily="34" charset="-120"/>
              </a:rPr>
              <a:t>services/cache.py</a:t>
            </a:r>
            <a:endParaRPr lang="en-US" sz="1300" dirty="0"/>
          </a:p>
        </p:txBody>
      </p:sp>
      <p:sp>
        <p:nvSpPr>
          <p:cNvPr id="6" name="Text 4"/>
          <p:cNvSpPr txBox="1"/>
          <p:nvPr/>
        </p:nvSpPr>
        <p:spPr>
          <a:xfrm>
            <a:off x="841248" y="2011680"/>
            <a:ext cx="5120640" cy="1143000"/>
          </a:xfrm>
          <a:prstGeom prst="rect">
            <a:avLst/>
          </a:prstGeom>
          <a:noFill/>
          <a:ln/>
        </p:spPr>
        <p:txBody>
          <a:bodyPr wrap="square" lIns="0" tIns="0" rIns="0" bIns="0" rtlCol="0" anchor="ctr"/>
          <a:lstStyle/>
          <a:p>
            <a:pPr indent="0" marL="0">
              <a:lnSpc>
                <a:spcPts val="1800"/>
              </a:lnSpc>
              <a:buNone/>
            </a:pPr>
            <a:r>
              <a:rPr lang="en-US" sz="1250" dirty="0">
                <a:solidFill>
                  <a:srgbClr val="10262B"/>
                </a:solidFill>
                <a:latin typeface="Calibri" pitchFamily="34" charset="0"/>
                <a:ea typeface="Calibri" pitchFamily="34" charset="-122"/>
                <a:cs typeface="Calibri" pitchFamily="34" charset="-120"/>
              </a:rPr>
              <a:t>CacheService turns the storage layer into a cache-aside flow: look up every requested source concurrently with asyncio.gather, return only the hits, and write back everything that was fetched — again concurrently.</a:t>
            </a:r>
            <a:endParaRPr lang="en-US" sz="1250" dirty="0"/>
          </a:p>
        </p:txBody>
      </p:sp>
      <p:sp>
        <p:nvSpPr>
          <p:cNvPr id="7" name="Text 5"/>
          <p:cNvSpPr txBox="1"/>
          <p:nvPr/>
        </p:nvSpPr>
        <p:spPr>
          <a:xfrm>
            <a:off x="841248" y="3200400"/>
            <a:ext cx="5120640" cy="411480"/>
          </a:xfrm>
          <a:prstGeom prst="rect">
            <a:avLst/>
          </a:prstGeom>
          <a:noFill/>
          <a:ln/>
        </p:spPr>
        <p:txBody>
          <a:bodyPr wrap="square" lIns="0" tIns="0" rIns="0" bIns="0" rtlCol="0" anchor="ctr"/>
          <a:lstStyle/>
          <a:p>
            <a:pPr indent="0" marL="0">
              <a:lnSpc>
                <a:spcPts val="1600"/>
              </a:lnSpc>
              <a:buNone/>
            </a:pPr>
            <a:r>
              <a:rPr lang="en-US" sz="1150" i="1" dirty="0">
                <a:solidFill>
                  <a:srgbClr val="5C6B6E"/>
                </a:solidFill>
                <a:latin typeface="Calibri" pitchFamily="34" charset="0"/>
                <a:ea typeface="Calibri" pitchFamily="34" charset="-122"/>
                <a:cs typeface="Calibri" pitchFamily="34" charset="-120"/>
              </a:rPr>
              <a:t>It keeps the gather loops out of the workflow, so researcher.py reads as business logic.</a:t>
            </a:r>
            <a:endParaRPr lang="en-US" sz="1150" dirty="0"/>
          </a:p>
        </p:txBody>
      </p:sp>
      <p:sp>
        <p:nvSpPr>
          <p:cNvPr id="8" name="Shape 6"/>
          <p:cNvSpPr/>
          <p:nvPr/>
        </p:nvSpPr>
        <p:spPr>
          <a:xfrm>
            <a:off x="566928" y="3858768"/>
            <a:ext cx="5669280" cy="1828800"/>
          </a:xfrm>
          <a:prstGeom prst="roundRect">
            <a:avLst>
              <a:gd name="adj" fmla="val 3000"/>
            </a:avLst>
          </a:prstGeom>
          <a:solidFill>
            <a:srgbClr val="EEF4F4"/>
          </a:solidFill>
          <a:ln w="9525">
            <a:solidFill>
              <a:srgbClr val="D7E2E2"/>
            </a:solidFill>
            <a:prstDash val="solid"/>
          </a:ln>
        </p:spPr>
      </p:sp>
      <p:sp>
        <p:nvSpPr>
          <p:cNvPr id="9" name="Text 7"/>
          <p:cNvSpPr txBox="1"/>
          <p:nvPr/>
        </p:nvSpPr>
        <p:spPr>
          <a:xfrm>
            <a:off x="841248" y="4041648"/>
            <a:ext cx="5120640" cy="274320"/>
          </a:xfrm>
          <a:prstGeom prst="rect">
            <a:avLst/>
          </a:prstGeom>
          <a:noFill/>
          <a:ln/>
        </p:spPr>
        <p:txBody>
          <a:bodyPr wrap="square" lIns="0" tIns="0" rIns="0" bIns="0" rtlCol="0" anchor="ctr"/>
          <a:lstStyle/>
          <a:p>
            <a:pPr indent="0" marL="0">
              <a:buNone/>
            </a:pPr>
            <a:r>
              <a:rPr lang="en-US" sz="1300" b="1" dirty="0">
                <a:solidFill>
                  <a:srgbClr val="028090"/>
                </a:solidFill>
                <a:latin typeface="Courier New" pitchFamily="34" charset="0"/>
                <a:ea typeface="Courier New" pitchFamily="34" charset="-122"/>
                <a:cs typeface="Courier New" pitchFamily="34" charset="-120"/>
              </a:rPr>
              <a:t>services/http_client.py</a:t>
            </a:r>
            <a:endParaRPr lang="en-US" sz="1300" dirty="0"/>
          </a:p>
        </p:txBody>
      </p:sp>
      <p:sp>
        <p:nvSpPr>
          <p:cNvPr id="10" name="Text 8"/>
          <p:cNvSpPr txBox="1"/>
          <p:nvPr/>
        </p:nvSpPr>
        <p:spPr>
          <a:xfrm>
            <a:off x="841248" y="4389120"/>
            <a:ext cx="5120640" cy="640080"/>
          </a:xfrm>
          <a:prstGeom prst="rect">
            <a:avLst/>
          </a:prstGeom>
          <a:noFill/>
          <a:ln/>
        </p:spPr>
        <p:txBody>
          <a:bodyPr wrap="square" lIns="0" tIns="0" rIns="0" bIns="0" rtlCol="0" anchor="ctr"/>
          <a:lstStyle/>
          <a:p>
            <a:pPr indent="0" marL="0">
              <a:lnSpc>
                <a:spcPts val="1800"/>
              </a:lnSpc>
              <a:buNone/>
            </a:pPr>
            <a:r>
              <a:rPr lang="en-US" sz="1250" dirty="0">
                <a:solidFill>
                  <a:srgbClr val="10262B"/>
                </a:solidFill>
                <a:latin typeface="Calibri" pitchFamily="34" charset="0"/>
                <a:ea typeface="Calibri" pitchFamily="34" charset="-122"/>
                <a:cs typeface="Calibri" pitchFamily="34" charset="-120"/>
              </a:rPr>
              <a:t>One httpx.AsyncClient shared by all three fetchers in a request, so connections are reused rather than reopened.</a:t>
            </a:r>
            <a:endParaRPr lang="en-US" sz="1250" dirty="0"/>
          </a:p>
        </p:txBody>
      </p:sp>
      <p:sp>
        <p:nvSpPr>
          <p:cNvPr id="11" name="Text 9"/>
          <p:cNvSpPr txBox="1"/>
          <p:nvPr/>
        </p:nvSpPr>
        <p:spPr>
          <a:xfrm>
            <a:off x="841248" y="5029200"/>
            <a:ext cx="5120640" cy="566928"/>
          </a:xfrm>
          <a:prstGeom prst="rect">
            <a:avLst/>
          </a:prstGeom>
          <a:noFill/>
          <a:ln/>
        </p:spPr>
        <p:txBody>
          <a:bodyPr wrap="square" lIns="0" tIns="0" rIns="0" bIns="0" rtlCol="0" anchor="ctr"/>
          <a:lstStyle/>
          <a:p>
            <a:pPr indent="0" marL="0">
              <a:lnSpc>
                <a:spcPts val="1600"/>
              </a:lnSpc>
              <a:buNone/>
            </a:pPr>
            <a:r>
              <a:rPr lang="en-US" sz="1050" dirty="0">
                <a:solidFill>
                  <a:srgbClr val="5C6B6E"/>
                </a:solidFill>
                <a:latin typeface="Courier New" pitchFamily="34" charset="0"/>
                <a:ea typeface="Courier New" pitchFamily="34" charset="-122"/>
                <a:cs typeface="Courier New" pitchFamily="34" charset="-120"/>
              </a:rPr>
              <a:t>follow_redirects=True — arXiv redirects http → https</a:t>
            </a:r>
            <a:endParaRPr lang="en-US" sz="1050" dirty="0"/>
          </a:p>
          <a:p>
            <a:pPr indent="0" marL="0">
              <a:lnSpc>
                <a:spcPts val="1600"/>
              </a:lnSpc>
              <a:buNone/>
            </a:pPr>
            <a:r>
              <a:rPr lang="en-US" sz="1050" dirty="0">
                <a:solidFill>
                  <a:srgbClr val="5C6B6E"/>
                </a:solidFill>
                <a:latin typeface="Courier New" pitchFamily="34" charset="0"/>
                <a:ea typeface="Courier New" pitchFamily="34" charset="-122"/>
                <a:cs typeface="Courier New" pitchFamily="34" charset="-120"/>
              </a:rPr>
              <a:t>A real User-Agent — Wikipedia rejects generic ones</a:t>
            </a:r>
            <a:endParaRPr lang="en-US" sz="1050" dirty="0"/>
          </a:p>
        </p:txBody>
      </p:sp>
      <p:sp>
        <p:nvSpPr>
          <p:cNvPr id="12" name="Shape 10"/>
          <p:cNvSpPr/>
          <p:nvPr/>
        </p:nvSpPr>
        <p:spPr>
          <a:xfrm>
            <a:off x="6675120" y="1481328"/>
            <a:ext cx="4937760" cy="2240280"/>
          </a:xfrm>
          <a:prstGeom prst="roundRect">
            <a:avLst>
              <a:gd name="adj" fmla="val 2449"/>
            </a:avLst>
          </a:prstGeom>
          <a:solidFill>
            <a:srgbClr val="10262B"/>
          </a:solidFill>
          <a:ln w="9525">
            <a:solidFill>
              <a:srgbClr val="D7E2E2"/>
            </a:solidFill>
            <a:prstDash val="solid"/>
          </a:ln>
        </p:spPr>
      </p:sp>
      <p:sp>
        <p:nvSpPr>
          <p:cNvPr id="13" name="Text 11"/>
          <p:cNvSpPr txBox="1"/>
          <p:nvPr/>
        </p:nvSpPr>
        <p:spPr>
          <a:xfrm>
            <a:off x="6949440" y="1691640"/>
            <a:ext cx="4389120" cy="228600"/>
          </a:xfrm>
          <a:prstGeom prst="rect">
            <a:avLst/>
          </a:prstGeom>
          <a:noFill/>
          <a:ln/>
        </p:spPr>
        <p:txBody>
          <a:bodyPr wrap="square" lIns="0" tIns="0" rIns="0" bIns="0" rtlCol="0" anchor="ctr"/>
          <a:lstStyle/>
          <a:p>
            <a:pPr indent="0" marL="0">
              <a:buNone/>
            </a:pPr>
            <a:r>
              <a:rPr lang="en-US" sz="950" spc="150" kern="0" dirty="0">
                <a:solidFill>
                  <a:srgbClr val="02C39A"/>
                </a:solidFill>
                <a:latin typeface="Courier New" pitchFamily="34" charset="0"/>
                <a:ea typeface="Courier New" pitchFamily="34" charset="-122"/>
                <a:cs typeface="Courier New" pitchFamily="34" charset="-120"/>
              </a:rPr>
              <a:t>WHY ONE CLIENT MATTERS</a:t>
            </a:r>
            <a:endParaRPr lang="en-US" sz="950" dirty="0"/>
          </a:p>
        </p:txBody>
      </p:sp>
      <p:sp>
        <p:nvSpPr>
          <p:cNvPr id="14" name="Text 12"/>
          <p:cNvSpPr txBox="1"/>
          <p:nvPr/>
        </p:nvSpPr>
        <p:spPr>
          <a:xfrm>
            <a:off x="6949440" y="2011680"/>
            <a:ext cx="4389120" cy="1554480"/>
          </a:xfrm>
          <a:prstGeom prst="rect">
            <a:avLst/>
          </a:prstGeom>
          <a:noFill/>
          <a:ln/>
        </p:spPr>
        <p:txBody>
          <a:bodyPr wrap="square" lIns="0" tIns="0" rIns="0" bIns="0" rtlCol="0" anchor="ctr"/>
          <a:lstStyle/>
          <a:p>
            <a:pPr indent="0" marL="0">
              <a:lnSpc>
                <a:spcPts val="1900"/>
              </a:lnSpc>
              <a:buNone/>
            </a:pPr>
            <a:r>
              <a:rPr lang="en-US" sz="1250" dirty="0">
                <a:solidFill>
                  <a:srgbClr val="FFFFFF"/>
                </a:solidFill>
                <a:latin typeface="Calibri" pitchFamily="34" charset="0"/>
                <a:ea typeface="Calibri" pitchFamily="34" charset="-122"/>
                <a:cs typeface="Calibri" pitchFamily="34" charset="-120"/>
              </a:rPr>
              <a:t>A new client per fetch means a new TCP and TLS handshake per fetch. Sharing one pool removes that cost from every request after the first — the brief calls it roughly double the throughput on queries this small.</a:t>
            </a:r>
            <a:endParaRPr lang="en-US" sz="1250" dirty="0"/>
          </a:p>
        </p:txBody>
      </p:sp>
      <p:sp>
        <p:nvSpPr>
          <p:cNvPr id="15" name="Text 13"/>
          <p:cNvSpPr txBox="1"/>
          <p:nvPr/>
        </p:nvSpPr>
        <p:spPr>
          <a:xfrm>
            <a:off x="6675120" y="3977640"/>
            <a:ext cx="4572000" cy="228600"/>
          </a:xfrm>
          <a:prstGeom prst="rect">
            <a:avLst/>
          </a:prstGeom>
          <a:noFill/>
          <a:ln/>
        </p:spPr>
        <p:txBody>
          <a:bodyPr wrap="square" lIns="0" tIns="0" rIns="0" bIns="0" rtlCol="0" anchor="ctr"/>
          <a:lstStyle/>
          <a:p>
            <a:pPr indent="0" marL="0">
              <a:buNone/>
            </a:pPr>
            <a:r>
              <a:rPr lang="en-US" sz="950" spc="150" kern="0" dirty="0">
                <a:solidFill>
                  <a:srgbClr val="028090"/>
                </a:solidFill>
                <a:latin typeface="Courier New" pitchFamily="34" charset="0"/>
                <a:ea typeface="Courier New" pitchFamily="34" charset="-122"/>
                <a:cs typeface="Courier New" pitchFamily="34" charset="-120"/>
              </a:rPr>
              <a:t>ALSO OWNED</a:t>
            </a:r>
            <a:endParaRPr lang="en-US" sz="950" dirty="0"/>
          </a:p>
        </p:txBody>
      </p:sp>
      <p:sp>
        <p:nvSpPr>
          <p:cNvPr id="16" name="Shape 14"/>
          <p:cNvSpPr/>
          <p:nvPr/>
        </p:nvSpPr>
        <p:spPr>
          <a:xfrm>
            <a:off x="6675120" y="4315968"/>
            <a:ext cx="4937760" cy="576072"/>
          </a:xfrm>
          <a:prstGeom prst="roundRect">
            <a:avLst>
              <a:gd name="adj" fmla="val 9524"/>
            </a:avLst>
          </a:prstGeom>
          <a:solidFill>
            <a:srgbClr val="EEF4F4"/>
          </a:solidFill>
          <a:ln w="9525">
            <a:solidFill>
              <a:srgbClr val="D7E2E2"/>
            </a:solidFill>
            <a:prstDash val="solid"/>
          </a:ln>
        </p:spPr>
      </p:sp>
      <p:sp>
        <p:nvSpPr>
          <p:cNvPr id="17" name="Text 15"/>
          <p:cNvSpPr txBox="1"/>
          <p:nvPr/>
        </p:nvSpPr>
        <p:spPr>
          <a:xfrm>
            <a:off x="6931152" y="4389120"/>
            <a:ext cx="1371600" cy="256032"/>
          </a:xfrm>
          <a:prstGeom prst="rect">
            <a:avLst/>
          </a:prstGeom>
          <a:noFill/>
          <a:ln/>
        </p:spPr>
        <p:txBody>
          <a:bodyPr wrap="square" lIns="0" tIns="0" rIns="0" bIns="0" rtlCol="0" anchor="ctr"/>
          <a:lstStyle/>
          <a:p>
            <a:pPr indent="0" marL="0">
              <a:buNone/>
            </a:pPr>
            <a:r>
              <a:rPr lang="en-US" sz="1200" b="1" dirty="0">
                <a:solidFill>
                  <a:srgbClr val="10262B"/>
                </a:solidFill>
                <a:latin typeface="Calibri" pitchFamily="34" charset="0"/>
                <a:ea typeface="Calibri" pitchFamily="34" charset="-122"/>
                <a:cs typeface="Calibri" pitchFamily="34" charset="-120"/>
              </a:rPr>
              <a:t>README</a:t>
            </a:r>
            <a:endParaRPr lang="en-US" sz="1200" dirty="0"/>
          </a:p>
        </p:txBody>
      </p:sp>
      <p:sp>
        <p:nvSpPr>
          <p:cNvPr id="18" name="Text 16"/>
          <p:cNvSpPr txBox="1"/>
          <p:nvPr/>
        </p:nvSpPr>
        <p:spPr>
          <a:xfrm>
            <a:off x="8247888" y="4407408"/>
            <a:ext cx="3200400" cy="411480"/>
          </a:xfrm>
          <a:prstGeom prst="rect">
            <a:avLst/>
          </a:prstGeom>
          <a:noFill/>
          <a:ln/>
        </p:spPr>
        <p:txBody>
          <a:bodyPr wrap="square" lIns="0" tIns="0" rIns="0" bIns="0" rtlCol="0" anchor="ctr"/>
          <a:lstStyle/>
          <a:p>
            <a:pPr indent="0" marL="0">
              <a:lnSpc>
                <a:spcPts val="1400"/>
              </a:lnSpc>
              <a:buNone/>
            </a:pPr>
            <a:r>
              <a:rPr lang="en-US" sz="1050" dirty="0">
                <a:solidFill>
                  <a:srgbClr val="5C6B6E"/>
                </a:solidFill>
                <a:latin typeface="Calibri" pitchFamily="34" charset="0"/>
                <a:ea typeface="Calibri" pitchFamily="34" charset="-122"/>
                <a:cs typeface="Calibri" pitchFamily="34" charset="-120"/>
              </a:rPr>
              <a:t>setup, env vars, how to run and test, timings table</a:t>
            </a:r>
            <a:endParaRPr lang="en-US" sz="1050" dirty="0"/>
          </a:p>
        </p:txBody>
      </p:sp>
      <p:sp>
        <p:nvSpPr>
          <p:cNvPr id="19" name="Shape 17"/>
          <p:cNvSpPr/>
          <p:nvPr/>
        </p:nvSpPr>
        <p:spPr>
          <a:xfrm>
            <a:off x="6675120" y="5001768"/>
            <a:ext cx="4937760" cy="576072"/>
          </a:xfrm>
          <a:prstGeom prst="roundRect">
            <a:avLst>
              <a:gd name="adj" fmla="val 9524"/>
            </a:avLst>
          </a:prstGeom>
          <a:solidFill>
            <a:srgbClr val="EEF4F4"/>
          </a:solidFill>
          <a:ln w="9525">
            <a:solidFill>
              <a:srgbClr val="D7E2E2"/>
            </a:solidFill>
            <a:prstDash val="solid"/>
          </a:ln>
        </p:spPr>
      </p:sp>
      <p:sp>
        <p:nvSpPr>
          <p:cNvPr id="20" name="Text 18"/>
          <p:cNvSpPr txBox="1"/>
          <p:nvPr/>
        </p:nvSpPr>
        <p:spPr>
          <a:xfrm>
            <a:off x="6931152" y="5074920"/>
            <a:ext cx="1371600" cy="256032"/>
          </a:xfrm>
          <a:prstGeom prst="rect">
            <a:avLst/>
          </a:prstGeom>
          <a:noFill/>
          <a:ln/>
        </p:spPr>
        <p:txBody>
          <a:bodyPr wrap="square" lIns="0" tIns="0" rIns="0" bIns="0" rtlCol="0" anchor="ctr"/>
          <a:lstStyle/>
          <a:p>
            <a:pPr indent="0" marL="0">
              <a:buNone/>
            </a:pPr>
            <a:r>
              <a:rPr lang="en-US" sz="1200" b="1" dirty="0">
                <a:solidFill>
                  <a:srgbClr val="10262B"/>
                </a:solidFill>
                <a:latin typeface="Calibri" pitchFamily="34" charset="0"/>
                <a:ea typeface="Calibri" pitchFamily="34" charset="-122"/>
                <a:cs typeface="Calibri" pitchFamily="34" charset="-120"/>
              </a:rPr>
              <a:t>.env.example</a:t>
            </a:r>
            <a:endParaRPr lang="en-US" sz="1200" dirty="0"/>
          </a:p>
        </p:txBody>
      </p:sp>
      <p:sp>
        <p:nvSpPr>
          <p:cNvPr id="21" name="Text 19"/>
          <p:cNvSpPr txBox="1"/>
          <p:nvPr/>
        </p:nvSpPr>
        <p:spPr>
          <a:xfrm>
            <a:off x="8247888" y="5093208"/>
            <a:ext cx="3200400" cy="411480"/>
          </a:xfrm>
          <a:prstGeom prst="rect">
            <a:avLst/>
          </a:prstGeom>
          <a:noFill/>
          <a:ln/>
        </p:spPr>
        <p:txBody>
          <a:bodyPr wrap="square" lIns="0" tIns="0" rIns="0" bIns="0" rtlCol="0" anchor="ctr"/>
          <a:lstStyle/>
          <a:p>
            <a:pPr indent="0" marL="0">
              <a:lnSpc>
                <a:spcPts val="1400"/>
              </a:lnSpc>
              <a:buNone/>
            </a:pPr>
            <a:r>
              <a:rPr lang="en-US" sz="1050" dirty="0">
                <a:solidFill>
                  <a:srgbClr val="5C6B6E"/>
                </a:solidFill>
                <a:latin typeface="Calibri" pitchFamily="34" charset="0"/>
                <a:ea typeface="Calibri" pitchFamily="34" charset="-122"/>
                <a:cs typeface="Calibri" pitchFamily="34" charset="-120"/>
              </a:rPr>
              <a:t>the template every member copies</a:t>
            </a:r>
            <a:endParaRPr lang="en-US" sz="1050" dirty="0"/>
          </a:p>
        </p:txBody>
      </p:sp>
      <p:sp>
        <p:nvSpPr>
          <p:cNvPr id="22" name="Shape 20"/>
          <p:cNvSpPr/>
          <p:nvPr/>
        </p:nvSpPr>
        <p:spPr>
          <a:xfrm>
            <a:off x="6675120" y="5687568"/>
            <a:ext cx="4937760" cy="576072"/>
          </a:xfrm>
          <a:prstGeom prst="roundRect">
            <a:avLst>
              <a:gd name="adj" fmla="val 9524"/>
            </a:avLst>
          </a:prstGeom>
          <a:solidFill>
            <a:srgbClr val="EEF4F4"/>
          </a:solidFill>
          <a:ln w="9525">
            <a:solidFill>
              <a:srgbClr val="D7E2E2"/>
            </a:solidFill>
            <a:prstDash val="solid"/>
          </a:ln>
        </p:spPr>
      </p:sp>
      <p:sp>
        <p:nvSpPr>
          <p:cNvPr id="23" name="Text 21"/>
          <p:cNvSpPr txBox="1"/>
          <p:nvPr/>
        </p:nvSpPr>
        <p:spPr>
          <a:xfrm>
            <a:off x="6931152" y="5760720"/>
            <a:ext cx="1371600" cy="256032"/>
          </a:xfrm>
          <a:prstGeom prst="rect">
            <a:avLst/>
          </a:prstGeom>
          <a:noFill/>
          <a:ln/>
        </p:spPr>
        <p:txBody>
          <a:bodyPr wrap="square" lIns="0" tIns="0" rIns="0" bIns="0" rtlCol="0" anchor="ctr"/>
          <a:lstStyle/>
          <a:p>
            <a:pPr indent="0" marL="0">
              <a:buNone/>
            </a:pPr>
            <a:r>
              <a:rPr lang="en-US" sz="1200" b="1" dirty="0">
                <a:solidFill>
                  <a:srgbClr val="10262B"/>
                </a:solidFill>
                <a:latin typeface="Calibri" pitchFamily="34" charset="0"/>
                <a:ea typeface="Calibri" pitchFamily="34" charset="-122"/>
                <a:cs typeface="Calibri" pitchFamily="34" charset="-120"/>
              </a:rPr>
              <a:t>respx suite</a:t>
            </a:r>
            <a:endParaRPr lang="en-US" sz="1200" dirty="0"/>
          </a:p>
        </p:txBody>
      </p:sp>
      <p:sp>
        <p:nvSpPr>
          <p:cNvPr id="24" name="Text 22"/>
          <p:cNvSpPr txBox="1"/>
          <p:nvPr/>
        </p:nvSpPr>
        <p:spPr>
          <a:xfrm>
            <a:off x="8247888" y="5779008"/>
            <a:ext cx="3200400" cy="411480"/>
          </a:xfrm>
          <a:prstGeom prst="rect">
            <a:avLst/>
          </a:prstGeom>
          <a:noFill/>
          <a:ln/>
        </p:spPr>
        <p:txBody>
          <a:bodyPr wrap="square" lIns="0" tIns="0" rIns="0" bIns="0" rtlCol="0" anchor="ctr"/>
          <a:lstStyle/>
          <a:p>
            <a:pPr indent="0" marL="0">
              <a:lnSpc>
                <a:spcPts val="1400"/>
              </a:lnSpc>
              <a:buNone/>
            </a:pPr>
            <a:r>
              <a:rPr lang="en-US" sz="1050" dirty="0">
                <a:solidFill>
                  <a:srgbClr val="5C6B6E"/>
                </a:solidFill>
                <a:latin typeface="Calibri" pitchFamily="34" charset="0"/>
                <a:ea typeface="Calibri" pitchFamily="34" charset="-122"/>
                <a:cs typeface="Calibri" pitchFamily="34" charset="-120"/>
              </a:rPr>
              <a:t>offline tests for the HTTP layer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MEMBER 3  ·  FARID</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The cache: one question, one entry</a:t>
            </a:r>
            <a:endParaRPr lang="en-US" sz="3400" dirty="0"/>
          </a:p>
        </p:txBody>
      </p:sp>
      <p:sp>
        <p:nvSpPr>
          <p:cNvPr id="4" name="Text 2"/>
          <p:cNvSpPr txBox="1"/>
          <p:nvPr/>
        </p:nvSpPr>
        <p:spPr>
          <a:xfrm>
            <a:off x="566928" y="1463040"/>
            <a:ext cx="5669280" cy="566928"/>
          </a:xfrm>
          <a:prstGeom prst="rect">
            <a:avLst/>
          </a:prstGeom>
          <a:noFill/>
          <a:ln/>
        </p:spPr>
        <p:txBody>
          <a:bodyPr wrap="square" lIns="0" tIns="0" rIns="0" bIns="0" rtlCol="0" anchor="ctr"/>
          <a:lstStyle/>
          <a:p>
            <a:pPr indent="0" marL="0">
              <a:lnSpc>
                <a:spcPts val="2000"/>
              </a:lnSpc>
              <a:buNone/>
            </a:pPr>
            <a:r>
              <a:rPr lang="en-US" sz="1400" dirty="0">
                <a:solidFill>
                  <a:srgbClr val="10262B"/>
                </a:solidFill>
                <a:latin typeface="Calibri" pitchFamily="34" charset="0"/>
                <a:ea typeface="Calibri" pitchFamily="34" charset="-122"/>
                <a:cs typeface="Calibri" pitchFamily="34" charset="-120"/>
              </a:rPr>
              <a:t>Two people type the same question differently. Unless those collapse to one key, the cache almost never hits.</a:t>
            </a:r>
            <a:endParaRPr lang="en-US" sz="1400" dirty="0"/>
          </a:p>
        </p:txBody>
      </p:sp>
      <p:sp>
        <p:nvSpPr>
          <p:cNvPr id="5" name="Shape 3"/>
          <p:cNvSpPr/>
          <p:nvPr/>
        </p:nvSpPr>
        <p:spPr>
          <a:xfrm>
            <a:off x="566928" y="2148840"/>
            <a:ext cx="384048" cy="384048"/>
          </a:xfrm>
          <a:prstGeom prst="ellipse">
            <a:avLst/>
          </a:prstGeom>
          <a:solidFill>
            <a:srgbClr val="028090"/>
          </a:solidFill>
          <a:ln/>
        </p:spPr>
      </p:sp>
      <p:sp>
        <p:nvSpPr>
          <p:cNvPr id="6" name="Text 4"/>
          <p:cNvSpPr txBox="1"/>
          <p:nvPr/>
        </p:nvSpPr>
        <p:spPr>
          <a:xfrm>
            <a:off x="566928" y="2199132"/>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15568" y="2167128"/>
            <a:ext cx="2651760" cy="256032"/>
          </a:xfrm>
          <a:prstGeom prst="rect">
            <a:avLst/>
          </a:prstGeom>
          <a:noFill/>
          <a:ln/>
        </p:spPr>
        <p:txBody>
          <a:bodyPr wrap="square" lIns="0" tIns="0" rIns="0" bIns="0" rtlCol="0" anchor="ctr"/>
          <a:lstStyle/>
          <a:p>
            <a:pPr indent="0" marL="0">
              <a:buNone/>
            </a:pPr>
            <a:r>
              <a:rPr lang="en-US" sz="1150" b="1" dirty="0">
                <a:solidFill>
                  <a:srgbClr val="028090"/>
                </a:solidFill>
                <a:latin typeface="Courier New" pitchFamily="34" charset="0"/>
                <a:ea typeface="Courier New" pitchFamily="34" charset="-122"/>
                <a:cs typeface="Courier New" pitchFamily="34" charset="-120"/>
              </a:rPr>
              <a:t>NFKC</a:t>
            </a:r>
            <a:endParaRPr lang="en-US" sz="1150" dirty="0"/>
          </a:p>
        </p:txBody>
      </p:sp>
      <p:sp>
        <p:nvSpPr>
          <p:cNvPr id="8" name="Text 6"/>
          <p:cNvSpPr txBox="1"/>
          <p:nvPr/>
        </p:nvSpPr>
        <p:spPr>
          <a:xfrm>
            <a:off x="1115568" y="2423160"/>
            <a:ext cx="5029200" cy="274320"/>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one spelling for look-alike characters</a:t>
            </a:r>
            <a:endParaRPr lang="en-US" sz="1100" dirty="0"/>
          </a:p>
        </p:txBody>
      </p:sp>
      <p:sp>
        <p:nvSpPr>
          <p:cNvPr id="9" name="Shape 7"/>
          <p:cNvSpPr/>
          <p:nvPr/>
        </p:nvSpPr>
        <p:spPr>
          <a:xfrm>
            <a:off x="566928" y="2807208"/>
            <a:ext cx="384048" cy="384048"/>
          </a:xfrm>
          <a:prstGeom prst="ellipse">
            <a:avLst/>
          </a:prstGeom>
          <a:solidFill>
            <a:srgbClr val="028090"/>
          </a:solidFill>
          <a:ln/>
        </p:spPr>
      </p:sp>
      <p:sp>
        <p:nvSpPr>
          <p:cNvPr id="10" name="Text 8"/>
          <p:cNvSpPr txBox="1"/>
          <p:nvPr/>
        </p:nvSpPr>
        <p:spPr>
          <a:xfrm>
            <a:off x="566928" y="2857500"/>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825496"/>
            <a:ext cx="2651760" cy="256032"/>
          </a:xfrm>
          <a:prstGeom prst="rect">
            <a:avLst/>
          </a:prstGeom>
          <a:noFill/>
          <a:ln/>
        </p:spPr>
        <p:txBody>
          <a:bodyPr wrap="square" lIns="0" tIns="0" rIns="0" bIns="0" rtlCol="0" anchor="ctr"/>
          <a:lstStyle/>
          <a:p>
            <a:pPr indent="0" marL="0">
              <a:buNone/>
            </a:pPr>
            <a:r>
              <a:rPr lang="en-US" sz="1150" b="1" dirty="0">
                <a:solidFill>
                  <a:srgbClr val="028090"/>
                </a:solidFill>
                <a:latin typeface="Courier New" pitchFamily="34" charset="0"/>
                <a:ea typeface="Courier New" pitchFamily="34" charset="-122"/>
                <a:cs typeface="Courier New" pitchFamily="34" charset="-120"/>
              </a:rPr>
              <a:t>collapse whitespace</a:t>
            </a:r>
            <a:endParaRPr lang="en-US" sz="1150" dirty="0"/>
          </a:p>
        </p:txBody>
      </p:sp>
      <p:sp>
        <p:nvSpPr>
          <p:cNvPr id="12" name="Text 10"/>
          <p:cNvSpPr txBox="1"/>
          <p:nvPr/>
        </p:nvSpPr>
        <p:spPr>
          <a:xfrm>
            <a:off x="1115568" y="3081528"/>
            <a:ext cx="5029200" cy="274320"/>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  what   is " → "what is"</a:t>
            </a:r>
            <a:endParaRPr lang="en-US" sz="1100" dirty="0"/>
          </a:p>
        </p:txBody>
      </p:sp>
      <p:sp>
        <p:nvSpPr>
          <p:cNvPr id="13" name="Shape 11"/>
          <p:cNvSpPr/>
          <p:nvPr/>
        </p:nvSpPr>
        <p:spPr>
          <a:xfrm>
            <a:off x="566928" y="3465576"/>
            <a:ext cx="384048" cy="384048"/>
          </a:xfrm>
          <a:prstGeom prst="ellipse">
            <a:avLst/>
          </a:prstGeom>
          <a:solidFill>
            <a:srgbClr val="028090"/>
          </a:solidFill>
          <a:ln/>
        </p:spPr>
      </p:sp>
      <p:sp>
        <p:nvSpPr>
          <p:cNvPr id="14" name="Text 12"/>
          <p:cNvSpPr txBox="1"/>
          <p:nvPr/>
        </p:nvSpPr>
        <p:spPr>
          <a:xfrm>
            <a:off x="566928" y="3515868"/>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15568" y="3483864"/>
            <a:ext cx="2651760" cy="256032"/>
          </a:xfrm>
          <a:prstGeom prst="rect">
            <a:avLst/>
          </a:prstGeom>
          <a:noFill/>
          <a:ln/>
        </p:spPr>
        <p:txBody>
          <a:bodyPr wrap="square" lIns="0" tIns="0" rIns="0" bIns="0" rtlCol="0" anchor="ctr"/>
          <a:lstStyle/>
          <a:p>
            <a:pPr indent="0" marL="0">
              <a:buNone/>
            </a:pPr>
            <a:r>
              <a:rPr lang="en-US" sz="1150" b="1" dirty="0">
                <a:solidFill>
                  <a:srgbClr val="028090"/>
                </a:solidFill>
                <a:latin typeface="Courier New" pitchFamily="34" charset="0"/>
                <a:ea typeface="Courier New" pitchFamily="34" charset="-122"/>
                <a:cs typeface="Courier New" pitchFamily="34" charset="-120"/>
              </a:rPr>
              <a:t>casefold()</a:t>
            </a:r>
            <a:endParaRPr lang="en-US" sz="1150" dirty="0"/>
          </a:p>
        </p:txBody>
      </p:sp>
      <p:sp>
        <p:nvSpPr>
          <p:cNvPr id="16" name="Text 14"/>
          <p:cNvSpPr txBox="1"/>
          <p:nvPr/>
        </p:nvSpPr>
        <p:spPr>
          <a:xfrm>
            <a:off x="1115568" y="3739896"/>
            <a:ext cx="5029200" cy="274320"/>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not lower() — German ß folds to ss</a:t>
            </a:r>
            <a:endParaRPr lang="en-US" sz="1100" dirty="0"/>
          </a:p>
        </p:txBody>
      </p:sp>
      <p:sp>
        <p:nvSpPr>
          <p:cNvPr id="17" name="Shape 15"/>
          <p:cNvSpPr/>
          <p:nvPr/>
        </p:nvSpPr>
        <p:spPr>
          <a:xfrm>
            <a:off x="566928" y="4123944"/>
            <a:ext cx="384048" cy="384048"/>
          </a:xfrm>
          <a:prstGeom prst="ellipse">
            <a:avLst/>
          </a:prstGeom>
          <a:solidFill>
            <a:srgbClr val="028090"/>
          </a:solidFill>
          <a:ln/>
        </p:spPr>
      </p:sp>
      <p:sp>
        <p:nvSpPr>
          <p:cNvPr id="18" name="Text 16"/>
          <p:cNvSpPr txBox="1"/>
          <p:nvPr/>
        </p:nvSpPr>
        <p:spPr>
          <a:xfrm>
            <a:off x="566928" y="4174236"/>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115568" y="4142232"/>
            <a:ext cx="2651760" cy="256032"/>
          </a:xfrm>
          <a:prstGeom prst="rect">
            <a:avLst/>
          </a:prstGeom>
          <a:noFill/>
          <a:ln/>
        </p:spPr>
        <p:txBody>
          <a:bodyPr wrap="square" lIns="0" tIns="0" rIns="0" bIns="0" rtlCol="0" anchor="ctr"/>
          <a:lstStyle/>
          <a:p>
            <a:pPr indent="0" marL="0">
              <a:buNone/>
            </a:pPr>
            <a:r>
              <a:rPr lang="en-US" sz="1150" b="1" dirty="0">
                <a:solidFill>
                  <a:srgbClr val="028090"/>
                </a:solidFill>
                <a:latin typeface="Courier New" pitchFamily="34" charset="0"/>
                <a:ea typeface="Courier New" pitchFamily="34" charset="-122"/>
                <a:cs typeface="Courier New" pitchFamily="34" charset="-120"/>
              </a:rPr>
              <a:t>strip trailing ? ! .</a:t>
            </a:r>
            <a:endParaRPr lang="en-US" sz="1150" dirty="0"/>
          </a:p>
        </p:txBody>
      </p:sp>
      <p:sp>
        <p:nvSpPr>
          <p:cNvPr id="20" name="Text 18"/>
          <p:cNvSpPr txBox="1"/>
          <p:nvPr/>
        </p:nvSpPr>
        <p:spPr>
          <a:xfrm>
            <a:off x="1115568" y="4398264"/>
            <a:ext cx="5029200" cy="274320"/>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only at the end — see the trap</a:t>
            </a:r>
            <a:endParaRPr lang="en-US" sz="1100" dirty="0"/>
          </a:p>
        </p:txBody>
      </p:sp>
      <p:sp>
        <p:nvSpPr>
          <p:cNvPr id="21" name="Shape 19"/>
          <p:cNvSpPr/>
          <p:nvPr/>
        </p:nvSpPr>
        <p:spPr>
          <a:xfrm>
            <a:off x="566928" y="4782312"/>
            <a:ext cx="384048" cy="384048"/>
          </a:xfrm>
          <a:prstGeom prst="ellipse">
            <a:avLst/>
          </a:prstGeom>
          <a:solidFill>
            <a:srgbClr val="028090"/>
          </a:solidFill>
          <a:ln/>
        </p:spPr>
      </p:sp>
      <p:sp>
        <p:nvSpPr>
          <p:cNvPr id="22" name="Text 20"/>
          <p:cNvSpPr txBox="1"/>
          <p:nvPr/>
        </p:nvSpPr>
        <p:spPr>
          <a:xfrm>
            <a:off x="566928" y="4832604"/>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115568" y="4800600"/>
            <a:ext cx="2651760" cy="256032"/>
          </a:xfrm>
          <a:prstGeom prst="rect">
            <a:avLst/>
          </a:prstGeom>
          <a:noFill/>
          <a:ln/>
        </p:spPr>
        <p:txBody>
          <a:bodyPr wrap="square" lIns="0" tIns="0" rIns="0" bIns="0" rtlCol="0" anchor="ctr"/>
          <a:lstStyle/>
          <a:p>
            <a:pPr indent="0" marL="0">
              <a:buNone/>
            </a:pPr>
            <a:r>
              <a:rPr lang="en-US" sz="1150" b="1" dirty="0">
                <a:solidFill>
                  <a:srgbClr val="028090"/>
                </a:solidFill>
                <a:latin typeface="Courier New" pitchFamily="34" charset="0"/>
                <a:ea typeface="Courier New" pitchFamily="34" charset="-122"/>
                <a:cs typeface="Courier New" pitchFamily="34" charset="-120"/>
              </a:rPr>
              <a:t>sha256(source + \x1f + query)</a:t>
            </a:r>
            <a:endParaRPr lang="en-US" sz="1150" dirty="0"/>
          </a:p>
        </p:txBody>
      </p:sp>
      <p:sp>
        <p:nvSpPr>
          <p:cNvPr id="24" name="Text 22"/>
          <p:cNvSpPr txBox="1"/>
          <p:nvPr/>
        </p:nvSpPr>
        <p:spPr>
          <a:xfrm>
            <a:off x="1115568" y="5056632"/>
            <a:ext cx="5029200" cy="274320"/>
          </a:xfrm>
          <a:prstGeom prst="rect">
            <a:avLst/>
          </a:prstGeom>
          <a:noFill/>
          <a:ln/>
        </p:spPr>
        <p:txBody>
          <a:bodyPr wrap="square" lIns="0" tIns="0" rIns="0" bIns="0" rtlCol="0" anchor="ctr"/>
          <a:lstStyle/>
          <a:p>
            <a:pPr indent="0" marL="0">
              <a:buNone/>
            </a:pPr>
            <a:r>
              <a:rPr lang="en-US" sz="1100" dirty="0">
                <a:solidFill>
                  <a:srgbClr val="5C6B6E"/>
                </a:solidFill>
                <a:latin typeface="Calibri" pitchFamily="34" charset="0"/>
                <a:ea typeface="Calibri" pitchFamily="34" charset="-122"/>
                <a:cs typeface="Calibri" pitchFamily="34" charset="-120"/>
              </a:rPr>
              <a:t>a fixed-length, filesystem-safe name</a:t>
            </a:r>
            <a:endParaRPr lang="en-US" sz="1100" dirty="0"/>
          </a:p>
        </p:txBody>
      </p:sp>
      <p:sp>
        <p:nvSpPr>
          <p:cNvPr id="25" name="Shape 23"/>
          <p:cNvSpPr/>
          <p:nvPr/>
        </p:nvSpPr>
        <p:spPr>
          <a:xfrm>
            <a:off x="6583680" y="1463040"/>
            <a:ext cx="5029200" cy="1737360"/>
          </a:xfrm>
          <a:prstGeom prst="roundRect">
            <a:avLst>
              <a:gd name="adj" fmla="val 3158"/>
            </a:avLst>
          </a:prstGeom>
          <a:solidFill>
            <a:srgbClr val="10262B"/>
          </a:solidFill>
          <a:ln w="9525">
            <a:solidFill>
              <a:srgbClr val="D7E2E2"/>
            </a:solidFill>
            <a:prstDash val="solid"/>
          </a:ln>
        </p:spPr>
      </p:sp>
      <p:sp>
        <p:nvSpPr>
          <p:cNvPr id="26" name="Text 24"/>
          <p:cNvSpPr txBox="1"/>
          <p:nvPr/>
        </p:nvSpPr>
        <p:spPr>
          <a:xfrm>
            <a:off x="6839712" y="1645920"/>
            <a:ext cx="4572000" cy="228600"/>
          </a:xfrm>
          <a:prstGeom prst="rect">
            <a:avLst/>
          </a:prstGeom>
          <a:noFill/>
          <a:ln/>
        </p:spPr>
        <p:txBody>
          <a:bodyPr wrap="square" lIns="0" tIns="0" rIns="0" bIns="0" rtlCol="0" anchor="ctr"/>
          <a:lstStyle/>
          <a:p>
            <a:pPr indent="0" marL="0">
              <a:buNone/>
            </a:pPr>
            <a:r>
              <a:rPr lang="en-US" sz="950" spc="150" kern="0" dirty="0">
                <a:solidFill>
                  <a:srgbClr val="02C39A"/>
                </a:solidFill>
                <a:latin typeface="Courier New" pitchFamily="34" charset="0"/>
                <a:ea typeface="Courier New" pitchFamily="34" charset="-122"/>
                <a:cs typeface="Courier New" pitchFamily="34" charset="-120"/>
              </a:rPr>
              <a:t>THESE ALL HIT ONE ENTRY</a:t>
            </a:r>
            <a:endParaRPr lang="en-US" sz="950" dirty="0"/>
          </a:p>
        </p:txBody>
      </p:sp>
      <p:sp>
        <p:nvSpPr>
          <p:cNvPr id="27" name="Text 25"/>
          <p:cNvSpPr txBox="1"/>
          <p:nvPr/>
        </p:nvSpPr>
        <p:spPr>
          <a:xfrm>
            <a:off x="6839712" y="1965960"/>
            <a:ext cx="4572000" cy="1097280"/>
          </a:xfrm>
          <a:prstGeom prst="rect">
            <a:avLst/>
          </a:prstGeom>
          <a:noFill/>
          <a:ln/>
        </p:spPr>
        <p:txBody>
          <a:bodyPr wrap="square" lIns="0" tIns="0" rIns="0" bIns="0" rtlCol="0" anchor="ctr"/>
          <a:lstStyle/>
          <a:p>
            <a:pPr indent="0" marL="0">
              <a:lnSpc>
                <a:spcPts val="1900"/>
              </a:lnSpc>
              <a:buNone/>
            </a:pPr>
            <a:r>
              <a:rPr lang="en-US" sz="1150" dirty="0">
                <a:solidFill>
                  <a:srgbClr val="FFFFFF"/>
                </a:solidFill>
                <a:latin typeface="Courier New" pitchFamily="34" charset="0"/>
                <a:ea typeface="Courier New" pitchFamily="34" charset="-122"/>
                <a:cs typeface="Courier New" pitchFamily="34" charset="-120"/>
              </a:rPr>
              <a:t>"what is photosynthesis"</a:t>
            </a:r>
            <a:endParaRPr lang="en-US" sz="1150" dirty="0"/>
          </a:p>
          <a:p>
            <a:pPr indent="0" marL="0">
              <a:lnSpc>
                <a:spcPts val="1900"/>
              </a:lnSpc>
              <a:buNone/>
            </a:pPr>
            <a:r>
              <a:rPr lang="en-US" sz="1150" dirty="0">
                <a:solidFill>
                  <a:srgbClr val="FFFFFF"/>
                </a:solidFill>
                <a:latin typeface="Courier New" pitchFamily="34" charset="0"/>
                <a:ea typeface="Courier New" pitchFamily="34" charset="-122"/>
                <a:cs typeface="Courier New" pitchFamily="34" charset="-120"/>
              </a:rPr>
              <a:t>"WHAT IS PHOTOSYNTHESIS?"</a:t>
            </a:r>
            <a:endParaRPr lang="en-US" sz="1150" dirty="0"/>
          </a:p>
          <a:p>
            <a:pPr indent="0" marL="0">
              <a:lnSpc>
                <a:spcPts val="1900"/>
              </a:lnSpc>
              <a:buNone/>
            </a:pPr>
            <a:r>
              <a:rPr lang="en-US" sz="1150" dirty="0">
                <a:solidFill>
                  <a:srgbClr val="FFFFFF"/>
                </a:solidFill>
                <a:latin typeface="Courier New" pitchFamily="34" charset="0"/>
                <a:ea typeface="Courier New" pitchFamily="34" charset="-122"/>
                <a:cs typeface="Courier New" pitchFamily="34" charset="-120"/>
              </a:rPr>
              <a:t>"  What  Is  Photosynthesis  "</a:t>
            </a:r>
            <a:endParaRPr lang="en-US" sz="1150" dirty="0"/>
          </a:p>
        </p:txBody>
      </p:sp>
      <p:sp>
        <p:nvSpPr>
          <p:cNvPr id="28" name="Shape 26"/>
          <p:cNvSpPr/>
          <p:nvPr/>
        </p:nvSpPr>
        <p:spPr>
          <a:xfrm>
            <a:off x="6583680" y="3310128"/>
            <a:ext cx="5029200" cy="1572768"/>
          </a:xfrm>
          <a:prstGeom prst="roundRect">
            <a:avLst>
              <a:gd name="adj" fmla="val 3488"/>
            </a:avLst>
          </a:prstGeom>
          <a:solidFill>
            <a:srgbClr val="F7EAE6"/>
          </a:solidFill>
          <a:ln w="12700">
            <a:solidFill>
              <a:srgbClr val="B85042"/>
            </a:solidFill>
            <a:prstDash val="solid"/>
          </a:ln>
        </p:spPr>
      </p:sp>
      <p:sp>
        <p:nvSpPr>
          <p:cNvPr id="29" name="Text 27"/>
          <p:cNvSpPr txBox="1"/>
          <p:nvPr/>
        </p:nvSpPr>
        <p:spPr>
          <a:xfrm>
            <a:off x="6839712" y="3474720"/>
            <a:ext cx="4572000" cy="228600"/>
          </a:xfrm>
          <a:prstGeom prst="rect">
            <a:avLst/>
          </a:prstGeom>
          <a:noFill/>
          <a:ln/>
        </p:spPr>
        <p:txBody>
          <a:bodyPr wrap="square" lIns="0" tIns="0" rIns="0" bIns="0" rtlCol="0" anchor="ctr"/>
          <a:lstStyle/>
          <a:p>
            <a:pPr indent="0" marL="0">
              <a:buNone/>
            </a:pPr>
            <a:r>
              <a:rPr lang="en-US" sz="950" spc="150" kern="0" dirty="0">
                <a:solidFill>
                  <a:srgbClr val="B85042"/>
                </a:solidFill>
                <a:latin typeface="Courier New" pitchFamily="34" charset="0"/>
                <a:ea typeface="Courier New" pitchFamily="34" charset="-122"/>
                <a:cs typeface="Courier New" pitchFamily="34" charset="-120"/>
              </a:rPr>
              <a:t>BUT THESE MUST STAY APART</a:t>
            </a:r>
            <a:endParaRPr lang="en-US" sz="950" dirty="0"/>
          </a:p>
        </p:txBody>
      </p:sp>
      <p:sp>
        <p:nvSpPr>
          <p:cNvPr id="30" name="Text 28"/>
          <p:cNvSpPr txBox="1"/>
          <p:nvPr/>
        </p:nvSpPr>
        <p:spPr>
          <a:xfrm>
            <a:off x="6839712" y="3785616"/>
            <a:ext cx="4572000" cy="548640"/>
          </a:xfrm>
          <a:prstGeom prst="rect">
            <a:avLst/>
          </a:prstGeom>
          <a:noFill/>
          <a:ln/>
        </p:spPr>
        <p:txBody>
          <a:bodyPr wrap="square" lIns="0" tIns="0" rIns="0" bIns="0" rtlCol="0" anchor="ctr"/>
          <a:lstStyle/>
          <a:p>
            <a:pPr indent="0" marL="0">
              <a:lnSpc>
                <a:spcPts val="1800"/>
              </a:lnSpc>
              <a:buNone/>
            </a:pPr>
            <a:r>
              <a:rPr lang="en-US" sz="1150" dirty="0">
                <a:solidFill>
                  <a:srgbClr val="B85042"/>
                </a:solidFill>
                <a:latin typeface="Courier New" pitchFamily="34" charset="0"/>
                <a:ea typeface="Courier New" pitchFamily="34" charset="-122"/>
                <a:cs typeface="Courier New" pitchFamily="34" charset="-120"/>
              </a:rPr>
              <a:t>"What is C++?"  →  what is c++</a:t>
            </a:r>
            <a:endParaRPr lang="en-US" sz="1150" dirty="0"/>
          </a:p>
          <a:p>
            <a:pPr indent="0" marL="0">
              <a:lnSpc>
                <a:spcPts val="1800"/>
              </a:lnSpc>
              <a:buNone/>
            </a:pPr>
            <a:r>
              <a:rPr lang="en-US" sz="1150" dirty="0">
                <a:solidFill>
                  <a:srgbClr val="B85042"/>
                </a:solidFill>
                <a:latin typeface="Courier New" pitchFamily="34" charset="0"/>
                <a:ea typeface="Courier New" pitchFamily="34" charset="-122"/>
                <a:cs typeface="Courier New" pitchFamily="34" charset="-120"/>
              </a:rPr>
              <a:t>"What is C?"     →  what is c</a:t>
            </a:r>
            <a:endParaRPr lang="en-US" sz="1150" dirty="0"/>
          </a:p>
        </p:txBody>
      </p:sp>
      <p:sp>
        <p:nvSpPr>
          <p:cNvPr id="31" name="Text 29"/>
          <p:cNvSpPr txBox="1"/>
          <p:nvPr/>
        </p:nvSpPr>
        <p:spPr>
          <a:xfrm>
            <a:off x="6839712" y="4352544"/>
            <a:ext cx="4526280" cy="457200"/>
          </a:xfrm>
          <a:prstGeom prst="rect">
            <a:avLst/>
          </a:prstGeom>
          <a:noFill/>
          <a:ln/>
        </p:spPr>
        <p:txBody>
          <a:bodyPr wrap="square" lIns="0" tIns="0" rIns="0" bIns="0" rtlCol="0" anchor="ctr"/>
          <a:lstStyle/>
          <a:p>
            <a:pPr indent="0" marL="0">
              <a:lnSpc>
                <a:spcPts val="1400"/>
              </a:lnSpc>
              <a:buNone/>
            </a:pPr>
            <a:r>
              <a:rPr lang="en-US" sz="1050" dirty="0">
                <a:solidFill>
                  <a:srgbClr val="B85042"/>
                </a:solidFill>
                <a:latin typeface="Calibri" pitchFamily="34" charset="0"/>
                <a:ea typeface="Calibri" pitchFamily="34" charset="-122"/>
                <a:cs typeface="Calibri" pitchFamily="34" charset="-120"/>
              </a:rPr>
              <a:t>Strip punctuation everywhere and you serve C answers to C++ questions — silently.</a:t>
            </a:r>
            <a:endParaRPr lang="en-US" sz="1050" dirty="0"/>
          </a:p>
        </p:txBody>
      </p:sp>
      <p:sp>
        <p:nvSpPr>
          <p:cNvPr id="32" name="Shape 30"/>
          <p:cNvSpPr/>
          <p:nvPr/>
        </p:nvSpPr>
        <p:spPr>
          <a:xfrm>
            <a:off x="6583680" y="5029200"/>
            <a:ext cx="5029200" cy="1298448"/>
          </a:xfrm>
          <a:prstGeom prst="roundRect">
            <a:avLst>
              <a:gd name="adj" fmla="val 4225"/>
            </a:avLst>
          </a:prstGeom>
          <a:solidFill>
            <a:srgbClr val="EEF4F4"/>
          </a:solidFill>
          <a:ln w="9525">
            <a:solidFill>
              <a:srgbClr val="D7E2E2"/>
            </a:solidFill>
            <a:prstDash val="solid"/>
          </a:ln>
        </p:spPr>
      </p:sp>
      <p:sp>
        <p:nvSpPr>
          <p:cNvPr id="33" name="Text 31"/>
          <p:cNvSpPr txBox="1"/>
          <p:nvPr/>
        </p:nvSpPr>
        <p:spPr>
          <a:xfrm>
            <a:off x="6839712" y="5157216"/>
            <a:ext cx="4572000" cy="274320"/>
          </a:xfrm>
          <a:prstGeom prst="rect">
            <a:avLst/>
          </a:prstGeom>
          <a:noFill/>
          <a:ln/>
        </p:spPr>
        <p:txBody>
          <a:bodyPr wrap="square" lIns="0" tIns="0" rIns="0" bIns="0" rtlCol="0" anchor="ctr"/>
          <a:lstStyle/>
          <a:p>
            <a:pPr indent="0" marL="0">
              <a:buNone/>
            </a:pPr>
            <a:r>
              <a:rPr lang="en-US" sz="1250" b="1" dirty="0">
                <a:solidFill>
                  <a:srgbClr val="10262B"/>
                </a:solidFill>
                <a:latin typeface="Calibri" pitchFamily="34" charset="0"/>
                <a:ea typeface="Calibri" pitchFamily="34" charset="-122"/>
                <a:cs typeface="Calibri" pitchFamily="34" charset="-120"/>
              </a:rPr>
              <a:t>One small file per entry — never one shared index</a:t>
            </a:r>
            <a:endParaRPr lang="en-US" sz="1250" dirty="0"/>
          </a:p>
        </p:txBody>
      </p:sp>
      <p:sp>
        <p:nvSpPr>
          <p:cNvPr id="34" name="Text 32"/>
          <p:cNvSpPr txBox="1"/>
          <p:nvPr/>
        </p:nvSpPr>
        <p:spPr>
          <a:xfrm>
            <a:off x="6839712" y="5440680"/>
            <a:ext cx="4526280" cy="777240"/>
          </a:xfrm>
          <a:prstGeom prst="rect">
            <a:avLst/>
          </a:prstGeom>
          <a:noFill/>
          <a:ln/>
        </p:spPr>
        <p:txBody>
          <a:bodyPr wrap="square" lIns="0" tIns="0" rIns="0" bIns="0" rtlCol="0" anchor="ctr"/>
          <a:lstStyle/>
          <a:p>
            <a:pPr indent="0" marL="0">
              <a:lnSpc>
                <a:spcPts val="1400"/>
              </a:lnSpc>
              <a:buNone/>
            </a:pPr>
            <a:r>
              <a:rPr lang="en-US" sz="1050" dirty="0">
                <a:solidFill>
                  <a:srgbClr val="5C6B6E"/>
                </a:solidFill>
                <a:latin typeface="Calibri" pitchFamily="34" charset="0"/>
                <a:ea typeface="Calibri" pitchFamily="34" charset="-122"/>
                <a:cs typeface="Calibri" pitchFamily="34" charset="-120"/>
              </a:rPr>
              <a:t>All three fetchers finish at once. Against a shared file the last writer would erase the others — a lost update. Separate files make that race impossible, so the cache needs no lock.</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MEMBER 3  ·  FARID</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Retries, and never blocking the loop</a:t>
            </a:r>
            <a:endParaRPr lang="en-US" sz="3400" dirty="0"/>
          </a:p>
        </p:txBody>
      </p:sp>
      <p:sp>
        <p:nvSpPr>
          <p:cNvPr id="4" name="Shape 2"/>
          <p:cNvSpPr/>
          <p:nvPr/>
        </p:nvSpPr>
        <p:spPr>
          <a:xfrm>
            <a:off x="566928" y="1463040"/>
            <a:ext cx="5669280" cy="1965960"/>
          </a:xfrm>
          <a:prstGeom prst="roundRect">
            <a:avLst>
              <a:gd name="adj" fmla="val 2791"/>
            </a:avLst>
          </a:prstGeom>
          <a:solidFill>
            <a:srgbClr val="10262B"/>
          </a:solidFill>
          <a:ln w="9525">
            <a:solidFill>
              <a:srgbClr val="D7E2E2"/>
            </a:solidFill>
            <a:prstDash val="solid"/>
          </a:ln>
        </p:spPr>
      </p:sp>
      <p:sp>
        <p:nvSpPr>
          <p:cNvPr id="5" name="Text 3"/>
          <p:cNvSpPr txBox="1"/>
          <p:nvPr/>
        </p:nvSpPr>
        <p:spPr>
          <a:xfrm>
            <a:off x="841248" y="1645920"/>
            <a:ext cx="5120640" cy="228600"/>
          </a:xfrm>
          <a:prstGeom prst="rect">
            <a:avLst/>
          </a:prstGeom>
          <a:noFill/>
          <a:ln/>
        </p:spPr>
        <p:txBody>
          <a:bodyPr wrap="square" lIns="0" tIns="0" rIns="0" bIns="0" rtlCol="0" anchor="ctr"/>
          <a:lstStyle/>
          <a:p>
            <a:pPr indent="0" marL="0">
              <a:buNone/>
            </a:pPr>
            <a:r>
              <a:rPr lang="en-US" sz="950" spc="150" kern="0" dirty="0">
                <a:solidFill>
                  <a:srgbClr val="02C39A"/>
                </a:solidFill>
                <a:latin typeface="Courier New" pitchFamily="34" charset="0"/>
                <a:ea typeface="Courier New" pitchFamily="34" charset="-122"/>
                <a:cs typeface="Courier New" pitchFamily="34" charset="-120"/>
              </a:rPr>
              <a:t>THE MOST EXPENSIVE MISTAKE AVAILABLE</a:t>
            </a:r>
            <a:endParaRPr lang="en-US" sz="950" dirty="0"/>
          </a:p>
        </p:txBody>
      </p:sp>
      <p:sp>
        <p:nvSpPr>
          <p:cNvPr id="6" name="Text 4"/>
          <p:cNvSpPr txBox="1"/>
          <p:nvPr/>
        </p:nvSpPr>
        <p:spPr>
          <a:xfrm>
            <a:off x="841248" y="1965960"/>
            <a:ext cx="5120640" cy="777240"/>
          </a:xfrm>
          <a:prstGeom prst="rect">
            <a:avLst/>
          </a:prstGeom>
          <a:noFill/>
          <a:ln/>
        </p:spPr>
        <p:txBody>
          <a:bodyPr wrap="square" lIns="0" tIns="0" rIns="0" bIns="0" rtlCol="0" anchor="ctr"/>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ai.synthesize is synchronous. Called directly it blocks the event loop for the whole LLM call and every other task stops.</a:t>
            </a:r>
            <a:endParaRPr lang="en-US" sz="1300" dirty="0"/>
          </a:p>
        </p:txBody>
      </p:sp>
      <p:sp>
        <p:nvSpPr>
          <p:cNvPr id="7" name="Text 5"/>
          <p:cNvSpPr txBox="1"/>
          <p:nvPr/>
        </p:nvSpPr>
        <p:spPr>
          <a:xfrm>
            <a:off x="841248" y="2788920"/>
            <a:ext cx="5120640" cy="292608"/>
          </a:xfrm>
          <a:prstGeom prst="rect">
            <a:avLst/>
          </a:prstGeom>
          <a:noFill/>
          <a:ln/>
        </p:spPr>
        <p:txBody>
          <a:bodyPr wrap="square" lIns="0" tIns="0" rIns="0" bIns="0" rtlCol="0" anchor="ctr"/>
          <a:lstStyle/>
          <a:p>
            <a:pPr indent="0" marL="0">
              <a:buNone/>
            </a:pPr>
            <a:r>
              <a:rPr lang="en-US" sz="1200" dirty="0">
                <a:solidFill>
                  <a:srgbClr val="02C39A"/>
                </a:solidFill>
                <a:latin typeface="Courier New" pitchFamily="34" charset="0"/>
                <a:ea typeface="Courier New" pitchFamily="34" charset="-122"/>
                <a:cs typeface="Courier New" pitchFamily="34" charset="-120"/>
              </a:rPr>
              <a:t>await asyncio.to_thread(synthesize, ...)</a:t>
            </a:r>
            <a:endParaRPr lang="en-US" sz="1200" dirty="0"/>
          </a:p>
        </p:txBody>
      </p:sp>
      <p:sp>
        <p:nvSpPr>
          <p:cNvPr id="8" name="Shape 6"/>
          <p:cNvSpPr/>
          <p:nvPr/>
        </p:nvSpPr>
        <p:spPr>
          <a:xfrm>
            <a:off x="566928" y="3611880"/>
            <a:ext cx="5669280" cy="576072"/>
          </a:xfrm>
          <a:prstGeom prst="roundRect">
            <a:avLst>
              <a:gd name="adj" fmla="val 9524"/>
            </a:avLst>
          </a:prstGeom>
          <a:solidFill>
            <a:srgbClr val="EEF4F4"/>
          </a:solidFill>
          <a:ln w="9525">
            <a:solidFill>
              <a:srgbClr val="D7E2E2"/>
            </a:solidFill>
            <a:prstDash val="solid"/>
          </a:ln>
        </p:spPr>
      </p:sp>
      <p:sp>
        <p:nvSpPr>
          <p:cNvPr id="9" name="Text 7"/>
          <p:cNvSpPr txBox="1"/>
          <p:nvPr/>
        </p:nvSpPr>
        <p:spPr>
          <a:xfrm>
            <a:off x="822960" y="3685032"/>
            <a:ext cx="2011680" cy="411480"/>
          </a:xfrm>
          <a:prstGeom prst="rect">
            <a:avLst/>
          </a:prstGeom>
          <a:noFill/>
          <a:ln/>
        </p:spPr>
        <p:txBody>
          <a:bodyPr wrap="square" lIns="0" tIns="0" rIns="0" bIns="0" rtlCol="0" anchor="ctr"/>
          <a:lstStyle/>
          <a:p>
            <a:pPr indent="0" marL="0">
              <a:lnSpc>
                <a:spcPts val="1400"/>
              </a:lnSpc>
              <a:buNone/>
            </a:pPr>
            <a:r>
              <a:rPr lang="en-US" sz="1150" b="1" dirty="0">
                <a:solidFill>
                  <a:srgbClr val="028090"/>
                </a:solidFill>
                <a:latin typeface="Calibri" pitchFamily="34" charset="0"/>
                <a:ea typeface="Calibri" pitchFamily="34" charset="-122"/>
                <a:cs typeface="Calibri" pitchFamily="34" charset="-120"/>
              </a:rPr>
              <a:t>One retry loop, two callers</a:t>
            </a:r>
            <a:endParaRPr lang="en-US" sz="1150" dirty="0"/>
          </a:p>
        </p:txBody>
      </p:sp>
      <p:sp>
        <p:nvSpPr>
          <p:cNvPr id="10" name="Text 8"/>
          <p:cNvSpPr txBox="1"/>
          <p:nvPr/>
        </p:nvSpPr>
        <p:spPr>
          <a:xfrm>
            <a:off x="2898648" y="3675888"/>
            <a:ext cx="3246120" cy="457200"/>
          </a:xfrm>
          <a:prstGeom prst="rect">
            <a:avLst/>
          </a:prstGeom>
          <a:noFill/>
          <a:ln/>
        </p:spPr>
        <p:txBody>
          <a:bodyPr wrap="square" lIns="0" tIns="0" rIns="0" bIns="0" rtlCol="0" anchor="ctr"/>
          <a:lstStyle/>
          <a:p>
            <a:pPr indent="0" marL="0">
              <a:lnSpc>
                <a:spcPts val="1200"/>
              </a:lnSpc>
              <a:buNone/>
            </a:pPr>
            <a:r>
              <a:rPr lang="en-US" sz="950" dirty="0">
                <a:solidFill>
                  <a:srgbClr val="5C6B6E"/>
                </a:solidFill>
                <a:latin typeface="Calibri" pitchFamily="34" charset="0"/>
                <a:ea typeface="Calibri" pitchFamily="34" charset="-122"/>
                <a:cs typeface="Calibri" pitchFamily="34" charset="-120"/>
              </a:rPr>
              <a:t>synthesis and every HTTP fetch share one policy instead of two that drift apart</a:t>
            </a:r>
            <a:endParaRPr lang="en-US" sz="950" dirty="0"/>
          </a:p>
        </p:txBody>
      </p:sp>
      <p:sp>
        <p:nvSpPr>
          <p:cNvPr id="11" name="Shape 9"/>
          <p:cNvSpPr/>
          <p:nvPr/>
        </p:nvSpPr>
        <p:spPr>
          <a:xfrm>
            <a:off x="566928" y="4297680"/>
            <a:ext cx="5669280" cy="576072"/>
          </a:xfrm>
          <a:prstGeom prst="roundRect">
            <a:avLst>
              <a:gd name="adj" fmla="val 9524"/>
            </a:avLst>
          </a:prstGeom>
          <a:solidFill>
            <a:srgbClr val="EEF4F4"/>
          </a:solidFill>
          <a:ln w="9525">
            <a:solidFill>
              <a:srgbClr val="D7E2E2"/>
            </a:solidFill>
            <a:prstDash val="solid"/>
          </a:ln>
        </p:spPr>
      </p:sp>
      <p:sp>
        <p:nvSpPr>
          <p:cNvPr id="12" name="Text 10"/>
          <p:cNvSpPr txBox="1"/>
          <p:nvPr/>
        </p:nvSpPr>
        <p:spPr>
          <a:xfrm>
            <a:off x="822960" y="4370832"/>
            <a:ext cx="2011680" cy="411480"/>
          </a:xfrm>
          <a:prstGeom prst="rect">
            <a:avLst/>
          </a:prstGeom>
          <a:noFill/>
          <a:ln/>
        </p:spPr>
        <p:txBody>
          <a:bodyPr wrap="square" lIns="0" tIns="0" rIns="0" bIns="0" rtlCol="0" anchor="ctr"/>
          <a:lstStyle/>
          <a:p>
            <a:pPr indent="0" marL="0">
              <a:lnSpc>
                <a:spcPts val="1400"/>
              </a:lnSpc>
              <a:buNone/>
            </a:pPr>
            <a:r>
              <a:rPr lang="en-US" sz="1150" b="1" dirty="0">
                <a:solidFill>
                  <a:srgbClr val="028090"/>
                </a:solidFill>
                <a:latin typeface="Calibri" pitchFamily="34" charset="0"/>
                <a:ea typeface="Calibri" pitchFamily="34" charset="-122"/>
                <a:cs typeface="Calibri" pitchFamily="34" charset="-120"/>
              </a:rPr>
              <a:t>Equal jitter backoff</a:t>
            </a:r>
            <a:endParaRPr lang="en-US" sz="1150" dirty="0"/>
          </a:p>
        </p:txBody>
      </p:sp>
      <p:sp>
        <p:nvSpPr>
          <p:cNvPr id="13" name="Text 11"/>
          <p:cNvSpPr txBox="1"/>
          <p:nvPr/>
        </p:nvSpPr>
        <p:spPr>
          <a:xfrm>
            <a:off x="2898648" y="4361688"/>
            <a:ext cx="3246120" cy="457200"/>
          </a:xfrm>
          <a:prstGeom prst="rect">
            <a:avLst/>
          </a:prstGeom>
          <a:noFill/>
          <a:ln/>
        </p:spPr>
        <p:txBody>
          <a:bodyPr wrap="square" lIns="0" tIns="0" rIns="0" bIns="0" rtlCol="0" anchor="ctr"/>
          <a:lstStyle/>
          <a:p>
            <a:pPr indent="0" marL="0">
              <a:lnSpc>
                <a:spcPts val="1200"/>
              </a:lnSpc>
              <a:buNone/>
            </a:pPr>
            <a:r>
              <a:rPr lang="en-US" sz="950" dirty="0">
                <a:solidFill>
                  <a:srgbClr val="5C6B6E"/>
                </a:solidFill>
                <a:latin typeface="Calibri" pitchFamily="34" charset="0"/>
                <a:ea typeface="Calibri" pitchFamily="34" charset="-122"/>
                <a:cs typeface="Calibri" pitchFamily="34" charset="-120"/>
              </a:rPr>
              <a:t>nominal/2 + random — exponential so we stop hammering, random so retries do not collide</a:t>
            </a:r>
            <a:endParaRPr lang="en-US" sz="950" dirty="0"/>
          </a:p>
        </p:txBody>
      </p:sp>
      <p:sp>
        <p:nvSpPr>
          <p:cNvPr id="14" name="Shape 12"/>
          <p:cNvSpPr/>
          <p:nvPr/>
        </p:nvSpPr>
        <p:spPr>
          <a:xfrm>
            <a:off x="566928" y="4983480"/>
            <a:ext cx="5669280" cy="576072"/>
          </a:xfrm>
          <a:prstGeom prst="roundRect">
            <a:avLst>
              <a:gd name="adj" fmla="val 9524"/>
            </a:avLst>
          </a:prstGeom>
          <a:solidFill>
            <a:srgbClr val="EEF4F4"/>
          </a:solidFill>
          <a:ln w="9525">
            <a:solidFill>
              <a:srgbClr val="D7E2E2"/>
            </a:solidFill>
            <a:prstDash val="solid"/>
          </a:ln>
        </p:spPr>
      </p:sp>
      <p:sp>
        <p:nvSpPr>
          <p:cNvPr id="15" name="Text 13"/>
          <p:cNvSpPr txBox="1"/>
          <p:nvPr/>
        </p:nvSpPr>
        <p:spPr>
          <a:xfrm>
            <a:off x="822960" y="5056632"/>
            <a:ext cx="2011680" cy="411480"/>
          </a:xfrm>
          <a:prstGeom prst="rect">
            <a:avLst/>
          </a:prstGeom>
          <a:noFill/>
          <a:ln/>
        </p:spPr>
        <p:txBody>
          <a:bodyPr wrap="square" lIns="0" tIns="0" rIns="0" bIns="0" rtlCol="0" anchor="ctr"/>
          <a:lstStyle/>
          <a:p>
            <a:pPr indent="0" marL="0">
              <a:lnSpc>
                <a:spcPts val="1400"/>
              </a:lnSpc>
              <a:buNone/>
            </a:pPr>
            <a:r>
              <a:rPr lang="en-US" sz="1150" b="1" dirty="0">
                <a:solidFill>
                  <a:srgbClr val="028090"/>
                </a:solidFill>
                <a:latin typeface="Calibri" pitchFamily="34" charset="0"/>
                <a:ea typeface="Calibri" pitchFamily="34" charset="-122"/>
                <a:cs typeface="Calibri" pitchFamily="34" charset="-120"/>
              </a:rPr>
              <a:t>Retry only what can pass</a:t>
            </a:r>
            <a:endParaRPr lang="en-US" sz="1150" dirty="0"/>
          </a:p>
        </p:txBody>
      </p:sp>
      <p:sp>
        <p:nvSpPr>
          <p:cNvPr id="16" name="Text 14"/>
          <p:cNvSpPr txBox="1"/>
          <p:nvPr/>
        </p:nvSpPr>
        <p:spPr>
          <a:xfrm>
            <a:off x="2898648" y="5047488"/>
            <a:ext cx="3246120" cy="457200"/>
          </a:xfrm>
          <a:prstGeom prst="rect">
            <a:avLst/>
          </a:prstGeom>
          <a:noFill/>
          <a:ln/>
        </p:spPr>
        <p:txBody>
          <a:bodyPr wrap="square" lIns="0" tIns="0" rIns="0" bIns="0" rtlCol="0" anchor="ctr"/>
          <a:lstStyle/>
          <a:p>
            <a:pPr indent="0" marL="0">
              <a:lnSpc>
                <a:spcPts val="1200"/>
              </a:lnSpc>
              <a:buNone/>
            </a:pPr>
            <a:r>
              <a:rPr lang="en-US" sz="950" dirty="0">
                <a:solidFill>
                  <a:srgbClr val="5C6B6E"/>
                </a:solidFill>
                <a:latin typeface="Calibri" pitchFamily="34" charset="0"/>
                <a:ea typeface="Calibri" pitchFamily="34" charset="-122"/>
                <a:cs typeface="Calibri" pitchFamily="34" charset="-120"/>
              </a:rPr>
              <a:t>429, 5xx and dropped connections retry; a 404, a bad key or an empty question fail at once</a:t>
            </a:r>
            <a:endParaRPr lang="en-US" sz="950" dirty="0"/>
          </a:p>
        </p:txBody>
      </p:sp>
      <p:sp>
        <p:nvSpPr>
          <p:cNvPr id="17" name="Shape 15"/>
          <p:cNvSpPr/>
          <p:nvPr/>
        </p:nvSpPr>
        <p:spPr>
          <a:xfrm>
            <a:off x="566928" y="5669280"/>
            <a:ext cx="5669280" cy="576072"/>
          </a:xfrm>
          <a:prstGeom prst="roundRect">
            <a:avLst>
              <a:gd name="adj" fmla="val 9524"/>
            </a:avLst>
          </a:prstGeom>
          <a:solidFill>
            <a:srgbClr val="EEF4F4"/>
          </a:solidFill>
          <a:ln w="9525">
            <a:solidFill>
              <a:srgbClr val="D7E2E2"/>
            </a:solidFill>
            <a:prstDash val="solid"/>
          </a:ln>
        </p:spPr>
      </p:sp>
      <p:sp>
        <p:nvSpPr>
          <p:cNvPr id="18" name="Text 16"/>
          <p:cNvSpPr txBox="1"/>
          <p:nvPr/>
        </p:nvSpPr>
        <p:spPr>
          <a:xfrm>
            <a:off x="822960" y="5742432"/>
            <a:ext cx="2011680" cy="411480"/>
          </a:xfrm>
          <a:prstGeom prst="rect">
            <a:avLst/>
          </a:prstGeom>
          <a:noFill/>
          <a:ln/>
        </p:spPr>
        <p:txBody>
          <a:bodyPr wrap="square" lIns="0" tIns="0" rIns="0" bIns="0" rtlCol="0" anchor="ctr"/>
          <a:lstStyle/>
          <a:p>
            <a:pPr indent="0" marL="0">
              <a:lnSpc>
                <a:spcPts val="1400"/>
              </a:lnSpc>
              <a:buNone/>
            </a:pPr>
            <a:r>
              <a:rPr lang="en-US" sz="1150" b="1" dirty="0">
                <a:solidFill>
                  <a:srgbClr val="028090"/>
                </a:solidFill>
                <a:latin typeface="Calibri" pitchFamily="34" charset="0"/>
                <a:ea typeface="Calibri" pitchFamily="34" charset="-122"/>
                <a:cs typeface="Calibri" pitchFamily="34" charset="-120"/>
              </a:rPr>
              <a:t>A factory, not a coroutine</a:t>
            </a:r>
            <a:endParaRPr lang="en-US" sz="1150" dirty="0"/>
          </a:p>
        </p:txBody>
      </p:sp>
      <p:sp>
        <p:nvSpPr>
          <p:cNvPr id="19" name="Text 17"/>
          <p:cNvSpPr txBox="1"/>
          <p:nvPr/>
        </p:nvSpPr>
        <p:spPr>
          <a:xfrm>
            <a:off x="2898648" y="5733288"/>
            <a:ext cx="3246120" cy="457200"/>
          </a:xfrm>
          <a:prstGeom prst="rect">
            <a:avLst/>
          </a:prstGeom>
          <a:noFill/>
          <a:ln/>
        </p:spPr>
        <p:txBody>
          <a:bodyPr wrap="square" lIns="0" tIns="0" rIns="0" bIns="0" rtlCol="0" anchor="ctr"/>
          <a:lstStyle/>
          <a:p>
            <a:pPr indent="0" marL="0">
              <a:lnSpc>
                <a:spcPts val="1200"/>
              </a:lnSpc>
              <a:buNone/>
            </a:pPr>
            <a:r>
              <a:rPr lang="en-US" sz="950" dirty="0">
                <a:solidFill>
                  <a:srgbClr val="5C6B6E"/>
                </a:solidFill>
                <a:latin typeface="Calibri" pitchFamily="34" charset="0"/>
                <a:ea typeface="Calibri" pitchFamily="34" charset="-122"/>
                <a:cs typeface="Calibri" pitchFamily="34" charset="-120"/>
              </a:rPr>
              <a:t>a coroutine can only be awaited once, so each attempt builds a fresh one</a:t>
            </a:r>
            <a:endParaRPr lang="en-US" sz="950" dirty="0"/>
          </a:p>
        </p:txBody>
      </p:sp>
      <p:sp>
        <p:nvSpPr>
          <p:cNvPr id="20" name="Text 18"/>
          <p:cNvSpPr txBox="1"/>
          <p:nvPr/>
        </p:nvSpPr>
        <p:spPr>
          <a:xfrm>
            <a:off x="6675120" y="1463040"/>
            <a:ext cx="4572000" cy="228600"/>
          </a:xfrm>
          <a:prstGeom prst="rect">
            <a:avLst/>
          </a:prstGeom>
          <a:noFill/>
          <a:ln/>
        </p:spPr>
        <p:txBody>
          <a:bodyPr wrap="square" lIns="0" tIns="0" rIns="0" bIns="0" rtlCol="0" anchor="ctr"/>
          <a:lstStyle/>
          <a:p>
            <a:pPr indent="0" marL="0">
              <a:buNone/>
            </a:pPr>
            <a:r>
              <a:rPr lang="en-US" sz="950" spc="150" kern="0" dirty="0">
                <a:solidFill>
                  <a:srgbClr val="028090"/>
                </a:solidFill>
                <a:latin typeface="Courier New" pitchFamily="34" charset="0"/>
                <a:ea typeface="Courier New" pitchFamily="34" charset="-122"/>
                <a:cs typeface="Courier New" pitchFamily="34" charset="-120"/>
              </a:rPr>
              <a:t>THE REST OF THE SLICE</a:t>
            </a:r>
            <a:endParaRPr lang="en-US" sz="950" dirty="0"/>
          </a:p>
        </p:txBody>
      </p:sp>
      <p:sp>
        <p:nvSpPr>
          <p:cNvPr id="21" name="Shape 19"/>
          <p:cNvSpPr/>
          <p:nvPr/>
        </p:nvSpPr>
        <p:spPr>
          <a:xfrm>
            <a:off x="6675120" y="1810512"/>
            <a:ext cx="4937760" cy="1005840"/>
          </a:xfrm>
          <a:prstGeom prst="roundRect">
            <a:avLst>
              <a:gd name="adj" fmla="val 5455"/>
            </a:avLst>
          </a:prstGeom>
          <a:solidFill>
            <a:srgbClr val="EEF4F4"/>
          </a:solidFill>
          <a:ln w="9525">
            <a:solidFill>
              <a:srgbClr val="D7E2E2"/>
            </a:solidFill>
            <a:prstDash val="solid"/>
          </a:ln>
        </p:spPr>
      </p:sp>
      <p:sp>
        <p:nvSpPr>
          <p:cNvPr id="22" name="Text 20"/>
          <p:cNvSpPr txBox="1"/>
          <p:nvPr/>
        </p:nvSpPr>
        <p:spPr>
          <a:xfrm>
            <a:off x="6931152" y="1920240"/>
            <a:ext cx="4572000" cy="256032"/>
          </a:xfrm>
          <a:prstGeom prst="rect">
            <a:avLst/>
          </a:prstGeom>
          <a:noFill/>
          <a:ln/>
        </p:spPr>
        <p:txBody>
          <a:bodyPr wrap="square" lIns="0" tIns="0" rIns="0" bIns="0" rtlCol="0" anchor="ctr"/>
          <a:lstStyle/>
          <a:p>
            <a:pPr indent="0" marL="0">
              <a:buNone/>
            </a:pPr>
            <a:r>
              <a:rPr lang="en-US" sz="1150" b="1" dirty="0">
                <a:solidFill>
                  <a:srgbClr val="10262B"/>
                </a:solidFill>
                <a:latin typeface="Courier New" pitchFamily="34" charset="0"/>
                <a:ea typeface="Courier New" pitchFamily="34" charset="-122"/>
                <a:cs typeface="Courier New" pitchFamily="34" charset="-120"/>
              </a:rPr>
              <a:t>core/researcher.py</a:t>
            </a:r>
            <a:endParaRPr lang="en-US" sz="1150" dirty="0"/>
          </a:p>
        </p:txBody>
      </p:sp>
      <p:sp>
        <p:nvSpPr>
          <p:cNvPr id="23" name="Text 21"/>
          <p:cNvSpPr txBox="1"/>
          <p:nvPr/>
        </p:nvSpPr>
        <p:spPr>
          <a:xfrm>
            <a:off x="6931152" y="2212848"/>
            <a:ext cx="4480560" cy="548640"/>
          </a:xfrm>
          <a:prstGeom prst="rect">
            <a:avLst/>
          </a:prstGeom>
          <a:noFill/>
          <a:ln/>
        </p:spPr>
        <p:txBody>
          <a:bodyPr wrap="square" lIns="0" tIns="0" rIns="0" bIns="0" rtlCol="0" anchor="ctr"/>
          <a:lstStyle/>
          <a:p>
            <a:pPr indent="0" marL="0">
              <a:lnSpc>
                <a:spcPts val="1500"/>
              </a:lnSpc>
              <a:buNone/>
            </a:pPr>
            <a:r>
              <a:rPr lang="en-US" sz="1100" dirty="0">
                <a:solidFill>
                  <a:srgbClr val="5C6B6E"/>
                </a:solidFill>
                <a:latin typeface="Calibri" pitchFamily="34" charset="0"/>
                <a:ea typeface="Calibri" pitchFamily="34" charset="-122"/>
                <a:cs typeface="Calibri" pitchFamily="34" charset="-120"/>
              </a:rPr>
              <a:t>cache → fetch misses → synthesise → assemble, with timing and failed sources recorded</a:t>
            </a:r>
            <a:endParaRPr lang="en-US" sz="1100" dirty="0"/>
          </a:p>
        </p:txBody>
      </p:sp>
      <p:sp>
        <p:nvSpPr>
          <p:cNvPr id="24" name="Shape 22"/>
          <p:cNvSpPr/>
          <p:nvPr/>
        </p:nvSpPr>
        <p:spPr>
          <a:xfrm>
            <a:off x="6675120" y="2944368"/>
            <a:ext cx="4937760" cy="1005840"/>
          </a:xfrm>
          <a:prstGeom prst="roundRect">
            <a:avLst>
              <a:gd name="adj" fmla="val 5455"/>
            </a:avLst>
          </a:prstGeom>
          <a:solidFill>
            <a:srgbClr val="EEF4F4"/>
          </a:solidFill>
          <a:ln w="9525">
            <a:solidFill>
              <a:srgbClr val="D7E2E2"/>
            </a:solidFill>
            <a:prstDash val="solid"/>
          </a:ln>
        </p:spPr>
      </p:sp>
      <p:sp>
        <p:nvSpPr>
          <p:cNvPr id="25" name="Text 23"/>
          <p:cNvSpPr txBox="1"/>
          <p:nvPr/>
        </p:nvSpPr>
        <p:spPr>
          <a:xfrm>
            <a:off x="6931152" y="3054096"/>
            <a:ext cx="4572000" cy="256032"/>
          </a:xfrm>
          <a:prstGeom prst="rect">
            <a:avLst/>
          </a:prstGeom>
          <a:noFill/>
          <a:ln/>
        </p:spPr>
        <p:txBody>
          <a:bodyPr wrap="square" lIns="0" tIns="0" rIns="0" bIns="0" rtlCol="0" anchor="ctr"/>
          <a:lstStyle/>
          <a:p>
            <a:pPr indent="0" marL="0">
              <a:buNone/>
            </a:pPr>
            <a:r>
              <a:rPr lang="en-US" sz="1150" b="1" dirty="0">
                <a:solidFill>
                  <a:srgbClr val="10262B"/>
                </a:solidFill>
                <a:latin typeface="Courier New" pitchFamily="34" charset="0"/>
                <a:ea typeface="Courier New" pitchFamily="34" charset="-122"/>
                <a:cs typeface="Courier New" pitchFamily="34" charset="-120"/>
              </a:rPr>
              <a:t>cli.py</a:t>
            </a:r>
            <a:endParaRPr lang="en-US" sz="1150" dirty="0"/>
          </a:p>
        </p:txBody>
      </p:sp>
      <p:sp>
        <p:nvSpPr>
          <p:cNvPr id="26" name="Text 24"/>
          <p:cNvSpPr txBox="1"/>
          <p:nvPr/>
        </p:nvSpPr>
        <p:spPr>
          <a:xfrm>
            <a:off x="6931152" y="3346704"/>
            <a:ext cx="4480560" cy="548640"/>
          </a:xfrm>
          <a:prstGeom prst="rect">
            <a:avLst/>
          </a:prstGeom>
          <a:noFill/>
          <a:ln/>
        </p:spPr>
        <p:txBody>
          <a:bodyPr wrap="square" lIns="0" tIns="0" rIns="0" bIns="0" rtlCol="0" anchor="ctr"/>
          <a:lstStyle/>
          <a:p>
            <a:pPr indent="0" marL="0">
              <a:lnSpc>
                <a:spcPts val="1500"/>
              </a:lnSpc>
              <a:buNone/>
            </a:pPr>
            <a:r>
              <a:rPr lang="en-US" sz="1100" dirty="0">
                <a:solidFill>
                  <a:srgbClr val="5C6B6E"/>
                </a:solidFill>
                <a:latin typeface="Calibri" pitchFamily="34" charset="0"/>
                <a:ea typeface="Calibri" pitchFamily="34" charset="-122"/>
                <a:cs typeface="Calibri" pitchFamily="34" charset="-120"/>
              </a:rPr>
              <a:t>the composition root: settings, logging, the shared client, and which cache to use</a:t>
            </a:r>
            <a:endParaRPr lang="en-US" sz="1100" dirty="0"/>
          </a:p>
        </p:txBody>
      </p:sp>
      <p:sp>
        <p:nvSpPr>
          <p:cNvPr id="27" name="Shape 25"/>
          <p:cNvSpPr/>
          <p:nvPr/>
        </p:nvSpPr>
        <p:spPr>
          <a:xfrm>
            <a:off x="6675120" y="4078224"/>
            <a:ext cx="4937760" cy="1005840"/>
          </a:xfrm>
          <a:prstGeom prst="roundRect">
            <a:avLst>
              <a:gd name="adj" fmla="val 5455"/>
            </a:avLst>
          </a:prstGeom>
          <a:solidFill>
            <a:srgbClr val="EEF4F4"/>
          </a:solidFill>
          <a:ln w="9525">
            <a:solidFill>
              <a:srgbClr val="D7E2E2"/>
            </a:solidFill>
            <a:prstDash val="solid"/>
          </a:ln>
        </p:spPr>
      </p:sp>
      <p:sp>
        <p:nvSpPr>
          <p:cNvPr id="28" name="Text 26"/>
          <p:cNvSpPr txBox="1"/>
          <p:nvPr/>
        </p:nvSpPr>
        <p:spPr>
          <a:xfrm>
            <a:off x="6931152" y="4187952"/>
            <a:ext cx="4572000" cy="256032"/>
          </a:xfrm>
          <a:prstGeom prst="rect">
            <a:avLst/>
          </a:prstGeom>
          <a:noFill/>
          <a:ln/>
        </p:spPr>
        <p:txBody>
          <a:bodyPr wrap="square" lIns="0" tIns="0" rIns="0" bIns="0" rtlCol="0" anchor="ctr"/>
          <a:lstStyle/>
          <a:p>
            <a:pPr indent="0" marL="0">
              <a:buNone/>
            </a:pPr>
            <a:r>
              <a:rPr lang="en-US" sz="1150" b="1" dirty="0">
                <a:solidFill>
                  <a:srgbClr val="10262B"/>
                </a:solidFill>
                <a:latin typeface="Courier New" pitchFamily="34" charset="0"/>
                <a:ea typeface="Courier New" pitchFamily="34" charset="-122"/>
                <a:cs typeface="Courier New" pitchFamily="34" charset="-120"/>
              </a:rPr>
              <a:t>--no-cache</a:t>
            </a:r>
            <a:endParaRPr lang="en-US" sz="1150" dirty="0"/>
          </a:p>
        </p:txBody>
      </p:sp>
      <p:sp>
        <p:nvSpPr>
          <p:cNvPr id="29" name="Text 27"/>
          <p:cNvSpPr txBox="1"/>
          <p:nvPr/>
        </p:nvSpPr>
        <p:spPr>
          <a:xfrm>
            <a:off x="6931152" y="4480560"/>
            <a:ext cx="4480560" cy="548640"/>
          </a:xfrm>
          <a:prstGeom prst="rect">
            <a:avLst/>
          </a:prstGeom>
          <a:noFill/>
          <a:ln/>
        </p:spPr>
        <p:txBody>
          <a:bodyPr wrap="square" lIns="0" tIns="0" rIns="0" bIns="0" rtlCol="0" anchor="ctr"/>
          <a:lstStyle/>
          <a:p>
            <a:pPr indent="0" marL="0">
              <a:lnSpc>
                <a:spcPts val="1500"/>
              </a:lnSpc>
              <a:buNone/>
            </a:pPr>
            <a:r>
              <a:rPr lang="en-US" sz="1100" dirty="0">
                <a:solidFill>
                  <a:srgbClr val="5C6B6E"/>
                </a:solidFill>
                <a:latin typeface="Calibri" pitchFamily="34" charset="0"/>
                <a:ea typeface="Calibri" pitchFamily="34" charset="-122"/>
                <a:cs typeface="Calibri" pitchFamily="34" charset="-120"/>
              </a:rPr>
              <a:t>a cache object that stores nothing, so no branch exists below the CLI</a:t>
            </a:r>
            <a:endParaRPr lang="en-US" sz="1100" dirty="0"/>
          </a:p>
        </p:txBody>
      </p:sp>
      <p:sp>
        <p:nvSpPr>
          <p:cNvPr id="30" name="Shape 28"/>
          <p:cNvSpPr/>
          <p:nvPr/>
        </p:nvSpPr>
        <p:spPr>
          <a:xfrm>
            <a:off x="6675120" y="5212080"/>
            <a:ext cx="4937760" cy="1005840"/>
          </a:xfrm>
          <a:prstGeom prst="roundRect">
            <a:avLst>
              <a:gd name="adj" fmla="val 5455"/>
            </a:avLst>
          </a:prstGeom>
          <a:solidFill>
            <a:srgbClr val="EEF4F4"/>
          </a:solidFill>
          <a:ln w="9525">
            <a:solidFill>
              <a:srgbClr val="D7E2E2"/>
            </a:solidFill>
            <a:prstDash val="solid"/>
          </a:ln>
        </p:spPr>
      </p:sp>
      <p:sp>
        <p:nvSpPr>
          <p:cNvPr id="31" name="Text 29"/>
          <p:cNvSpPr txBox="1"/>
          <p:nvPr/>
        </p:nvSpPr>
        <p:spPr>
          <a:xfrm>
            <a:off x="6931152" y="5321808"/>
            <a:ext cx="4572000" cy="256032"/>
          </a:xfrm>
          <a:prstGeom prst="rect">
            <a:avLst/>
          </a:prstGeom>
          <a:noFill/>
          <a:ln/>
        </p:spPr>
        <p:txBody>
          <a:bodyPr wrap="square" lIns="0" tIns="0" rIns="0" bIns="0" rtlCol="0" anchor="ctr"/>
          <a:lstStyle/>
          <a:p>
            <a:pPr indent="0" marL="0">
              <a:buNone/>
            </a:pPr>
            <a:r>
              <a:rPr lang="en-US" sz="1150" b="1" dirty="0">
                <a:solidFill>
                  <a:srgbClr val="10262B"/>
                </a:solidFill>
                <a:latin typeface="Courier New" pitchFamily="34" charset="0"/>
                <a:ea typeface="Courier New" pitchFamily="34" charset="-122"/>
                <a:cs typeface="Courier New" pitchFamily="34" charset="-120"/>
              </a:rPr>
              <a:t>load_dotenv() first</a:t>
            </a:r>
            <a:endParaRPr lang="en-US" sz="1150" dirty="0"/>
          </a:p>
        </p:txBody>
      </p:sp>
      <p:sp>
        <p:nvSpPr>
          <p:cNvPr id="32" name="Text 30"/>
          <p:cNvSpPr txBox="1"/>
          <p:nvPr/>
        </p:nvSpPr>
        <p:spPr>
          <a:xfrm>
            <a:off x="6931152" y="5614416"/>
            <a:ext cx="4480560" cy="548640"/>
          </a:xfrm>
          <a:prstGeom prst="rect">
            <a:avLst/>
          </a:prstGeom>
          <a:noFill/>
          <a:ln/>
        </p:spPr>
        <p:txBody>
          <a:bodyPr wrap="square" lIns="0" tIns="0" rIns="0" bIns="0" rtlCol="0" anchor="ctr"/>
          <a:lstStyle/>
          <a:p>
            <a:pPr indent="0" marL="0">
              <a:lnSpc>
                <a:spcPts val="1500"/>
              </a:lnSpc>
              <a:buNone/>
            </a:pPr>
            <a:r>
              <a:rPr lang="en-US" sz="1100" dirty="0">
                <a:solidFill>
                  <a:srgbClr val="5C6B6E"/>
                </a:solidFill>
                <a:latin typeface="Calibri" pitchFamily="34" charset="0"/>
                <a:ea typeface="Calibri" pitchFamily="34" charset="-122"/>
                <a:cs typeface="Calibri" pitchFamily="34" charset="-120"/>
              </a:rPr>
              <a:t>pydantic-settings does not export to the environment, and ai/ reads os.getenv</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RESULTS</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Sequential vs concurrent</a:t>
            </a:r>
            <a:endParaRPr lang="en-US" sz="3400" dirty="0"/>
          </a:p>
        </p:txBody>
      </p:sp>
      <p:sp>
        <p:nvSpPr>
          <p:cNvPr id="4" name="Text 2"/>
          <p:cNvSpPr txBox="1"/>
          <p:nvPr/>
        </p:nvSpPr>
        <p:spPr>
          <a:xfrm>
            <a:off x="566928" y="1508760"/>
            <a:ext cx="7315200" cy="228600"/>
          </a:xfrm>
          <a:prstGeom prst="rect">
            <a:avLst/>
          </a:prstGeom>
          <a:noFill/>
          <a:ln/>
        </p:spPr>
        <p:txBody>
          <a:bodyPr wrap="square" lIns="0" tIns="0" rIns="0" bIns="0" rtlCol="0" anchor="ctr"/>
          <a:lstStyle/>
          <a:p>
            <a:pPr indent="0" marL="0">
              <a:buNone/>
            </a:pPr>
            <a:r>
              <a:rPr lang="en-US" sz="1000" spc="120" kern="0" dirty="0">
                <a:solidFill>
                  <a:srgbClr val="5C6B6E"/>
                </a:solidFill>
                <a:latin typeface="Courier New" pitchFamily="34" charset="0"/>
                <a:ea typeface="Courier New" pitchFamily="34" charset="-122"/>
                <a:cs typeface="Courier New" pitchFamily="34" charset="-120"/>
              </a:rPr>
              <a:t>SEQUENTIAL — YOU WAIT FOR ALL THREE ADDED UP</a:t>
            </a:r>
            <a:endParaRPr lang="en-US" sz="1000" dirty="0"/>
          </a:p>
        </p:txBody>
      </p:sp>
      <p:sp>
        <p:nvSpPr>
          <p:cNvPr id="5" name="Shape 3"/>
          <p:cNvSpPr/>
          <p:nvPr/>
        </p:nvSpPr>
        <p:spPr>
          <a:xfrm>
            <a:off x="566928" y="1810512"/>
            <a:ext cx="1325880" cy="384048"/>
          </a:xfrm>
          <a:prstGeom prst="rect">
            <a:avLst/>
          </a:prstGeom>
          <a:solidFill>
            <a:srgbClr val="DDE6E6"/>
          </a:solidFill>
          <a:ln w="9525">
            <a:solidFill>
              <a:srgbClr val="5C6B6E"/>
            </a:solidFill>
            <a:prstDash val="solid"/>
          </a:ln>
        </p:spPr>
      </p:sp>
      <p:sp>
        <p:nvSpPr>
          <p:cNvPr id="6" name="Text 4"/>
          <p:cNvSpPr txBox="1"/>
          <p:nvPr/>
        </p:nvSpPr>
        <p:spPr>
          <a:xfrm>
            <a:off x="566928" y="1883664"/>
            <a:ext cx="1325880" cy="256032"/>
          </a:xfrm>
          <a:prstGeom prst="rect">
            <a:avLst/>
          </a:prstGeom>
          <a:noFill/>
          <a:ln/>
        </p:spPr>
        <p:txBody>
          <a:bodyPr wrap="square" lIns="0" tIns="0" rIns="0" bIns="0" rtlCol="0" anchor="ctr"/>
          <a:lstStyle/>
          <a:p>
            <a:pPr algn="ctr" indent="0" marL="0">
              <a:buNone/>
            </a:pPr>
            <a:r>
              <a:rPr lang="en-US" sz="1100" dirty="0">
                <a:solidFill>
                  <a:srgbClr val="10262B"/>
                </a:solidFill>
                <a:latin typeface="Calibri" pitchFamily="34" charset="0"/>
                <a:ea typeface="Calibri" pitchFamily="34" charset="-122"/>
                <a:cs typeface="Calibri" pitchFamily="34" charset="-120"/>
              </a:rPr>
              <a:t>wikipedia</a:t>
            </a:r>
            <a:endParaRPr lang="en-US" sz="1100" dirty="0"/>
          </a:p>
        </p:txBody>
      </p:sp>
      <p:sp>
        <p:nvSpPr>
          <p:cNvPr id="7" name="Shape 5"/>
          <p:cNvSpPr/>
          <p:nvPr/>
        </p:nvSpPr>
        <p:spPr>
          <a:xfrm>
            <a:off x="1929384" y="1810512"/>
            <a:ext cx="1828800" cy="384048"/>
          </a:xfrm>
          <a:prstGeom prst="rect">
            <a:avLst/>
          </a:prstGeom>
          <a:solidFill>
            <a:srgbClr val="DDE6E6"/>
          </a:solidFill>
          <a:ln w="9525">
            <a:solidFill>
              <a:srgbClr val="5C6B6E"/>
            </a:solidFill>
            <a:prstDash val="solid"/>
          </a:ln>
        </p:spPr>
      </p:sp>
      <p:sp>
        <p:nvSpPr>
          <p:cNvPr id="8" name="Text 6"/>
          <p:cNvSpPr txBox="1"/>
          <p:nvPr/>
        </p:nvSpPr>
        <p:spPr>
          <a:xfrm>
            <a:off x="1929384" y="1883664"/>
            <a:ext cx="1828800" cy="256032"/>
          </a:xfrm>
          <a:prstGeom prst="rect">
            <a:avLst/>
          </a:prstGeom>
          <a:noFill/>
          <a:ln/>
        </p:spPr>
        <p:txBody>
          <a:bodyPr wrap="square" lIns="0" tIns="0" rIns="0" bIns="0" rtlCol="0" anchor="ctr"/>
          <a:lstStyle/>
          <a:p>
            <a:pPr algn="ctr" indent="0" marL="0">
              <a:buNone/>
            </a:pPr>
            <a:r>
              <a:rPr lang="en-US" sz="1100" dirty="0">
                <a:solidFill>
                  <a:srgbClr val="10262B"/>
                </a:solidFill>
                <a:latin typeface="Calibri" pitchFamily="34" charset="0"/>
                <a:ea typeface="Calibri" pitchFamily="34" charset="-122"/>
                <a:cs typeface="Calibri" pitchFamily="34" charset="-120"/>
              </a:rPr>
              <a:t>arxiv</a:t>
            </a:r>
            <a:endParaRPr lang="en-US" sz="1100" dirty="0"/>
          </a:p>
        </p:txBody>
      </p:sp>
      <p:sp>
        <p:nvSpPr>
          <p:cNvPr id="9" name="Shape 7"/>
          <p:cNvSpPr/>
          <p:nvPr/>
        </p:nvSpPr>
        <p:spPr>
          <a:xfrm>
            <a:off x="3794760" y="1810512"/>
            <a:ext cx="1051560" cy="384048"/>
          </a:xfrm>
          <a:prstGeom prst="rect">
            <a:avLst/>
          </a:prstGeom>
          <a:solidFill>
            <a:srgbClr val="DDE6E6"/>
          </a:solidFill>
          <a:ln w="9525">
            <a:solidFill>
              <a:srgbClr val="5C6B6E"/>
            </a:solidFill>
            <a:prstDash val="solid"/>
          </a:ln>
        </p:spPr>
      </p:sp>
      <p:sp>
        <p:nvSpPr>
          <p:cNvPr id="10" name="Text 8"/>
          <p:cNvSpPr txBox="1"/>
          <p:nvPr/>
        </p:nvSpPr>
        <p:spPr>
          <a:xfrm>
            <a:off x="3794760" y="1883664"/>
            <a:ext cx="1051560" cy="256032"/>
          </a:xfrm>
          <a:prstGeom prst="rect">
            <a:avLst/>
          </a:prstGeom>
          <a:noFill/>
          <a:ln/>
        </p:spPr>
        <p:txBody>
          <a:bodyPr wrap="square" lIns="0" tIns="0" rIns="0" bIns="0" rtlCol="0" anchor="ctr"/>
          <a:lstStyle/>
          <a:p>
            <a:pPr algn="ctr" indent="0" marL="0">
              <a:buNone/>
            </a:pPr>
            <a:r>
              <a:rPr lang="en-US" sz="1100" dirty="0">
                <a:solidFill>
                  <a:srgbClr val="10262B"/>
                </a:solidFill>
                <a:latin typeface="Calibri" pitchFamily="34" charset="0"/>
                <a:ea typeface="Calibri" pitchFamily="34" charset="-122"/>
                <a:cs typeface="Calibri" pitchFamily="34" charset="-120"/>
              </a:rPr>
              <a:t>web</a:t>
            </a:r>
            <a:endParaRPr lang="en-US" sz="1100" dirty="0"/>
          </a:p>
        </p:txBody>
      </p:sp>
      <p:sp>
        <p:nvSpPr>
          <p:cNvPr id="11" name="Shape 9"/>
          <p:cNvSpPr/>
          <p:nvPr/>
        </p:nvSpPr>
        <p:spPr>
          <a:xfrm>
            <a:off x="4882896" y="1719072"/>
            <a:ext cx="0" cy="566928"/>
          </a:xfrm>
          <a:prstGeom prst="line">
            <a:avLst/>
          </a:prstGeom>
          <a:noFill/>
          <a:ln w="12700">
            <a:solidFill>
              <a:srgbClr val="5C6B6E"/>
            </a:solidFill>
            <a:prstDash val="dash"/>
          </a:ln>
        </p:spPr>
      </p:sp>
      <p:sp>
        <p:nvSpPr>
          <p:cNvPr id="12" name="Text 10"/>
          <p:cNvSpPr txBox="1"/>
          <p:nvPr/>
        </p:nvSpPr>
        <p:spPr>
          <a:xfrm>
            <a:off x="4974336" y="1883664"/>
            <a:ext cx="914400" cy="256032"/>
          </a:xfrm>
          <a:prstGeom prst="rect">
            <a:avLst/>
          </a:prstGeom>
          <a:noFill/>
          <a:ln/>
        </p:spPr>
        <p:txBody>
          <a:bodyPr wrap="square" lIns="0" tIns="0" rIns="0" bIns="0" rtlCol="0" anchor="ctr"/>
          <a:lstStyle/>
          <a:p>
            <a:pPr indent="0" marL="0">
              <a:buNone/>
            </a:pPr>
            <a:r>
              <a:rPr lang="en-US" sz="1050" dirty="0">
                <a:solidFill>
                  <a:srgbClr val="5C6B6E"/>
                </a:solidFill>
                <a:latin typeface="Calibri" pitchFamily="34" charset="0"/>
                <a:ea typeface="Calibri" pitchFamily="34" charset="-122"/>
                <a:cs typeface="Calibri" pitchFamily="34" charset="-120"/>
              </a:rPr>
              <a:t>done</a:t>
            </a:r>
            <a:endParaRPr lang="en-US" sz="1050" dirty="0"/>
          </a:p>
        </p:txBody>
      </p:sp>
      <p:sp>
        <p:nvSpPr>
          <p:cNvPr id="13" name="Text 11"/>
          <p:cNvSpPr txBox="1"/>
          <p:nvPr/>
        </p:nvSpPr>
        <p:spPr>
          <a:xfrm>
            <a:off x="566928" y="2487168"/>
            <a:ext cx="7315200" cy="228600"/>
          </a:xfrm>
          <a:prstGeom prst="rect">
            <a:avLst/>
          </a:prstGeom>
          <a:noFill/>
          <a:ln/>
        </p:spPr>
        <p:txBody>
          <a:bodyPr wrap="square" lIns="0" tIns="0" rIns="0" bIns="0" rtlCol="0" anchor="ctr"/>
          <a:lstStyle/>
          <a:p>
            <a:pPr indent="0" marL="0">
              <a:buNone/>
            </a:pPr>
            <a:r>
              <a:rPr lang="en-US" sz="1000" spc="120" kern="0" dirty="0">
                <a:solidFill>
                  <a:srgbClr val="028090"/>
                </a:solidFill>
                <a:latin typeface="Courier New" pitchFamily="34" charset="0"/>
                <a:ea typeface="Courier New" pitchFamily="34" charset="-122"/>
                <a:cs typeface="Courier New" pitchFamily="34" charset="-120"/>
              </a:rPr>
              <a:t>CONCURRENT — YOU WAIT ONLY FOR THE SLOWEST</a:t>
            </a:r>
            <a:endParaRPr lang="en-US" sz="1000" dirty="0"/>
          </a:p>
        </p:txBody>
      </p:sp>
      <p:sp>
        <p:nvSpPr>
          <p:cNvPr id="14" name="Shape 12"/>
          <p:cNvSpPr/>
          <p:nvPr/>
        </p:nvSpPr>
        <p:spPr>
          <a:xfrm>
            <a:off x="566928" y="2788920"/>
            <a:ext cx="1325880" cy="365760"/>
          </a:xfrm>
          <a:prstGeom prst="rect">
            <a:avLst/>
          </a:prstGeom>
          <a:solidFill>
            <a:srgbClr val="D8ECEA"/>
          </a:solidFill>
          <a:ln w="9525">
            <a:solidFill>
              <a:srgbClr val="028090"/>
            </a:solidFill>
            <a:prstDash val="solid"/>
          </a:ln>
        </p:spPr>
      </p:sp>
      <p:sp>
        <p:nvSpPr>
          <p:cNvPr id="15" name="Text 13"/>
          <p:cNvSpPr txBox="1"/>
          <p:nvPr/>
        </p:nvSpPr>
        <p:spPr>
          <a:xfrm>
            <a:off x="676656" y="2843784"/>
            <a:ext cx="1143000" cy="256032"/>
          </a:xfrm>
          <a:prstGeom prst="rect">
            <a:avLst/>
          </a:prstGeom>
          <a:noFill/>
          <a:ln/>
        </p:spPr>
        <p:txBody>
          <a:bodyPr wrap="square" lIns="0" tIns="0" rIns="0" bIns="0" rtlCol="0" anchor="ctr"/>
          <a:lstStyle/>
          <a:p>
            <a:pPr indent="0" marL="0">
              <a:buNone/>
            </a:pPr>
            <a:r>
              <a:rPr lang="en-US" sz="1100" dirty="0">
                <a:solidFill>
                  <a:srgbClr val="10262B"/>
                </a:solidFill>
                <a:latin typeface="Calibri" pitchFamily="34" charset="0"/>
                <a:ea typeface="Calibri" pitchFamily="34" charset="-122"/>
                <a:cs typeface="Calibri" pitchFamily="34" charset="-120"/>
              </a:rPr>
              <a:t>wikipedia</a:t>
            </a:r>
            <a:endParaRPr lang="en-US" sz="1100" dirty="0"/>
          </a:p>
        </p:txBody>
      </p:sp>
      <p:sp>
        <p:nvSpPr>
          <p:cNvPr id="16" name="Shape 14"/>
          <p:cNvSpPr/>
          <p:nvPr/>
        </p:nvSpPr>
        <p:spPr>
          <a:xfrm>
            <a:off x="566928" y="3246120"/>
            <a:ext cx="1828800" cy="365760"/>
          </a:xfrm>
          <a:prstGeom prst="rect">
            <a:avLst/>
          </a:prstGeom>
          <a:solidFill>
            <a:srgbClr val="D8ECEA"/>
          </a:solidFill>
          <a:ln w="9525">
            <a:solidFill>
              <a:srgbClr val="028090"/>
            </a:solidFill>
            <a:prstDash val="solid"/>
          </a:ln>
        </p:spPr>
      </p:sp>
      <p:sp>
        <p:nvSpPr>
          <p:cNvPr id="17" name="Text 15"/>
          <p:cNvSpPr txBox="1"/>
          <p:nvPr/>
        </p:nvSpPr>
        <p:spPr>
          <a:xfrm>
            <a:off x="676656" y="3300984"/>
            <a:ext cx="1645920" cy="256032"/>
          </a:xfrm>
          <a:prstGeom prst="rect">
            <a:avLst/>
          </a:prstGeom>
          <a:noFill/>
          <a:ln/>
        </p:spPr>
        <p:txBody>
          <a:bodyPr wrap="square" lIns="0" tIns="0" rIns="0" bIns="0" rtlCol="0" anchor="ctr"/>
          <a:lstStyle/>
          <a:p>
            <a:pPr indent="0" marL="0">
              <a:buNone/>
            </a:pPr>
            <a:r>
              <a:rPr lang="en-US" sz="1100" dirty="0">
                <a:solidFill>
                  <a:srgbClr val="10262B"/>
                </a:solidFill>
                <a:latin typeface="Calibri" pitchFamily="34" charset="0"/>
                <a:ea typeface="Calibri" pitchFamily="34" charset="-122"/>
                <a:cs typeface="Calibri" pitchFamily="34" charset="-120"/>
              </a:rPr>
              <a:t>arxiv</a:t>
            </a:r>
            <a:endParaRPr lang="en-US" sz="1100" dirty="0"/>
          </a:p>
        </p:txBody>
      </p:sp>
      <p:sp>
        <p:nvSpPr>
          <p:cNvPr id="18" name="Shape 16"/>
          <p:cNvSpPr/>
          <p:nvPr/>
        </p:nvSpPr>
        <p:spPr>
          <a:xfrm>
            <a:off x="566928" y="3703320"/>
            <a:ext cx="1051560" cy="365760"/>
          </a:xfrm>
          <a:prstGeom prst="rect">
            <a:avLst/>
          </a:prstGeom>
          <a:solidFill>
            <a:srgbClr val="D8ECEA"/>
          </a:solidFill>
          <a:ln w="9525">
            <a:solidFill>
              <a:srgbClr val="028090"/>
            </a:solidFill>
            <a:prstDash val="solid"/>
          </a:ln>
        </p:spPr>
      </p:sp>
      <p:sp>
        <p:nvSpPr>
          <p:cNvPr id="19" name="Text 17"/>
          <p:cNvSpPr txBox="1"/>
          <p:nvPr/>
        </p:nvSpPr>
        <p:spPr>
          <a:xfrm>
            <a:off x="676656" y="3758184"/>
            <a:ext cx="868680" cy="256032"/>
          </a:xfrm>
          <a:prstGeom prst="rect">
            <a:avLst/>
          </a:prstGeom>
          <a:noFill/>
          <a:ln/>
        </p:spPr>
        <p:txBody>
          <a:bodyPr wrap="square" lIns="0" tIns="0" rIns="0" bIns="0" rtlCol="0" anchor="ctr"/>
          <a:lstStyle/>
          <a:p>
            <a:pPr indent="0" marL="0">
              <a:buNone/>
            </a:pPr>
            <a:r>
              <a:rPr lang="en-US" sz="1100" dirty="0">
                <a:solidFill>
                  <a:srgbClr val="10262B"/>
                </a:solidFill>
                <a:latin typeface="Calibri" pitchFamily="34" charset="0"/>
                <a:ea typeface="Calibri" pitchFamily="34" charset="-122"/>
                <a:cs typeface="Calibri" pitchFamily="34" charset="-120"/>
              </a:rPr>
              <a:t>web</a:t>
            </a:r>
            <a:endParaRPr lang="en-US" sz="1100" dirty="0"/>
          </a:p>
        </p:txBody>
      </p:sp>
      <p:sp>
        <p:nvSpPr>
          <p:cNvPr id="20" name="Shape 18"/>
          <p:cNvSpPr/>
          <p:nvPr/>
        </p:nvSpPr>
        <p:spPr>
          <a:xfrm>
            <a:off x="2395728" y="2697480"/>
            <a:ext cx="0" cy="1508760"/>
          </a:xfrm>
          <a:prstGeom prst="line">
            <a:avLst/>
          </a:prstGeom>
          <a:noFill/>
          <a:ln w="15875">
            <a:solidFill>
              <a:srgbClr val="028090"/>
            </a:solidFill>
            <a:prstDash val="dash"/>
          </a:ln>
        </p:spPr>
      </p:sp>
      <p:sp>
        <p:nvSpPr>
          <p:cNvPr id="21" name="Text 19"/>
          <p:cNvSpPr txBox="1"/>
          <p:nvPr/>
        </p:nvSpPr>
        <p:spPr>
          <a:xfrm>
            <a:off x="2505456" y="3291840"/>
            <a:ext cx="914400" cy="256032"/>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done</a:t>
            </a:r>
            <a:endParaRPr lang="en-US" sz="1050" dirty="0"/>
          </a:p>
        </p:txBody>
      </p:sp>
      <p:sp>
        <p:nvSpPr>
          <p:cNvPr id="22" name="Text 20"/>
          <p:cNvSpPr txBox="1"/>
          <p:nvPr/>
        </p:nvSpPr>
        <p:spPr>
          <a:xfrm>
            <a:off x="566928" y="4224528"/>
            <a:ext cx="6035040" cy="274320"/>
          </a:xfrm>
          <a:prstGeom prst="rect">
            <a:avLst/>
          </a:prstGeom>
          <a:noFill/>
          <a:ln/>
        </p:spPr>
        <p:txBody>
          <a:bodyPr wrap="square" lIns="0" tIns="0" rIns="0" bIns="0" rtlCol="0" anchor="ctr"/>
          <a:lstStyle/>
          <a:p>
            <a:pPr indent="0" marL="0">
              <a:buNone/>
            </a:pPr>
            <a:r>
              <a:rPr lang="en-US" sz="1050" i="1" dirty="0">
                <a:solidFill>
                  <a:srgbClr val="5C6B6E"/>
                </a:solidFill>
                <a:latin typeface="Calibri" pitchFamily="34" charset="0"/>
                <a:ea typeface="Calibri" pitchFamily="34" charset="-122"/>
                <a:cs typeface="Calibri" pitchFamily="34" charset="-120"/>
              </a:rPr>
              <a:t>Shapes, not measured seconds — the real figures come from the benchmark script.</a:t>
            </a:r>
            <a:endParaRPr lang="en-US" sz="1050" dirty="0"/>
          </a:p>
        </p:txBody>
      </p:sp>
      <p:sp>
        <p:nvSpPr>
          <p:cNvPr id="23" name="Shape 21"/>
          <p:cNvSpPr/>
          <p:nvPr/>
        </p:nvSpPr>
        <p:spPr>
          <a:xfrm>
            <a:off x="566928" y="4617720"/>
            <a:ext cx="6035040" cy="1417320"/>
          </a:xfrm>
          <a:prstGeom prst="roundRect">
            <a:avLst>
              <a:gd name="adj" fmla="val 3871"/>
            </a:avLst>
          </a:prstGeom>
          <a:solidFill>
            <a:srgbClr val="F7EAE6"/>
          </a:solidFill>
          <a:ln w="12700">
            <a:solidFill>
              <a:srgbClr val="B85042"/>
            </a:solidFill>
            <a:prstDash val="solid"/>
          </a:ln>
        </p:spPr>
      </p:sp>
      <p:sp>
        <p:nvSpPr>
          <p:cNvPr id="24" name="Text 22"/>
          <p:cNvSpPr txBox="1"/>
          <p:nvPr/>
        </p:nvSpPr>
        <p:spPr>
          <a:xfrm>
            <a:off x="841248" y="4800600"/>
            <a:ext cx="5486400" cy="228600"/>
          </a:xfrm>
          <a:prstGeom prst="rect">
            <a:avLst/>
          </a:prstGeom>
          <a:noFill/>
          <a:ln/>
        </p:spPr>
        <p:txBody>
          <a:bodyPr wrap="square" lIns="0" tIns="0" rIns="0" bIns="0" rtlCol="0" anchor="ctr"/>
          <a:lstStyle/>
          <a:p>
            <a:pPr indent="0" marL="0">
              <a:buNone/>
            </a:pPr>
            <a:r>
              <a:rPr lang="en-US" sz="950" spc="150" kern="0" dirty="0">
                <a:solidFill>
                  <a:srgbClr val="B85042"/>
                </a:solidFill>
                <a:latin typeface="Courier New" pitchFamily="34" charset="0"/>
                <a:ea typeface="Courier New" pitchFamily="34" charset="-122"/>
                <a:cs typeface="Courier New" pitchFamily="34" charset="-120"/>
              </a:rPr>
              <a:t>TO BE MEASURED BEFORE THE DEFENCE</a:t>
            </a:r>
            <a:endParaRPr lang="en-US" sz="950" dirty="0"/>
          </a:p>
        </p:txBody>
      </p:sp>
      <p:sp>
        <p:nvSpPr>
          <p:cNvPr id="25" name="Text 23"/>
          <p:cNvSpPr txBox="1"/>
          <p:nvPr/>
        </p:nvSpPr>
        <p:spPr>
          <a:xfrm>
            <a:off x="841248" y="5120640"/>
            <a:ext cx="5577840" cy="777240"/>
          </a:xfrm>
          <a:prstGeom prst="rect">
            <a:avLst/>
          </a:prstGeom>
          <a:noFill/>
          <a:ln/>
        </p:spPr>
        <p:txBody>
          <a:bodyPr wrap="square" lIns="0" tIns="0" rIns="0" bIns="0" rtlCol="0" anchor="ctr"/>
          <a:lstStyle/>
          <a:p>
            <a:pPr indent="0" marL="0">
              <a:lnSpc>
                <a:spcPts val="1700"/>
              </a:lnSpc>
              <a:buNone/>
            </a:pPr>
            <a:r>
              <a:rPr lang="en-US" sz="1150" dirty="0">
                <a:solidFill>
                  <a:srgbClr val="B85042"/>
                </a:solidFill>
                <a:latin typeface="Calibri" pitchFamily="34" charset="0"/>
                <a:ea typeface="Calibri" pitchFamily="34" charset="-122"/>
                <a:cs typeface="Calibri" pitchFamily="34" charset="-120"/>
              </a:rPr>
              <a:t>Mean sequential:  ____ s        Mean concurrent:  ____ s        Speed-up:  ____ ×</a:t>
            </a:r>
            <a:endParaRPr lang="en-US" sz="1150" dirty="0"/>
          </a:p>
          <a:p>
            <a:pPr indent="0" marL="0">
              <a:lnSpc>
                <a:spcPts val="1700"/>
              </a:lnSpc>
              <a:buNone/>
            </a:pPr>
            <a:endParaRPr lang="en-US" sz="1150" dirty="0"/>
          </a:p>
          <a:p>
            <a:pPr indent="0" marL="0">
              <a:lnSpc>
                <a:spcPts val="1700"/>
              </a:lnSpc>
              <a:buNone/>
            </a:pPr>
            <a:r>
              <a:rPr lang="en-US" sz="1150" dirty="0">
                <a:solidFill>
                  <a:srgbClr val="B85042"/>
                </a:solidFill>
                <a:latin typeface="Calibri" pitchFamily="34" charset="0"/>
                <a:ea typeface="Calibri" pitchFamily="34" charset="-122"/>
                <a:cs typeface="Calibri" pitchFamily="34" charset="-120"/>
              </a:rPr>
              <a:t>Measured over data/research_questions.json with the cache cleared.</a:t>
            </a:r>
            <a:endParaRPr lang="en-US" sz="1150" dirty="0"/>
          </a:p>
        </p:txBody>
      </p:sp>
      <p:sp>
        <p:nvSpPr>
          <p:cNvPr id="26" name="Shape 24"/>
          <p:cNvSpPr/>
          <p:nvPr/>
        </p:nvSpPr>
        <p:spPr>
          <a:xfrm>
            <a:off x="6903720" y="1508760"/>
            <a:ext cx="4709160" cy="2377440"/>
          </a:xfrm>
          <a:prstGeom prst="roundRect">
            <a:avLst>
              <a:gd name="adj" fmla="val 2308"/>
            </a:avLst>
          </a:prstGeom>
          <a:solidFill>
            <a:srgbClr val="10262B"/>
          </a:solidFill>
          <a:ln w="9525">
            <a:solidFill>
              <a:srgbClr val="D7E2E2"/>
            </a:solidFill>
            <a:prstDash val="solid"/>
          </a:ln>
        </p:spPr>
      </p:sp>
      <p:sp>
        <p:nvSpPr>
          <p:cNvPr id="27" name="Text 25"/>
          <p:cNvSpPr txBox="1"/>
          <p:nvPr/>
        </p:nvSpPr>
        <p:spPr>
          <a:xfrm>
            <a:off x="7178040" y="1719072"/>
            <a:ext cx="4206240" cy="228600"/>
          </a:xfrm>
          <a:prstGeom prst="rect">
            <a:avLst/>
          </a:prstGeom>
          <a:noFill/>
          <a:ln/>
        </p:spPr>
        <p:txBody>
          <a:bodyPr wrap="square" lIns="0" tIns="0" rIns="0" bIns="0" rtlCol="0" anchor="ctr"/>
          <a:lstStyle/>
          <a:p>
            <a:pPr indent="0" marL="0">
              <a:buNone/>
            </a:pPr>
            <a:r>
              <a:rPr lang="en-US" sz="950" spc="150" kern="0" dirty="0">
                <a:solidFill>
                  <a:srgbClr val="02C39A"/>
                </a:solidFill>
                <a:latin typeface="Courier New" pitchFamily="34" charset="0"/>
                <a:ea typeface="Courier New" pitchFamily="34" charset="-122"/>
                <a:cs typeface="Courier New" pitchFamily="34" charset="-120"/>
              </a:rPr>
              <a:t>THE MORE INTERESTING RESULT</a:t>
            </a:r>
            <a:endParaRPr lang="en-US" sz="950" dirty="0"/>
          </a:p>
        </p:txBody>
      </p:sp>
      <p:sp>
        <p:nvSpPr>
          <p:cNvPr id="28" name="Text 26"/>
          <p:cNvSpPr txBox="1"/>
          <p:nvPr/>
        </p:nvSpPr>
        <p:spPr>
          <a:xfrm>
            <a:off x="7178040" y="2029968"/>
            <a:ext cx="4206240" cy="1691640"/>
          </a:xfrm>
          <a:prstGeom prst="rect">
            <a:avLst/>
          </a:prstGeom>
          <a:noFill/>
          <a:ln/>
        </p:spPr>
        <p:txBody>
          <a:bodyPr wrap="square" lIns="0" tIns="0" rIns="0" bIns="0" rtlCol="0" anchor="ctr"/>
          <a:lstStyle/>
          <a:p>
            <a:pPr indent="0" marL="0">
              <a:lnSpc>
                <a:spcPts val="2000"/>
              </a:lnSpc>
              <a:buNone/>
            </a:pPr>
            <a:r>
              <a:rPr lang="en-US" sz="1300" dirty="0">
                <a:solidFill>
                  <a:srgbClr val="FFFFFF"/>
                </a:solidFill>
                <a:latin typeface="Calibri" pitchFamily="34" charset="0"/>
                <a:ea typeface="Calibri" pitchFamily="34" charset="-122"/>
                <a:cs typeface="Calibri" pitchFamily="34" charset="-120"/>
              </a:rPr>
              <a:t>Anyone can say "three times faster". The useful finding is what the speed-up uncovers:</a:t>
            </a:r>
            <a:endParaRPr lang="en-US" sz="1300" dirty="0"/>
          </a:p>
          <a:p>
            <a:pPr indent="0" marL="0">
              <a:lnSpc>
                <a:spcPts val="2000"/>
              </a:lnSpc>
              <a:buNone/>
            </a:pPr>
            <a:endParaRPr lang="en-US" sz="1300" dirty="0"/>
          </a:p>
          <a:p>
            <a:pPr indent="0" marL="0">
              <a:lnSpc>
                <a:spcPts val="2000"/>
              </a:lnSpc>
              <a:buNone/>
            </a:pPr>
            <a:r>
              <a:rPr lang="en-US" sz="1300" dirty="0">
                <a:solidFill>
                  <a:srgbClr val="FFFFFF"/>
                </a:solidFill>
                <a:latin typeface="Calibri" pitchFamily="34" charset="0"/>
                <a:ea typeface="Calibri" pitchFamily="34" charset="-122"/>
                <a:cs typeface="Calibri" pitchFamily="34" charset="-120"/>
              </a:rPr>
              <a:t>once the fetches overlap, the single LLM call dominates, and no further concurrency touches it.</a:t>
            </a:r>
            <a:endParaRPr lang="en-US" sz="1300" dirty="0"/>
          </a:p>
        </p:txBody>
      </p:sp>
      <p:sp>
        <p:nvSpPr>
          <p:cNvPr id="29" name="Shape 27"/>
          <p:cNvSpPr/>
          <p:nvPr/>
        </p:nvSpPr>
        <p:spPr>
          <a:xfrm>
            <a:off x="6903720" y="4023360"/>
            <a:ext cx="4709160" cy="2011680"/>
          </a:xfrm>
          <a:prstGeom prst="roundRect">
            <a:avLst>
              <a:gd name="adj" fmla="val 2727"/>
            </a:avLst>
          </a:prstGeom>
          <a:solidFill>
            <a:srgbClr val="EEF4F4"/>
          </a:solidFill>
          <a:ln w="9525">
            <a:solidFill>
              <a:srgbClr val="D7E2E2"/>
            </a:solidFill>
            <a:prstDash val="solid"/>
          </a:ln>
        </p:spPr>
      </p:sp>
      <p:sp>
        <p:nvSpPr>
          <p:cNvPr id="30" name="Text 28"/>
          <p:cNvSpPr txBox="1"/>
          <p:nvPr/>
        </p:nvSpPr>
        <p:spPr>
          <a:xfrm>
            <a:off x="7178040" y="4206240"/>
            <a:ext cx="4206240" cy="274320"/>
          </a:xfrm>
          <a:prstGeom prst="rect">
            <a:avLst/>
          </a:prstGeom>
          <a:noFill/>
          <a:ln/>
        </p:spPr>
        <p:txBody>
          <a:bodyPr wrap="square" lIns="0" tIns="0" rIns="0" bIns="0" rtlCol="0" anchor="ctr"/>
          <a:lstStyle/>
          <a:p>
            <a:pPr indent="0" marL="0">
              <a:buNone/>
            </a:pPr>
            <a:r>
              <a:rPr lang="en-US" sz="1250" b="1" dirty="0">
                <a:solidFill>
                  <a:srgbClr val="10262B"/>
                </a:solidFill>
                <a:latin typeface="Calibri" pitchFamily="34" charset="0"/>
                <a:ea typeface="Calibri" pitchFamily="34" charset="-122"/>
                <a:cs typeface="Calibri" pitchFamily="34" charset="-120"/>
              </a:rPr>
              <a:t>Observed in a live run</a:t>
            </a:r>
            <a:endParaRPr lang="en-US" sz="1250" dirty="0"/>
          </a:p>
        </p:txBody>
      </p:sp>
      <p:sp>
        <p:nvSpPr>
          <p:cNvPr id="31" name="Text 29"/>
          <p:cNvSpPr txBox="1"/>
          <p:nvPr/>
        </p:nvSpPr>
        <p:spPr>
          <a:xfrm>
            <a:off x="7178040" y="4526280"/>
            <a:ext cx="4206240" cy="1325880"/>
          </a:xfrm>
          <a:prstGeom prst="rect">
            <a:avLst/>
          </a:prstGeom>
          <a:noFill/>
          <a:ln/>
        </p:spPr>
        <p:txBody>
          <a:bodyPr wrap="square" lIns="0" tIns="0" rIns="0" bIns="0" rtlCol="0" anchor="ctr"/>
          <a:lstStyle/>
          <a:p>
            <a:pPr indent="0" marL="0">
              <a:lnSpc>
                <a:spcPts val="1500"/>
              </a:lnSpc>
              <a:buNone/>
            </a:pPr>
            <a:r>
              <a:rPr lang="en-US" sz="1100" dirty="0">
                <a:solidFill>
                  <a:srgbClr val="5C6B6E"/>
                </a:solidFill>
                <a:latin typeface="Calibri" pitchFamily="34" charset="0"/>
                <a:ea typeface="Calibri" pitchFamily="34" charset="-122"/>
                <a:cs typeface="Calibri" pitchFamily="34" charset="-120"/>
              </a:rPr>
              <a:t>When Wikipedia began returning real articles, end-to-end time rose to 40+ seconds while the fetch phase stayed capped at 8. The extra time is the synthesis call — which has no timeout. Exactly the bottleneck named above.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QUALITY</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139 tests, none of them touch the network</a:t>
            </a:r>
            <a:endParaRPr lang="en-US" sz="3400" dirty="0"/>
          </a:p>
        </p:txBody>
      </p:sp>
      <p:sp>
        <p:nvSpPr>
          <p:cNvPr id="4" name="Shape 2"/>
          <p:cNvSpPr/>
          <p:nvPr/>
        </p:nvSpPr>
        <p:spPr>
          <a:xfrm>
            <a:off x="566928" y="1481328"/>
            <a:ext cx="2606040" cy="1371600"/>
          </a:xfrm>
          <a:prstGeom prst="roundRect">
            <a:avLst>
              <a:gd name="adj" fmla="val 4000"/>
            </a:avLst>
          </a:prstGeom>
          <a:solidFill>
            <a:srgbClr val="10262B"/>
          </a:solidFill>
          <a:ln w="9525">
            <a:solidFill>
              <a:srgbClr val="D7E2E2"/>
            </a:solidFill>
            <a:prstDash val="solid"/>
          </a:ln>
        </p:spPr>
      </p:sp>
      <p:sp>
        <p:nvSpPr>
          <p:cNvPr id="5" name="Text 3"/>
          <p:cNvSpPr txBox="1"/>
          <p:nvPr/>
        </p:nvSpPr>
        <p:spPr>
          <a:xfrm>
            <a:off x="795528" y="1627632"/>
            <a:ext cx="2194560" cy="731520"/>
          </a:xfrm>
          <a:prstGeom prst="rect">
            <a:avLst/>
          </a:prstGeom>
          <a:noFill/>
          <a:ln/>
        </p:spPr>
        <p:txBody>
          <a:bodyPr wrap="square" lIns="0" tIns="0" rIns="0" bIns="0" rtlCol="0" anchor="ctr"/>
          <a:lstStyle/>
          <a:p>
            <a:pPr indent="0" marL="0">
              <a:buNone/>
            </a:pPr>
            <a:r>
              <a:rPr lang="en-US" sz="4000" b="1" dirty="0">
                <a:solidFill>
                  <a:srgbClr val="02C39A"/>
                </a:solidFill>
                <a:latin typeface="Cambria" pitchFamily="34" charset="0"/>
                <a:ea typeface="Cambria" pitchFamily="34" charset="-122"/>
                <a:cs typeface="Cambria" pitchFamily="34" charset="-120"/>
              </a:rPr>
              <a:t>139</a:t>
            </a:r>
            <a:endParaRPr lang="en-US" sz="4000" dirty="0"/>
          </a:p>
        </p:txBody>
      </p:sp>
      <p:sp>
        <p:nvSpPr>
          <p:cNvPr id="6" name="Text 4"/>
          <p:cNvSpPr txBox="1"/>
          <p:nvPr/>
        </p:nvSpPr>
        <p:spPr>
          <a:xfrm>
            <a:off x="822960" y="2395728"/>
            <a:ext cx="2194560" cy="274320"/>
          </a:xfrm>
          <a:prstGeom prst="rect">
            <a:avLst/>
          </a:prstGeom>
          <a:noFill/>
          <a:ln/>
        </p:spPr>
        <p:txBody>
          <a:bodyPr wrap="square" lIns="0" tIns="0" rIns="0" bIns="0" rtlCol="0" anchor="ctr"/>
          <a:lstStyle/>
          <a:p>
            <a:pPr indent="0" marL="0">
              <a:buNone/>
            </a:pPr>
            <a:r>
              <a:rPr lang="en-US" sz="1200" dirty="0">
                <a:solidFill>
                  <a:srgbClr val="BBD4D4"/>
                </a:solidFill>
                <a:latin typeface="Calibri" pitchFamily="34" charset="0"/>
                <a:ea typeface="Calibri" pitchFamily="34" charset="-122"/>
                <a:cs typeface="Calibri" pitchFamily="34" charset="-120"/>
              </a:rPr>
              <a:t>tests passing</a:t>
            </a:r>
            <a:endParaRPr lang="en-US" sz="1200" dirty="0"/>
          </a:p>
        </p:txBody>
      </p:sp>
      <p:sp>
        <p:nvSpPr>
          <p:cNvPr id="7" name="Shape 5"/>
          <p:cNvSpPr/>
          <p:nvPr/>
        </p:nvSpPr>
        <p:spPr>
          <a:xfrm>
            <a:off x="3355848" y="1481328"/>
            <a:ext cx="2606040" cy="1371600"/>
          </a:xfrm>
          <a:prstGeom prst="roundRect">
            <a:avLst>
              <a:gd name="adj" fmla="val 4000"/>
            </a:avLst>
          </a:prstGeom>
          <a:solidFill>
            <a:srgbClr val="10262B"/>
          </a:solidFill>
          <a:ln w="9525">
            <a:solidFill>
              <a:srgbClr val="D7E2E2"/>
            </a:solidFill>
            <a:prstDash val="solid"/>
          </a:ln>
        </p:spPr>
      </p:sp>
      <p:sp>
        <p:nvSpPr>
          <p:cNvPr id="8" name="Text 6"/>
          <p:cNvSpPr txBox="1"/>
          <p:nvPr/>
        </p:nvSpPr>
        <p:spPr>
          <a:xfrm>
            <a:off x="3584448" y="1627632"/>
            <a:ext cx="2194560" cy="731520"/>
          </a:xfrm>
          <a:prstGeom prst="rect">
            <a:avLst/>
          </a:prstGeom>
          <a:noFill/>
          <a:ln/>
        </p:spPr>
        <p:txBody>
          <a:bodyPr wrap="square" lIns="0" tIns="0" rIns="0" bIns="0" rtlCol="0" anchor="ctr"/>
          <a:lstStyle/>
          <a:p>
            <a:pPr indent="0" marL="0">
              <a:buNone/>
            </a:pPr>
            <a:r>
              <a:rPr lang="en-US" sz="4000" b="1" dirty="0">
                <a:solidFill>
                  <a:srgbClr val="02C39A"/>
                </a:solidFill>
                <a:latin typeface="Cambria" pitchFamily="34" charset="0"/>
                <a:ea typeface="Cambria" pitchFamily="34" charset="-122"/>
                <a:cs typeface="Cambria" pitchFamily="34" charset="-120"/>
              </a:rPr>
              <a:t>96%</a:t>
            </a:r>
            <a:endParaRPr lang="en-US" sz="4000" dirty="0"/>
          </a:p>
        </p:txBody>
      </p:sp>
      <p:sp>
        <p:nvSpPr>
          <p:cNvPr id="9" name="Text 7"/>
          <p:cNvSpPr txBox="1"/>
          <p:nvPr/>
        </p:nvSpPr>
        <p:spPr>
          <a:xfrm>
            <a:off x="3611880" y="2395728"/>
            <a:ext cx="2194560" cy="274320"/>
          </a:xfrm>
          <a:prstGeom prst="rect">
            <a:avLst/>
          </a:prstGeom>
          <a:noFill/>
          <a:ln/>
        </p:spPr>
        <p:txBody>
          <a:bodyPr wrap="square" lIns="0" tIns="0" rIns="0" bIns="0" rtlCol="0" anchor="ctr"/>
          <a:lstStyle/>
          <a:p>
            <a:pPr indent="0" marL="0">
              <a:buNone/>
            </a:pPr>
            <a:r>
              <a:rPr lang="en-US" sz="1200" dirty="0">
                <a:solidFill>
                  <a:srgbClr val="BBD4D4"/>
                </a:solidFill>
                <a:latin typeface="Calibri" pitchFamily="34" charset="0"/>
                <a:ea typeface="Calibri" pitchFamily="34" charset="-122"/>
                <a:cs typeface="Calibri" pitchFamily="34" charset="-120"/>
              </a:rPr>
              <a:t>coverage of src/</a:t>
            </a:r>
            <a:endParaRPr lang="en-US" sz="1200" dirty="0"/>
          </a:p>
        </p:txBody>
      </p:sp>
      <p:sp>
        <p:nvSpPr>
          <p:cNvPr id="10" name="Shape 8"/>
          <p:cNvSpPr/>
          <p:nvPr/>
        </p:nvSpPr>
        <p:spPr>
          <a:xfrm>
            <a:off x="6144768" y="1481328"/>
            <a:ext cx="2606040" cy="1371600"/>
          </a:xfrm>
          <a:prstGeom prst="roundRect">
            <a:avLst>
              <a:gd name="adj" fmla="val 4000"/>
            </a:avLst>
          </a:prstGeom>
          <a:solidFill>
            <a:srgbClr val="10262B"/>
          </a:solidFill>
          <a:ln w="9525">
            <a:solidFill>
              <a:srgbClr val="D7E2E2"/>
            </a:solidFill>
            <a:prstDash val="solid"/>
          </a:ln>
        </p:spPr>
      </p:sp>
      <p:sp>
        <p:nvSpPr>
          <p:cNvPr id="11" name="Text 9"/>
          <p:cNvSpPr txBox="1"/>
          <p:nvPr/>
        </p:nvSpPr>
        <p:spPr>
          <a:xfrm>
            <a:off x="6373368" y="1627632"/>
            <a:ext cx="2194560" cy="731520"/>
          </a:xfrm>
          <a:prstGeom prst="rect">
            <a:avLst/>
          </a:prstGeom>
          <a:noFill/>
          <a:ln/>
        </p:spPr>
        <p:txBody>
          <a:bodyPr wrap="square" lIns="0" tIns="0" rIns="0" bIns="0" rtlCol="0" anchor="ctr"/>
          <a:lstStyle/>
          <a:p>
            <a:pPr indent="0" marL="0">
              <a:buNone/>
            </a:pPr>
            <a:r>
              <a:rPr lang="en-US" sz="4000" b="1" dirty="0">
                <a:solidFill>
                  <a:srgbClr val="02C39A"/>
                </a:solidFill>
                <a:latin typeface="Cambria" pitchFamily="34" charset="0"/>
                <a:ea typeface="Cambria" pitchFamily="34" charset="-122"/>
                <a:cs typeface="Cambria" pitchFamily="34" charset="-120"/>
              </a:rPr>
              <a:t>2.9 s</a:t>
            </a:r>
            <a:endParaRPr lang="en-US" sz="4000" dirty="0"/>
          </a:p>
        </p:txBody>
      </p:sp>
      <p:sp>
        <p:nvSpPr>
          <p:cNvPr id="12" name="Text 10"/>
          <p:cNvSpPr txBox="1"/>
          <p:nvPr/>
        </p:nvSpPr>
        <p:spPr>
          <a:xfrm>
            <a:off x="6400800" y="2395728"/>
            <a:ext cx="2194560" cy="274320"/>
          </a:xfrm>
          <a:prstGeom prst="rect">
            <a:avLst/>
          </a:prstGeom>
          <a:noFill/>
          <a:ln/>
        </p:spPr>
        <p:txBody>
          <a:bodyPr wrap="square" lIns="0" tIns="0" rIns="0" bIns="0" rtlCol="0" anchor="ctr"/>
          <a:lstStyle/>
          <a:p>
            <a:pPr indent="0" marL="0">
              <a:buNone/>
            </a:pPr>
            <a:r>
              <a:rPr lang="en-US" sz="1200" dirty="0">
                <a:solidFill>
                  <a:srgbClr val="BBD4D4"/>
                </a:solidFill>
                <a:latin typeface="Calibri" pitchFamily="34" charset="0"/>
                <a:ea typeface="Calibri" pitchFamily="34" charset="-122"/>
                <a:cs typeface="Calibri" pitchFamily="34" charset="-120"/>
              </a:rPr>
              <a:t>whole suite</a:t>
            </a:r>
            <a:endParaRPr lang="en-US" sz="1200" dirty="0"/>
          </a:p>
        </p:txBody>
      </p:sp>
      <p:sp>
        <p:nvSpPr>
          <p:cNvPr id="13" name="Shape 11"/>
          <p:cNvSpPr/>
          <p:nvPr/>
        </p:nvSpPr>
        <p:spPr>
          <a:xfrm>
            <a:off x="8933688" y="1481328"/>
            <a:ext cx="2606040" cy="1371600"/>
          </a:xfrm>
          <a:prstGeom prst="roundRect">
            <a:avLst>
              <a:gd name="adj" fmla="val 4000"/>
            </a:avLst>
          </a:prstGeom>
          <a:solidFill>
            <a:srgbClr val="10262B"/>
          </a:solidFill>
          <a:ln w="9525">
            <a:solidFill>
              <a:srgbClr val="D7E2E2"/>
            </a:solidFill>
            <a:prstDash val="solid"/>
          </a:ln>
        </p:spPr>
      </p:sp>
      <p:sp>
        <p:nvSpPr>
          <p:cNvPr id="14" name="Text 12"/>
          <p:cNvSpPr txBox="1"/>
          <p:nvPr/>
        </p:nvSpPr>
        <p:spPr>
          <a:xfrm>
            <a:off x="9162288" y="1627632"/>
            <a:ext cx="2194560" cy="731520"/>
          </a:xfrm>
          <a:prstGeom prst="rect">
            <a:avLst/>
          </a:prstGeom>
          <a:noFill/>
          <a:ln/>
        </p:spPr>
        <p:txBody>
          <a:bodyPr wrap="square" lIns="0" tIns="0" rIns="0" bIns="0" rtlCol="0" anchor="ctr"/>
          <a:lstStyle/>
          <a:p>
            <a:pPr indent="0" marL="0">
              <a:buNone/>
            </a:pPr>
            <a:r>
              <a:rPr lang="en-US" sz="4000" b="1" dirty="0">
                <a:solidFill>
                  <a:srgbClr val="02C39A"/>
                </a:solidFill>
                <a:latin typeface="Cambria" pitchFamily="34" charset="0"/>
                <a:ea typeface="Cambria" pitchFamily="34" charset="-122"/>
                <a:cs typeface="Cambria" pitchFamily="34" charset="-120"/>
              </a:rPr>
              <a:t>0</a:t>
            </a:r>
            <a:endParaRPr lang="en-US" sz="4000" dirty="0"/>
          </a:p>
        </p:txBody>
      </p:sp>
      <p:sp>
        <p:nvSpPr>
          <p:cNvPr id="15" name="Text 13"/>
          <p:cNvSpPr txBox="1"/>
          <p:nvPr/>
        </p:nvSpPr>
        <p:spPr>
          <a:xfrm>
            <a:off x="9189720" y="2395728"/>
            <a:ext cx="2194560" cy="274320"/>
          </a:xfrm>
          <a:prstGeom prst="rect">
            <a:avLst/>
          </a:prstGeom>
          <a:noFill/>
          <a:ln/>
        </p:spPr>
        <p:txBody>
          <a:bodyPr wrap="square" lIns="0" tIns="0" rIns="0" bIns="0" rtlCol="0" anchor="ctr"/>
          <a:lstStyle/>
          <a:p>
            <a:pPr indent="0" marL="0">
              <a:buNone/>
            </a:pPr>
            <a:r>
              <a:rPr lang="en-US" sz="1200" dirty="0">
                <a:solidFill>
                  <a:srgbClr val="BBD4D4"/>
                </a:solidFill>
                <a:latin typeface="Calibri" pitchFamily="34" charset="0"/>
                <a:ea typeface="Calibri" pitchFamily="34" charset="-122"/>
                <a:cs typeface="Calibri" pitchFamily="34" charset="-120"/>
              </a:rPr>
              <a:t>network calls</a:t>
            </a:r>
            <a:endParaRPr lang="en-US" sz="1200" dirty="0"/>
          </a:p>
        </p:txBody>
      </p:sp>
      <p:sp>
        <p:nvSpPr>
          <p:cNvPr id="16" name="Text 14"/>
          <p:cNvSpPr txBox="1"/>
          <p:nvPr/>
        </p:nvSpPr>
        <p:spPr>
          <a:xfrm>
            <a:off x="566928" y="3063240"/>
            <a:ext cx="5486400" cy="228600"/>
          </a:xfrm>
          <a:prstGeom prst="rect">
            <a:avLst/>
          </a:prstGeom>
          <a:noFill/>
          <a:ln/>
        </p:spPr>
        <p:txBody>
          <a:bodyPr wrap="square" lIns="0" tIns="0" rIns="0" bIns="0" rtlCol="0" anchor="ctr"/>
          <a:lstStyle/>
          <a:p>
            <a:pPr indent="0" marL="0">
              <a:buNone/>
            </a:pPr>
            <a:r>
              <a:rPr lang="en-US" sz="950" spc="150" kern="0" dirty="0">
                <a:solidFill>
                  <a:srgbClr val="028090"/>
                </a:solidFill>
                <a:latin typeface="Courier New" pitchFamily="34" charset="0"/>
                <a:ea typeface="Courier New" pitchFamily="34" charset="-122"/>
                <a:cs typeface="Courier New" pitchFamily="34" charset="-120"/>
              </a:rPr>
              <a:t>HOW THEY STAY OFFLINE</a:t>
            </a:r>
            <a:endParaRPr lang="en-US" sz="950" dirty="0"/>
          </a:p>
        </p:txBody>
      </p:sp>
      <p:sp>
        <p:nvSpPr>
          <p:cNvPr id="17" name="Shape 15"/>
          <p:cNvSpPr/>
          <p:nvPr/>
        </p:nvSpPr>
        <p:spPr>
          <a:xfrm>
            <a:off x="566928" y="3401568"/>
            <a:ext cx="5669280" cy="621792"/>
          </a:xfrm>
          <a:prstGeom prst="roundRect">
            <a:avLst>
              <a:gd name="adj" fmla="val 8824"/>
            </a:avLst>
          </a:prstGeom>
          <a:solidFill>
            <a:srgbClr val="EEF4F4"/>
          </a:solidFill>
          <a:ln w="9525">
            <a:solidFill>
              <a:srgbClr val="D7E2E2"/>
            </a:solidFill>
            <a:prstDash val="solid"/>
          </a:ln>
        </p:spPr>
      </p:sp>
      <p:sp>
        <p:nvSpPr>
          <p:cNvPr id="18" name="Text 16"/>
          <p:cNvSpPr txBox="1"/>
          <p:nvPr/>
        </p:nvSpPr>
        <p:spPr>
          <a:xfrm>
            <a:off x="822960" y="3474720"/>
            <a:ext cx="1920240" cy="256032"/>
          </a:xfrm>
          <a:prstGeom prst="rect">
            <a:avLst/>
          </a:prstGeom>
          <a:noFill/>
          <a:ln/>
        </p:spPr>
        <p:txBody>
          <a:bodyPr wrap="square" lIns="0" tIns="0" rIns="0" bIns="0" rtlCol="0" anchor="ctr"/>
          <a:lstStyle/>
          <a:p>
            <a:pPr indent="0" marL="0">
              <a:buNone/>
            </a:pPr>
            <a:r>
              <a:rPr lang="en-US" sz="1200" b="1" dirty="0">
                <a:solidFill>
                  <a:srgbClr val="10262B"/>
                </a:solidFill>
                <a:latin typeface="Calibri" pitchFamily="34" charset="0"/>
                <a:ea typeface="Calibri" pitchFamily="34" charset="-122"/>
                <a:cs typeface="Calibri" pitchFamily="34" charset="-120"/>
              </a:rPr>
              <a:t>A fake clock</a:t>
            </a:r>
            <a:endParaRPr lang="en-US" sz="1200" dirty="0"/>
          </a:p>
        </p:txBody>
      </p:sp>
      <p:sp>
        <p:nvSpPr>
          <p:cNvPr id="19" name="Text 17"/>
          <p:cNvSpPr txBox="1"/>
          <p:nvPr/>
        </p:nvSpPr>
        <p:spPr>
          <a:xfrm>
            <a:off x="2761488" y="3465576"/>
            <a:ext cx="3337560" cy="502920"/>
          </a:xfrm>
          <a:prstGeom prst="rect">
            <a:avLst/>
          </a:prstGeom>
          <a:noFill/>
          <a:ln/>
        </p:spPr>
        <p:txBody>
          <a:bodyPr wrap="square" lIns="0" tIns="0" rIns="0" bIns="0" rtlCol="0" anchor="ctr"/>
          <a:lstStyle/>
          <a:p>
            <a:pPr indent="0" marL="0">
              <a:lnSpc>
                <a:spcPts val="1300"/>
              </a:lnSpc>
              <a:buNone/>
            </a:pPr>
            <a:r>
              <a:rPr lang="en-US" sz="1000" dirty="0">
                <a:solidFill>
                  <a:srgbClr val="5C6B6E"/>
                </a:solidFill>
                <a:latin typeface="Calibri" pitchFamily="34" charset="0"/>
                <a:ea typeface="Calibri" pitchFamily="34" charset="-122"/>
                <a:cs typeface="Calibri" pitchFamily="34" charset="-120"/>
              </a:rPr>
              <a:t>TTL expiry is tested by jumping 25 hours forward, instantly</a:t>
            </a:r>
            <a:endParaRPr lang="en-US" sz="1000" dirty="0"/>
          </a:p>
        </p:txBody>
      </p:sp>
      <p:sp>
        <p:nvSpPr>
          <p:cNvPr id="20" name="Shape 18"/>
          <p:cNvSpPr/>
          <p:nvPr/>
        </p:nvSpPr>
        <p:spPr>
          <a:xfrm>
            <a:off x="566928" y="4133088"/>
            <a:ext cx="5669280" cy="621792"/>
          </a:xfrm>
          <a:prstGeom prst="roundRect">
            <a:avLst>
              <a:gd name="adj" fmla="val 8824"/>
            </a:avLst>
          </a:prstGeom>
          <a:solidFill>
            <a:srgbClr val="EEF4F4"/>
          </a:solidFill>
          <a:ln w="9525">
            <a:solidFill>
              <a:srgbClr val="D7E2E2"/>
            </a:solidFill>
            <a:prstDash val="solid"/>
          </a:ln>
        </p:spPr>
      </p:sp>
      <p:sp>
        <p:nvSpPr>
          <p:cNvPr id="21" name="Text 19"/>
          <p:cNvSpPr txBox="1"/>
          <p:nvPr/>
        </p:nvSpPr>
        <p:spPr>
          <a:xfrm>
            <a:off x="822960" y="4206240"/>
            <a:ext cx="1920240" cy="256032"/>
          </a:xfrm>
          <a:prstGeom prst="rect">
            <a:avLst/>
          </a:prstGeom>
          <a:noFill/>
          <a:ln/>
        </p:spPr>
        <p:txBody>
          <a:bodyPr wrap="square" lIns="0" tIns="0" rIns="0" bIns="0" rtlCol="0" anchor="ctr"/>
          <a:lstStyle/>
          <a:p>
            <a:pPr indent="0" marL="0">
              <a:buNone/>
            </a:pPr>
            <a:r>
              <a:rPr lang="en-US" sz="1200" b="1" dirty="0">
                <a:solidFill>
                  <a:srgbClr val="10262B"/>
                </a:solidFill>
                <a:latin typeface="Calibri" pitchFamily="34" charset="0"/>
                <a:ea typeface="Calibri" pitchFamily="34" charset="-122"/>
                <a:cs typeface="Calibri" pitchFamily="34" charset="-120"/>
              </a:rPr>
              <a:t>Temp directories</a:t>
            </a:r>
            <a:endParaRPr lang="en-US" sz="1200" dirty="0"/>
          </a:p>
        </p:txBody>
      </p:sp>
      <p:sp>
        <p:nvSpPr>
          <p:cNvPr id="22" name="Text 20"/>
          <p:cNvSpPr txBox="1"/>
          <p:nvPr/>
        </p:nvSpPr>
        <p:spPr>
          <a:xfrm>
            <a:off x="2761488" y="4197096"/>
            <a:ext cx="3337560" cy="502920"/>
          </a:xfrm>
          <a:prstGeom prst="rect">
            <a:avLst/>
          </a:prstGeom>
          <a:noFill/>
          <a:ln/>
        </p:spPr>
        <p:txBody>
          <a:bodyPr wrap="square" lIns="0" tIns="0" rIns="0" bIns="0" rtlCol="0" anchor="ctr"/>
          <a:lstStyle/>
          <a:p>
            <a:pPr indent="0" marL="0">
              <a:lnSpc>
                <a:spcPts val="1300"/>
              </a:lnSpc>
              <a:buNone/>
            </a:pPr>
            <a:r>
              <a:rPr lang="en-US" sz="1000" dirty="0">
                <a:solidFill>
                  <a:srgbClr val="5C6B6E"/>
                </a:solidFill>
                <a:latin typeface="Calibri" pitchFamily="34" charset="0"/>
                <a:ea typeface="Calibri" pitchFamily="34" charset="-122"/>
                <a:cs typeface="Calibri" pitchFamily="34" charset="-120"/>
              </a:rPr>
              <a:t>every cache test gets its own throwaway folder</a:t>
            </a:r>
            <a:endParaRPr lang="en-US" sz="1000" dirty="0"/>
          </a:p>
        </p:txBody>
      </p:sp>
      <p:sp>
        <p:nvSpPr>
          <p:cNvPr id="23" name="Shape 21"/>
          <p:cNvSpPr/>
          <p:nvPr/>
        </p:nvSpPr>
        <p:spPr>
          <a:xfrm>
            <a:off x="566928" y="4864608"/>
            <a:ext cx="5669280" cy="621792"/>
          </a:xfrm>
          <a:prstGeom prst="roundRect">
            <a:avLst>
              <a:gd name="adj" fmla="val 8824"/>
            </a:avLst>
          </a:prstGeom>
          <a:solidFill>
            <a:srgbClr val="EEF4F4"/>
          </a:solidFill>
          <a:ln w="9525">
            <a:solidFill>
              <a:srgbClr val="D7E2E2"/>
            </a:solidFill>
            <a:prstDash val="solid"/>
          </a:ln>
        </p:spPr>
      </p:sp>
      <p:sp>
        <p:nvSpPr>
          <p:cNvPr id="24" name="Text 22"/>
          <p:cNvSpPr txBox="1"/>
          <p:nvPr/>
        </p:nvSpPr>
        <p:spPr>
          <a:xfrm>
            <a:off x="822960" y="4937760"/>
            <a:ext cx="1920240" cy="256032"/>
          </a:xfrm>
          <a:prstGeom prst="rect">
            <a:avLst/>
          </a:prstGeom>
          <a:noFill/>
          <a:ln/>
        </p:spPr>
        <p:txBody>
          <a:bodyPr wrap="square" lIns="0" tIns="0" rIns="0" bIns="0" rtlCol="0" anchor="ctr"/>
          <a:lstStyle/>
          <a:p>
            <a:pPr indent="0" marL="0">
              <a:buNone/>
            </a:pPr>
            <a:r>
              <a:rPr lang="en-US" sz="1200" b="1" dirty="0">
                <a:solidFill>
                  <a:srgbClr val="10262B"/>
                </a:solidFill>
                <a:latin typeface="Calibri" pitchFamily="34" charset="0"/>
                <a:ea typeface="Calibri" pitchFamily="34" charset="-122"/>
                <a:cs typeface="Calibri" pitchFamily="34" charset="-120"/>
              </a:rPr>
              <a:t>httpx.MockTransport</a:t>
            </a:r>
            <a:endParaRPr lang="en-US" sz="1200" dirty="0"/>
          </a:p>
        </p:txBody>
      </p:sp>
      <p:sp>
        <p:nvSpPr>
          <p:cNvPr id="25" name="Text 23"/>
          <p:cNvSpPr txBox="1"/>
          <p:nvPr/>
        </p:nvSpPr>
        <p:spPr>
          <a:xfrm>
            <a:off x="2761488" y="4928616"/>
            <a:ext cx="3337560" cy="502920"/>
          </a:xfrm>
          <a:prstGeom prst="rect">
            <a:avLst/>
          </a:prstGeom>
          <a:noFill/>
          <a:ln/>
        </p:spPr>
        <p:txBody>
          <a:bodyPr wrap="square" lIns="0" tIns="0" rIns="0" bIns="0" rtlCol="0" anchor="ctr"/>
          <a:lstStyle/>
          <a:p>
            <a:pPr indent="0" marL="0">
              <a:lnSpc>
                <a:spcPts val="1300"/>
              </a:lnSpc>
              <a:buNone/>
            </a:pPr>
            <a:r>
              <a:rPr lang="en-US" sz="1000" dirty="0">
                <a:solidFill>
                  <a:srgbClr val="5C6B6E"/>
                </a:solidFill>
                <a:latin typeface="Calibri" pitchFamily="34" charset="0"/>
                <a:ea typeface="Calibri" pitchFamily="34" charset="-122"/>
                <a:cs typeface="Calibri" pitchFamily="34" charset="-120"/>
              </a:rPr>
              <a:t>scripted HTTP responses drive the real ai.fetch_* functions</a:t>
            </a:r>
            <a:endParaRPr lang="en-US" sz="1000" dirty="0"/>
          </a:p>
        </p:txBody>
      </p:sp>
      <p:sp>
        <p:nvSpPr>
          <p:cNvPr id="26" name="Shape 24"/>
          <p:cNvSpPr/>
          <p:nvPr/>
        </p:nvSpPr>
        <p:spPr>
          <a:xfrm>
            <a:off x="566928" y="5596128"/>
            <a:ext cx="5669280" cy="621792"/>
          </a:xfrm>
          <a:prstGeom prst="roundRect">
            <a:avLst>
              <a:gd name="adj" fmla="val 8824"/>
            </a:avLst>
          </a:prstGeom>
          <a:solidFill>
            <a:srgbClr val="EEF4F4"/>
          </a:solidFill>
          <a:ln w="9525">
            <a:solidFill>
              <a:srgbClr val="D7E2E2"/>
            </a:solidFill>
            <a:prstDash val="solid"/>
          </a:ln>
        </p:spPr>
      </p:sp>
      <p:sp>
        <p:nvSpPr>
          <p:cNvPr id="27" name="Text 25"/>
          <p:cNvSpPr txBox="1"/>
          <p:nvPr/>
        </p:nvSpPr>
        <p:spPr>
          <a:xfrm>
            <a:off x="822960" y="5669280"/>
            <a:ext cx="1920240" cy="256032"/>
          </a:xfrm>
          <a:prstGeom prst="rect">
            <a:avLst/>
          </a:prstGeom>
          <a:noFill/>
          <a:ln/>
        </p:spPr>
        <p:txBody>
          <a:bodyPr wrap="square" lIns="0" tIns="0" rIns="0" bIns="0" rtlCol="0" anchor="ctr"/>
          <a:lstStyle/>
          <a:p>
            <a:pPr indent="0" marL="0">
              <a:buNone/>
            </a:pPr>
            <a:r>
              <a:rPr lang="en-US" sz="1200" b="1" dirty="0">
                <a:solidFill>
                  <a:srgbClr val="10262B"/>
                </a:solidFill>
                <a:latin typeface="Calibri" pitchFamily="34" charset="0"/>
                <a:ea typeface="Calibri" pitchFamily="34" charset="-122"/>
                <a:cs typeface="Calibri" pitchFamily="34" charset="-120"/>
              </a:rPr>
              <a:t>A fake LLM</a:t>
            </a:r>
            <a:endParaRPr lang="en-US" sz="1200" dirty="0"/>
          </a:p>
        </p:txBody>
      </p:sp>
      <p:sp>
        <p:nvSpPr>
          <p:cNvPr id="28" name="Text 26"/>
          <p:cNvSpPr txBox="1"/>
          <p:nvPr/>
        </p:nvSpPr>
        <p:spPr>
          <a:xfrm>
            <a:off x="2761488" y="5660136"/>
            <a:ext cx="3337560" cy="502920"/>
          </a:xfrm>
          <a:prstGeom prst="rect">
            <a:avLst/>
          </a:prstGeom>
          <a:noFill/>
          <a:ln/>
        </p:spPr>
        <p:txBody>
          <a:bodyPr wrap="square" lIns="0" tIns="0" rIns="0" bIns="0" rtlCol="0" anchor="ctr"/>
          <a:lstStyle/>
          <a:p>
            <a:pPr indent="0" marL="0">
              <a:lnSpc>
                <a:spcPts val="1300"/>
              </a:lnSpc>
              <a:buNone/>
            </a:pPr>
            <a:r>
              <a:rPr lang="en-US" sz="1000" dirty="0">
                <a:solidFill>
                  <a:srgbClr val="5C6B6E"/>
                </a:solidFill>
                <a:latin typeface="Calibri" pitchFamily="34" charset="0"/>
                <a:ea typeface="Calibri" pitchFamily="34" charset="-122"/>
                <a:cs typeface="Calibri" pitchFamily="34" charset="-120"/>
              </a:rPr>
              <a:t>synthesis is tested without spending a single token</a:t>
            </a:r>
            <a:endParaRPr lang="en-US" sz="1000" dirty="0"/>
          </a:p>
        </p:txBody>
      </p:sp>
      <p:sp>
        <p:nvSpPr>
          <p:cNvPr id="29" name="Text 27"/>
          <p:cNvSpPr txBox="1"/>
          <p:nvPr/>
        </p:nvSpPr>
        <p:spPr>
          <a:xfrm>
            <a:off x="6675120" y="3063240"/>
            <a:ext cx="4937760" cy="228600"/>
          </a:xfrm>
          <a:prstGeom prst="rect">
            <a:avLst/>
          </a:prstGeom>
          <a:noFill/>
          <a:ln/>
        </p:spPr>
        <p:txBody>
          <a:bodyPr wrap="square" lIns="0" tIns="0" rIns="0" bIns="0" rtlCol="0" anchor="ctr"/>
          <a:lstStyle/>
          <a:p>
            <a:pPr indent="0" marL="0">
              <a:buNone/>
            </a:pPr>
            <a:r>
              <a:rPr lang="en-US" sz="950" spc="150" kern="0" dirty="0">
                <a:solidFill>
                  <a:srgbClr val="B85042"/>
                </a:solidFill>
                <a:latin typeface="Courier New" pitchFamily="34" charset="0"/>
                <a:ea typeface="Courier New" pitchFamily="34" charset="-122"/>
                <a:cs typeface="Courier New" pitchFamily="34" charset="-120"/>
              </a:rPr>
              <a:t>TWO BUGS THE TESTS THEMSELVES HAD</a:t>
            </a:r>
            <a:endParaRPr lang="en-US" sz="950" dirty="0"/>
          </a:p>
        </p:txBody>
      </p:sp>
      <p:sp>
        <p:nvSpPr>
          <p:cNvPr id="30" name="Shape 28"/>
          <p:cNvSpPr/>
          <p:nvPr/>
        </p:nvSpPr>
        <p:spPr>
          <a:xfrm>
            <a:off x="6675120" y="3401568"/>
            <a:ext cx="4937760" cy="1325880"/>
          </a:xfrm>
          <a:prstGeom prst="roundRect">
            <a:avLst>
              <a:gd name="adj" fmla="val 4138"/>
            </a:avLst>
          </a:prstGeom>
          <a:solidFill>
            <a:srgbClr val="F7EAE6"/>
          </a:solidFill>
          <a:ln w="12700">
            <a:solidFill>
              <a:srgbClr val="B85042"/>
            </a:solidFill>
            <a:prstDash val="solid"/>
          </a:ln>
        </p:spPr>
      </p:sp>
      <p:sp>
        <p:nvSpPr>
          <p:cNvPr id="31" name="Text 29"/>
          <p:cNvSpPr txBox="1"/>
          <p:nvPr/>
        </p:nvSpPr>
        <p:spPr>
          <a:xfrm>
            <a:off x="6931152" y="3529584"/>
            <a:ext cx="4480560" cy="274320"/>
          </a:xfrm>
          <a:prstGeom prst="rect">
            <a:avLst/>
          </a:prstGeom>
          <a:noFill/>
          <a:ln/>
        </p:spPr>
        <p:txBody>
          <a:bodyPr wrap="square" lIns="0" tIns="0" rIns="0" bIns="0" rtlCol="0" anchor="ctr"/>
          <a:lstStyle/>
          <a:p>
            <a:pPr indent="0" marL="0">
              <a:buNone/>
            </a:pPr>
            <a:r>
              <a:rPr lang="en-US" sz="1250" b="1" dirty="0">
                <a:solidFill>
                  <a:srgbClr val="B85042"/>
                </a:solidFill>
                <a:latin typeface="Calibri" pitchFamily="34" charset="0"/>
                <a:ea typeface="Calibri" pitchFamily="34" charset="-122"/>
                <a:cs typeface="Calibri" pitchFamily="34" charset="-120"/>
              </a:rPr>
              <a:t>A test that spent money</a:t>
            </a:r>
            <a:endParaRPr lang="en-US" sz="1250" dirty="0"/>
          </a:p>
        </p:txBody>
      </p:sp>
      <p:sp>
        <p:nvSpPr>
          <p:cNvPr id="32" name="Text 30"/>
          <p:cNvSpPr txBox="1"/>
          <p:nvPr/>
        </p:nvSpPr>
        <p:spPr>
          <a:xfrm>
            <a:off x="6931152" y="3831336"/>
            <a:ext cx="4434840" cy="822960"/>
          </a:xfrm>
          <a:prstGeom prst="rect">
            <a:avLst/>
          </a:prstGeom>
          <a:noFill/>
          <a:ln/>
        </p:spPr>
        <p:txBody>
          <a:bodyPr wrap="square" lIns="0" tIns="0" rIns="0" bIns="0" rtlCol="0" anchor="ctr"/>
          <a:lstStyle/>
          <a:p>
            <a:pPr indent="0" marL="0">
              <a:lnSpc>
                <a:spcPts val="1400"/>
              </a:lnSpc>
              <a:buNone/>
            </a:pPr>
            <a:r>
              <a:rPr lang="en-US" sz="1050" dirty="0">
                <a:solidFill>
                  <a:srgbClr val="10262B"/>
                </a:solidFill>
                <a:latin typeface="Calibri" pitchFamily="34" charset="0"/>
                <a:ea typeface="Calibri" pitchFamily="34" charset="-122"/>
                <a:cs typeface="Calibri" pitchFamily="34" charset="-120"/>
              </a:rPr>
              <a:t>One test ran the whole live application on every pytest run — real API calls, including a paid one. Fixed by making the import fail deterministically.</a:t>
            </a:r>
            <a:endParaRPr lang="en-US" sz="1050" dirty="0"/>
          </a:p>
        </p:txBody>
      </p:sp>
      <p:sp>
        <p:nvSpPr>
          <p:cNvPr id="33" name="Shape 31"/>
          <p:cNvSpPr/>
          <p:nvPr/>
        </p:nvSpPr>
        <p:spPr>
          <a:xfrm>
            <a:off x="6675120" y="4864608"/>
            <a:ext cx="4937760" cy="1325880"/>
          </a:xfrm>
          <a:prstGeom prst="roundRect">
            <a:avLst>
              <a:gd name="adj" fmla="val 4138"/>
            </a:avLst>
          </a:prstGeom>
          <a:solidFill>
            <a:srgbClr val="F7EAE6"/>
          </a:solidFill>
          <a:ln w="12700">
            <a:solidFill>
              <a:srgbClr val="B85042"/>
            </a:solidFill>
            <a:prstDash val="solid"/>
          </a:ln>
        </p:spPr>
      </p:sp>
      <p:sp>
        <p:nvSpPr>
          <p:cNvPr id="34" name="Text 32"/>
          <p:cNvSpPr txBox="1"/>
          <p:nvPr/>
        </p:nvSpPr>
        <p:spPr>
          <a:xfrm>
            <a:off x="6931152" y="4992624"/>
            <a:ext cx="4480560" cy="274320"/>
          </a:xfrm>
          <a:prstGeom prst="rect">
            <a:avLst/>
          </a:prstGeom>
          <a:noFill/>
          <a:ln/>
        </p:spPr>
        <p:txBody>
          <a:bodyPr wrap="square" lIns="0" tIns="0" rIns="0" bIns="0" rtlCol="0" anchor="ctr"/>
          <a:lstStyle/>
          <a:p>
            <a:pPr indent="0" marL="0">
              <a:buNone/>
            </a:pPr>
            <a:r>
              <a:rPr lang="en-US" sz="1250" b="1" dirty="0">
                <a:solidFill>
                  <a:srgbClr val="B85042"/>
                </a:solidFill>
                <a:latin typeface="Calibri" pitchFamily="34" charset="0"/>
                <a:ea typeface="Calibri" pitchFamily="34" charset="-122"/>
                <a:cs typeface="Calibri" pitchFamily="34" charset="-120"/>
              </a:rPr>
              <a:t>A test that only passed here</a:t>
            </a:r>
            <a:endParaRPr lang="en-US" sz="1250" dirty="0"/>
          </a:p>
        </p:txBody>
      </p:sp>
      <p:sp>
        <p:nvSpPr>
          <p:cNvPr id="35" name="Text 33"/>
          <p:cNvSpPr txBox="1"/>
          <p:nvPr/>
        </p:nvSpPr>
        <p:spPr>
          <a:xfrm>
            <a:off x="6931152" y="5294376"/>
            <a:ext cx="4434840" cy="822960"/>
          </a:xfrm>
          <a:prstGeom prst="rect">
            <a:avLst/>
          </a:prstGeom>
          <a:noFill/>
          <a:ln/>
        </p:spPr>
        <p:txBody>
          <a:bodyPr wrap="square" lIns="0" tIns="0" rIns="0" bIns="0" rtlCol="0" anchor="ctr"/>
          <a:lstStyle/>
          <a:p>
            <a:pPr indent="0" marL="0">
              <a:lnSpc>
                <a:spcPts val="1400"/>
              </a:lnSpc>
              <a:buNone/>
            </a:pPr>
            <a:r>
              <a:rPr lang="en-US" sz="1050" dirty="0">
                <a:solidFill>
                  <a:srgbClr val="10262B"/>
                </a:solidFill>
                <a:latin typeface="Calibri" pitchFamily="34" charset="0"/>
                <a:ea typeface="Calibri" pitchFamily="34" charset="-122"/>
                <a:cs typeface="Calibri" pitchFamily="34" charset="-120"/>
              </a:rPr>
              <a:t>A permissions test used chmod(0o500). Windows ignores that on folders and root bypasses it, so it failed for a teammate. Now the failure is simulated instead.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HONESTY</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What does not work yet</a:t>
            </a:r>
            <a:endParaRPr lang="en-US" sz="3400" dirty="0"/>
          </a:p>
        </p:txBody>
      </p:sp>
      <p:sp>
        <p:nvSpPr>
          <p:cNvPr id="4" name="Shape 2"/>
          <p:cNvSpPr/>
          <p:nvPr/>
        </p:nvSpPr>
        <p:spPr>
          <a:xfrm>
            <a:off x="566928" y="1481328"/>
            <a:ext cx="11064240" cy="1078992"/>
          </a:xfrm>
          <a:prstGeom prst="roundRect">
            <a:avLst>
              <a:gd name="adj" fmla="val 5085"/>
            </a:avLst>
          </a:prstGeom>
          <a:solidFill>
            <a:srgbClr val="F7EAE6"/>
          </a:solidFill>
          <a:ln w="9525">
            <a:solidFill>
              <a:srgbClr val="D7E2E2"/>
            </a:solidFill>
            <a:prstDash val="solid"/>
          </a:ln>
        </p:spPr>
      </p:sp>
      <p:sp>
        <p:nvSpPr>
          <p:cNvPr id="5" name="Shape 3"/>
          <p:cNvSpPr/>
          <p:nvPr/>
        </p:nvSpPr>
        <p:spPr>
          <a:xfrm>
            <a:off x="841248" y="1810512"/>
            <a:ext cx="402336" cy="402336"/>
          </a:xfrm>
          <a:prstGeom prst="ellipse">
            <a:avLst/>
          </a:prstGeom>
          <a:solidFill>
            <a:srgbClr val="B85042"/>
          </a:solidFill>
          <a:ln/>
        </p:spPr>
      </p:sp>
      <p:sp>
        <p:nvSpPr>
          <p:cNvPr id="6" name="Text 4"/>
          <p:cNvSpPr txBox="1"/>
          <p:nvPr/>
        </p:nvSpPr>
        <p:spPr>
          <a:xfrm>
            <a:off x="841248" y="1865376"/>
            <a:ext cx="402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35608" y="1609344"/>
            <a:ext cx="9966960" cy="274320"/>
          </a:xfrm>
          <a:prstGeom prst="rect">
            <a:avLst/>
          </a:prstGeom>
          <a:noFill/>
          <a:ln/>
        </p:spPr>
        <p:txBody>
          <a:bodyPr wrap="square" lIns="0" tIns="0" rIns="0" bIns="0" rtlCol="0" anchor="ctr"/>
          <a:lstStyle/>
          <a:p>
            <a:pPr indent="0" marL="0">
              <a:buNone/>
            </a:pPr>
            <a:r>
              <a:rPr lang="en-US" sz="1350" b="1" dirty="0">
                <a:solidFill>
                  <a:srgbClr val="10262B"/>
                </a:solidFill>
                <a:latin typeface="Calibri" pitchFamily="34" charset="0"/>
                <a:ea typeface="Calibri" pitchFamily="34" charset="-122"/>
                <a:cs typeface="Calibri" pitchFamily="34" charset="-120"/>
              </a:rPr>
              <a:t>Wikipedia returns nothing for question-shaped queries</a:t>
            </a:r>
            <a:endParaRPr lang="en-US" sz="1350" dirty="0"/>
          </a:p>
        </p:txBody>
      </p:sp>
      <p:sp>
        <p:nvSpPr>
          <p:cNvPr id="8" name="Text 6"/>
          <p:cNvSpPr txBox="1"/>
          <p:nvPr/>
        </p:nvSpPr>
        <p:spPr>
          <a:xfrm>
            <a:off x="1435608" y="1901952"/>
            <a:ext cx="9966960" cy="566928"/>
          </a:xfrm>
          <a:prstGeom prst="rect">
            <a:avLst/>
          </a:prstGeom>
          <a:noFill/>
          <a:ln/>
        </p:spPr>
        <p:txBody>
          <a:bodyPr wrap="square" lIns="0" tIns="0" rIns="0" bIns="0" rtlCol="0" anchor="ctr"/>
          <a:lstStyle/>
          <a:p>
            <a:pPr indent="0" marL="0">
              <a:lnSpc>
                <a:spcPts val="1400"/>
              </a:lnSpc>
              <a:buNone/>
            </a:pPr>
            <a:r>
              <a:rPr lang="en-US" sz="1050" dirty="0">
                <a:solidFill>
                  <a:srgbClr val="5C6B6E"/>
                </a:solidFill>
                <a:latin typeface="Calibri" pitchFamily="34" charset="0"/>
                <a:ea typeface="Calibri" pitchFamily="34" charset="-122"/>
                <a:cs typeface="Calibri" pitchFamily="34" charset="-120"/>
              </a:rPr>
              <a:t>ai/sources.py uses action=opensearch, which matches article titles by prefix. "Photosynthesis" returns three results; "What is photosynthesis?" returns none. Verified live: HTTP 200 with an empty list, so it is not rate limiting. The fix needs the full-text endpoint, which is inside ai/ — off-limits, so it goes to the instructor.</a:t>
            </a:r>
            <a:endParaRPr lang="en-US" sz="1050" dirty="0"/>
          </a:p>
        </p:txBody>
      </p:sp>
      <p:sp>
        <p:nvSpPr>
          <p:cNvPr id="9" name="Shape 7"/>
          <p:cNvSpPr/>
          <p:nvPr/>
        </p:nvSpPr>
        <p:spPr>
          <a:xfrm>
            <a:off x="566928" y="2688336"/>
            <a:ext cx="11064240" cy="1078992"/>
          </a:xfrm>
          <a:prstGeom prst="roundRect">
            <a:avLst>
              <a:gd name="adj" fmla="val 5085"/>
            </a:avLst>
          </a:prstGeom>
          <a:solidFill>
            <a:srgbClr val="F7EAE6"/>
          </a:solidFill>
          <a:ln w="9525">
            <a:solidFill>
              <a:srgbClr val="D7E2E2"/>
            </a:solidFill>
            <a:prstDash val="solid"/>
          </a:ln>
        </p:spPr>
      </p:sp>
      <p:sp>
        <p:nvSpPr>
          <p:cNvPr id="10" name="Shape 8"/>
          <p:cNvSpPr/>
          <p:nvPr/>
        </p:nvSpPr>
        <p:spPr>
          <a:xfrm>
            <a:off x="841248" y="3017520"/>
            <a:ext cx="402336" cy="402336"/>
          </a:xfrm>
          <a:prstGeom prst="ellipse">
            <a:avLst/>
          </a:prstGeom>
          <a:solidFill>
            <a:srgbClr val="B85042"/>
          </a:solidFill>
          <a:ln/>
        </p:spPr>
      </p:sp>
      <p:sp>
        <p:nvSpPr>
          <p:cNvPr id="11" name="Text 9"/>
          <p:cNvSpPr txBox="1"/>
          <p:nvPr/>
        </p:nvSpPr>
        <p:spPr>
          <a:xfrm>
            <a:off x="841248" y="3072384"/>
            <a:ext cx="402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435608" y="2816352"/>
            <a:ext cx="9966960" cy="274320"/>
          </a:xfrm>
          <a:prstGeom prst="rect">
            <a:avLst/>
          </a:prstGeom>
          <a:noFill/>
          <a:ln/>
        </p:spPr>
        <p:txBody>
          <a:bodyPr wrap="square" lIns="0" tIns="0" rIns="0" bIns="0" rtlCol="0" anchor="ctr"/>
          <a:lstStyle/>
          <a:p>
            <a:pPr indent="0" marL="0">
              <a:buNone/>
            </a:pPr>
            <a:r>
              <a:rPr lang="en-US" sz="1350" b="1" dirty="0">
                <a:solidFill>
                  <a:srgbClr val="10262B"/>
                </a:solidFill>
                <a:latin typeface="Calibri" pitchFamily="34" charset="0"/>
                <a:ea typeface="Calibri" pitchFamily="34" charset="-122"/>
                <a:cs typeface="Calibri" pitchFamily="34" charset="-120"/>
              </a:rPr>
              <a:t>No timeout on the LLM call</a:t>
            </a:r>
            <a:endParaRPr lang="en-US" sz="1350" dirty="0"/>
          </a:p>
        </p:txBody>
      </p:sp>
      <p:sp>
        <p:nvSpPr>
          <p:cNvPr id="13" name="Text 11"/>
          <p:cNvSpPr txBox="1"/>
          <p:nvPr/>
        </p:nvSpPr>
        <p:spPr>
          <a:xfrm>
            <a:off x="1435608" y="3108960"/>
            <a:ext cx="9966960" cy="566928"/>
          </a:xfrm>
          <a:prstGeom prst="rect">
            <a:avLst/>
          </a:prstGeom>
          <a:noFill/>
          <a:ln/>
        </p:spPr>
        <p:txBody>
          <a:bodyPr wrap="square" lIns="0" tIns="0" rIns="0" bIns="0" rtlCol="0" anchor="ctr"/>
          <a:lstStyle/>
          <a:p>
            <a:pPr indent="0" marL="0">
              <a:lnSpc>
                <a:spcPts val="1400"/>
              </a:lnSpc>
              <a:buNone/>
            </a:pPr>
            <a:r>
              <a:rPr lang="en-US" sz="1050" dirty="0">
                <a:solidFill>
                  <a:srgbClr val="5C6B6E"/>
                </a:solidFill>
                <a:latin typeface="Calibri" pitchFamily="34" charset="0"/>
                <a:ea typeface="Calibri" pitchFamily="34" charset="-122"/>
                <a:cs typeface="Calibri" pitchFamily="34" charset="-120"/>
              </a:rPr>
              <a:t>Fetches have an eight-second deadline; synthesis has none. It runs on a worker thread, and Python threads cannot be cancelled, so a timeout would free the caller while the work continued.</a:t>
            </a:r>
            <a:endParaRPr lang="en-US" sz="1050" dirty="0"/>
          </a:p>
        </p:txBody>
      </p:sp>
      <p:sp>
        <p:nvSpPr>
          <p:cNvPr id="14" name="Shape 12"/>
          <p:cNvSpPr/>
          <p:nvPr/>
        </p:nvSpPr>
        <p:spPr>
          <a:xfrm>
            <a:off x="566928" y="3895344"/>
            <a:ext cx="11064240" cy="1078992"/>
          </a:xfrm>
          <a:prstGeom prst="roundRect">
            <a:avLst>
              <a:gd name="adj" fmla="val 5085"/>
            </a:avLst>
          </a:prstGeom>
          <a:solidFill>
            <a:srgbClr val="EEF4F4"/>
          </a:solidFill>
          <a:ln w="9525">
            <a:solidFill>
              <a:srgbClr val="D7E2E2"/>
            </a:solidFill>
            <a:prstDash val="solid"/>
          </a:ln>
        </p:spPr>
      </p:sp>
      <p:sp>
        <p:nvSpPr>
          <p:cNvPr id="15" name="Shape 13"/>
          <p:cNvSpPr/>
          <p:nvPr/>
        </p:nvSpPr>
        <p:spPr>
          <a:xfrm>
            <a:off x="841248" y="4224528"/>
            <a:ext cx="402336" cy="402336"/>
          </a:xfrm>
          <a:prstGeom prst="ellipse">
            <a:avLst/>
          </a:prstGeom>
          <a:solidFill>
            <a:srgbClr val="5C6B6E"/>
          </a:solidFill>
          <a:ln/>
        </p:spPr>
      </p:sp>
      <p:sp>
        <p:nvSpPr>
          <p:cNvPr id="16" name="Text 14"/>
          <p:cNvSpPr txBox="1"/>
          <p:nvPr/>
        </p:nvSpPr>
        <p:spPr>
          <a:xfrm>
            <a:off x="841248" y="4279392"/>
            <a:ext cx="402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35608" y="4023360"/>
            <a:ext cx="9966960" cy="274320"/>
          </a:xfrm>
          <a:prstGeom prst="rect">
            <a:avLst/>
          </a:prstGeom>
          <a:noFill/>
          <a:ln/>
        </p:spPr>
        <p:txBody>
          <a:bodyPr wrap="square" lIns="0" tIns="0" rIns="0" bIns="0" rtlCol="0" anchor="ctr"/>
          <a:lstStyle/>
          <a:p>
            <a:pPr indent="0" marL="0">
              <a:buNone/>
            </a:pPr>
            <a:r>
              <a:rPr lang="en-US" sz="1350" b="1" dirty="0">
                <a:solidFill>
                  <a:srgbClr val="10262B"/>
                </a:solidFill>
                <a:latin typeface="Calibri" pitchFamily="34" charset="0"/>
                <a:ea typeface="Calibri" pitchFamily="34" charset="-122"/>
                <a:cs typeface="Calibri" pitchFamily="34" charset="-120"/>
              </a:rPr>
              <a:t>Two identical questions at once both fetch</a:t>
            </a:r>
            <a:endParaRPr lang="en-US" sz="1350" dirty="0"/>
          </a:p>
        </p:txBody>
      </p:sp>
      <p:sp>
        <p:nvSpPr>
          <p:cNvPr id="18" name="Text 16"/>
          <p:cNvSpPr txBox="1"/>
          <p:nvPr/>
        </p:nvSpPr>
        <p:spPr>
          <a:xfrm>
            <a:off x="1435608" y="4315968"/>
            <a:ext cx="9966960" cy="566928"/>
          </a:xfrm>
          <a:prstGeom prst="rect">
            <a:avLst/>
          </a:prstGeom>
          <a:noFill/>
          <a:ln/>
        </p:spPr>
        <p:txBody>
          <a:bodyPr wrap="square" lIns="0" tIns="0" rIns="0" bIns="0" rtlCol="0" anchor="ctr"/>
          <a:lstStyle/>
          <a:p>
            <a:pPr indent="0" marL="0">
              <a:lnSpc>
                <a:spcPts val="1400"/>
              </a:lnSpc>
              <a:buNone/>
            </a:pPr>
            <a:r>
              <a:rPr lang="en-US" sz="1050" dirty="0">
                <a:solidFill>
                  <a:srgbClr val="5C6B6E"/>
                </a:solidFill>
                <a:latin typeface="Calibri" pitchFamily="34" charset="0"/>
                <a:ea typeface="Calibri" pitchFamily="34" charset="-122"/>
                <a:cs typeface="Calibri" pitchFamily="34" charset="-120"/>
              </a:rPr>
              <a:t>Nothing coordinates concurrent misses. Writes are atomic so the cache never corrupts — the cost is one wasted fetch, not a wrong answer.</a:t>
            </a:r>
            <a:endParaRPr lang="en-US" sz="1050" dirty="0"/>
          </a:p>
        </p:txBody>
      </p:sp>
      <p:sp>
        <p:nvSpPr>
          <p:cNvPr id="19" name="Shape 17"/>
          <p:cNvSpPr/>
          <p:nvPr/>
        </p:nvSpPr>
        <p:spPr>
          <a:xfrm>
            <a:off x="566928" y="5102352"/>
            <a:ext cx="11064240" cy="1078992"/>
          </a:xfrm>
          <a:prstGeom prst="roundRect">
            <a:avLst>
              <a:gd name="adj" fmla="val 5085"/>
            </a:avLst>
          </a:prstGeom>
          <a:solidFill>
            <a:srgbClr val="EEF4F4"/>
          </a:solidFill>
          <a:ln w="9525">
            <a:solidFill>
              <a:srgbClr val="D7E2E2"/>
            </a:solidFill>
            <a:prstDash val="solid"/>
          </a:ln>
        </p:spPr>
      </p:sp>
      <p:sp>
        <p:nvSpPr>
          <p:cNvPr id="20" name="Shape 18"/>
          <p:cNvSpPr/>
          <p:nvPr/>
        </p:nvSpPr>
        <p:spPr>
          <a:xfrm>
            <a:off x="841248" y="5431536"/>
            <a:ext cx="402336" cy="402336"/>
          </a:xfrm>
          <a:prstGeom prst="ellipse">
            <a:avLst/>
          </a:prstGeom>
          <a:solidFill>
            <a:srgbClr val="5C6B6E"/>
          </a:solidFill>
          <a:ln/>
        </p:spPr>
      </p:sp>
      <p:sp>
        <p:nvSpPr>
          <p:cNvPr id="21" name="Text 19"/>
          <p:cNvSpPr txBox="1"/>
          <p:nvPr/>
        </p:nvSpPr>
        <p:spPr>
          <a:xfrm>
            <a:off x="841248" y="5486400"/>
            <a:ext cx="402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435608" y="5230368"/>
            <a:ext cx="9966960" cy="274320"/>
          </a:xfrm>
          <a:prstGeom prst="rect">
            <a:avLst/>
          </a:prstGeom>
          <a:noFill/>
          <a:ln/>
        </p:spPr>
        <p:txBody>
          <a:bodyPr wrap="square" lIns="0" tIns="0" rIns="0" bIns="0" rtlCol="0" anchor="ctr"/>
          <a:lstStyle/>
          <a:p>
            <a:pPr indent="0" marL="0">
              <a:buNone/>
            </a:pPr>
            <a:r>
              <a:rPr lang="en-US" sz="1350" b="1" dirty="0">
                <a:solidFill>
                  <a:srgbClr val="10262B"/>
                </a:solidFill>
                <a:latin typeface="Calibri" pitchFamily="34" charset="0"/>
                <a:ea typeface="Calibri" pitchFamily="34" charset="-122"/>
                <a:cs typeface="Calibri" pitchFamily="34" charset="-120"/>
              </a:rPr>
              <a:t>Changing the TTL does not shorten saved entries</a:t>
            </a:r>
            <a:endParaRPr lang="en-US" sz="1350" dirty="0"/>
          </a:p>
        </p:txBody>
      </p:sp>
      <p:sp>
        <p:nvSpPr>
          <p:cNvPr id="23" name="Text 21"/>
          <p:cNvSpPr txBox="1"/>
          <p:nvPr/>
        </p:nvSpPr>
        <p:spPr>
          <a:xfrm>
            <a:off x="1435608" y="5522976"/>
            <a:ext cx="9966960" cy="566928"/>
          </a:xfrm>
          <a:prstGeom prst="rect">
            <a:avLst/>
          </a:prstGeom>
          <a:noFill/>
          <a:ln/>
        </p:spPr>
        <p:txBody>
          <a:bodyPr wrap="square" lIns="0" tIns="0" rIns="0" bIns="0" rtlCol="0" anchor="ctr"/>
          <a:lstStyle/>
          <a:p>
            <a:pPr indent="0" marL="0">
              <a:lnSpc>
                <a:spcPts val="1400"/>
              </a:lnSpc>
              <a:buNone/>
            </a:pPr>
            <a:r>
              <a:rPr lang="en-US" sz="1050" dirty="0">
                <a:solidFill>
                  <a:srgbClr val="5C6B6E"/>
                </a:solidFill>
                <a:latin typeface="Calibri" pitchFamily="34" charset="0"/>
                <a:ea typeface="Calibri" pitchFamily="34" charset="-122"/>
                <a:cs typeface="Calibri" pitchFamily="34" charset="-120"/>
              </a:rPr>
              <a:t>expires_at is written as an absolute time. The escape hatches are --no-cache or deleting .cache/.</a:t>
            </a:r>
            <a:endParaRPr lang="en-US" sz="1050" dirty="0"/>
          </a:p>
        </p:txBody>
      </p:sp>
      <p:sp>
        <p:nvSpPr>
          <p:cNvPr id="24" name="Text 22"/>
          <p:cNvSpPr txBox="1"/>
          <p:nvPr/>
        </p:nvSpPr>
        <p:spPr>
          <a:xfrm>
            <a:off x="566928" y="6336792"/>
            <a:ext cx="11064240" cy="274320"/>
          </a:xfrm>
          <a:prstGeom prst="rect">
            <a:avLst/>
          </a:prstGeom>
          <a:noFill/>
          <a:ln/>
        </p:spPr>
        <p:txBody>
          <a:bodyPr wrap="square" lIns="0" tIns="0" rIns="0" bIns="0" rtlCol="0" anchor="ctr"/>
          <a:lstStyle/>
          <a:p>
            <a:pPr indent="0" marL="0">
              <a:buNone/>
            </a:pPr>
            <a:r>
              <a:rPr lang="en-US" sz="1000" dirty="0">
                <a:solidFill>
                  <a:srgbClr val="5C6B6E"/>
                </a:solidFill>
                <a:latin typeface="Calibri" pitchFamily="34" charset="0"/>
                <a:ea typeface="Calibri" pitchFamily="34" charset="-122"/>
                <a:cs typeface="Calibri" pitchFamily="34" charset="-120"/>
              </a:rPr>
              <a:t>Stating these before being asked is cheaper than being asked.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058400" cy="256032"/>
          </a:xfrm>
          <a:prstGeom prst="rect">
            <a:avLst/>
          </a:prstGeom>
          <a:noFill/>
          <a:ln/>
        </p:spPr>
        <p:txBody>
          <a:bodyPr wrap="square" lIns="0" tIns="0" rIns="0" bIns="0" rtlCol="0" anchor="ctr"/>
          <a:lstStyle/>
          <a:p>
            <a:pPr indent="0" marL="0">
              <a:buNone/>
            </a:pPr>
            <a:r>
              <a:rPr lang="en-US" sz="1100" spc="200" kern="0" dirty="0">
                <a:solidFill>
                  <a:srgbClr val="028090"/>
                </a:solidFill>
                <a:latin typeface="Courier New" pitchFamily="34" charset="0"/>
                <a:ea typeface="Courier New" pitchFamily="34" charset="-122"/>
                <a:cs typeface="Courier New" pitchFamily="34" charset="-120"/>
              </a:rPr>
              <a:t>PROCESS</a:t>
            </a:r>
            <a:endParaRPr lang="en-US" sz="1100" dirty="0"/>
          </a:p>
        </p:txBody>
      </p:sp>
      <p:sp>
        <p:nvSpPr>
          <p:cNvPr id="3" name="Text 1"/>
          <p:cNvSpPr txBox="1"/>
          <p:nvPr/>
        </p:nvSpPr>
        <p:spPr>
          <a:xfrm>
            <a:off x="566928" y="658368"/>
            <a:ext cx="11064240" cy="658368"/>
          </a:xfrm>
          <a:prstGeom prst="rect">
            <a:avLst/>
          </a:prstGeom>
          <a:noFill/>
          <a:ln/>
        </p:spPr>
        <p:txBody>
          <a:bodyPr wrap="square" lIns="0" tIns="0" rIns="0" bIns="0" rtlCol="0" anchor="ctr"/>
          <a:lstStyle/>
          <a:p>
            <a:pPr indent="0" marL="0">
              <a:buNone/>
            </a:pPr>
            <a:r>
              <a:rPr lang="en-US" sz="3400" b="1" dirty="0">
                <a:solidFill>
                  <a:srgbClr val="10262B"/>
                </a:solidFill>
                <a:latin typeface="Cambria" pitchFamily="34" charset="0"/>
                <a:ea typeface="Cambria" pitchFamily="34" charset="-122"/>
                <a:cs typeface="Cambria" pitchFamily="34" charset="-120"/>
              </a:rPr>
              <a:t>How the code got here</a:t>
            </a:r>
            <a:endParaRPr lang="en-US" sz="3400" dirty="0"/>
          </a:p>
        </p:txBody>
      </p:sp>
      <p:sp>
        <p:nvSpPr>
          <p:cNvPr id="4" name="Shape 2"/>
          <p:cNvSpPr/>
          <p:nvPr/>
        </p:nvSpPr>
        <p:spPr>
          <a:xfrm>
            <a:off x="566928" y="1536192"/>
            <a:ext cx="5669280" cy="731520"/>
          </a:xfrm>
          <a:prstGeom prst="roundRect">
            <a:avLst>
              <a:gd name="adj" fmla="val 7500"/>
            </a:avLst>
          </a:prstGeom>
          <a:solidFill>
            <a:srgbClr val="EEF4F4"/>
          </a:solidFill>
          <a:ln w="9525">
            <a:solidFill>
              <a:srgbClr val="D7E2E2"/>
            </a:solidFill>
            <a:prstDash val="solid"/>
          </a:ln>
        </p:spPr>
      </p:sp>
      <p:sp>
        <p:nvSpPr>
          <p:cNvPr id="5" name="Shape 3"/>
          <p:cNvSpPr/>
          <p:nvPr/>
        </p:nvSpPr>
        <p:spPr>
          <a:xfrm>
            <a:off x="768096" y="1709928"/>
            <a:ext cx="384048" cy="384048"/>
          </a:xfrm>
          <a:prstGeom prst="ellipse">
            <a:avLst/>
          </a:prstGeom>
          <a:solidFill>
            <a:srgbClr val="028090"/>
          </a:solidFill>
          <a:ln/>
        </p:spPr>
      </p:sp>
      <p:sp>
        <p:nvSpPr>
          <p:cNvPr id="6" name="Text 4"/>
          <p:cNvSpPr txBox="1"/>
          <p:nvPr/>
        </p:nvSpPr>
        <p:spPr>
          <a:xfrm>
            <a:off x="768096" y="1760220"/>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16736" y="1645920"/>
            <a:ext cx="4754880" cy="256032"/>
          </a:xfrm>
          <a:prstGeom prst="rect">
            <a:avLst/>
          </a:prstGeom>
          <a:noFill/>
          <a:ln/>
        </p:spPr>
        <p:txBody>
          <a:bodyPr wrap="square" lIns="0" tIns="0" rIns="0" bIns="0" rtlCol="0" anchor="ctr"/>
          <a:lstStyle/>
          <a:p>
            <a:pPr indent="0" marL="0">
              <a:buNone/>
            </a:pPr>
            <a:r>
              <a:rPr lang="en-US" sz="1250" b="1" dirty="0">
                <a:solidFill>
                  <a:srgbClr val="10262B"/>
                </a:solidFill>
                <a:latin typeface="Calibri" pitchFamily="34" charset="0"/>
                <a:ea typeface="Calibri" pitchFamily="34" charset="-122"/>
                <a:cs typeface="Calibri" pitchFamily="34" charset="-120"/>
              </a:rPr>
              <a:t>Branch per change</a:t>
            </a:r>
            <a:endParaRPr lang="en-US" sz="1250" dirty="0"/>
          </a:p>
        </p:txBody>
      </p:sp>
      <p:sp>
        <p:nvSpPr>
          <p:cNvPr id="8" name="Text 6"/>
          <p:cNvSpPr txBox="1"/>
          <p:nvPr/>
        </p:nvSpPr>
        <p:spPr>
          <a:xfrm>
            <a:off x="1316736" y="1920240"/>
            <a:ext cx="4754880" cy="292608"/>
          </a:xfrm>
          <a:prstGeom prst="rect">
            <a:avLst/>
          </a:prstGeom>
          <a:noFill/>
          <a:ln/>
        </p:spPr>
        <p:txBody>
          <a:bodyPr wrap="square" lIns="0" tIns="0" rIns="0" bIns="0" rtlCol="0" anchor="ctr"/>
          <a:lstStyle/>
          <a:p>
            <a:pPr indent="0" marL="0">
              <a:buNone/>
            </a:pPr>
            <a:r>
              <a:rPr lang="en-US" sz="1050" dirty="0">
                <a:solidFill>
                  <a:srgbClr val="5C6B6E"/>
                </a:solidFill>
                <a:latin typeface="Calibri" pitchFamily="34" charset="0"/>
                <a:ea typeface="Calibri" pitchFamily="34" charset="-122"/>
                <a:cs typeface="Calibri" pitchFamily="34" charset="-120"/>
              </a:rPr>
              <a:t>farid/… · every change on its own branch, never straight to main</a:t>
            </a:r>
            <a:endParaRPr lang="en-US" sz="1050" dirty="0"/>
          </a:p>
        </p:txBody>
      </p:sp>
      <p:sp>
        <p:nvSpPr>
          <p:cNvPr id="9" name="Shape 7"/>
          <p:cNvSpPr/>
          <p:nvPr/>
        </p:nvSpPr>
        <p:spPr>
          <a:xfrm>
            <a:off x="566928" y="2377440"/>
            <a:ext cx="5669280" cy="731520"/>
          </a:xfrm>
          <a:prstGeom prst="roundRect">
            <a:avLst>
              <a:gd name="adj" fmla="val 7500"/>
            </a:avLst>
          </a:prstGeom>
          <a:solidFill>
            <a:srgbClr val="EEF4F4"/>
          </a:solidFill>
          <a:ln w="9525">
            <a:solidFill>
              <a:srgbClr val="D7E2E2"/>
            </a:solidFill>
            <a:prstDash val="solid"/>
          </a:ln>
        </p:spPr>
      </p:sp>
      <p:sp>
        <p:nvSpPr>
          <p:cNvPr id="10" name="Shape 8"/>
          <p:cNvSpPr/>
          <p:nvPr/>
        </p:nvSpPr>
        <p:spPr>
          <a:xfrm>
            <a:off x="768096" y="2551176"/>
            <a:ext cx="384048" cy="384048"/>
          </a:xfrm>
          <a:prstGeom prst="ellipse">
            <a:avLst/>
          </a:prstGeom>
          <a:solidFill>
            <a:srgbClr val="028090"/>
          </a:solidFill>
          <a:ln/>
        </p:spPr>
      </p:sp>
      <p:sp>
        <p:nvSpPr>
          <p:cNvPr id="11" name="Text 9"/>
          <p:cNvSpPr txBox="1"/>
          <p:nvPr/>
        </p:nvSpPr>
        <p:spPr>
          <a:xfrm>
            <a:off x="768096" y="2601468"/>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316736" y="2487168"/>
            <a:ext cx="4754880" cy="256032"/>
          </a:xfrm>
          <a:prstGeom prst="rect">
            <a:avLst/>
          </a:prstGeom>
          <a:noFill/>
          <a:ln/>
        </p:spPr>
        <p:txBody>
          <a:bodyPr wrap="square" lIns="0" tIns="0" rIns="0" bIns="0" rtlCol="0" anchor="ctr"/>
          <a:lstStyle/>
          <a:p>
            <a:pPr indent="0" marL="0">
              <a:buNone/>
            </a:pPr>
            <a:r>
              <a:rPr lang="en-US" sz="1250" b="1" dirty="0">
                <a:solidFill>
                  <a:srgbClr val="10262B"/>
                </a:solidFill>
                <a:latin typeface="Calibri" pitchFamily="34" charset="0"/>
                <a:ea typeface="Calibri" pitchFamily="34" charset="-122"/>
                <a:cs typeface="Calibri" pitchFamily="34" charset="-120"/>
              </a:rPr>
              <a:t>Pull request per change</a:t>
            </a:r>
            <a:endParaRPr lang="en-US" sz="1250" dirty="0"/>
          </a:p>
        </p:txBody>
      </p:sp>
      <p:sp>
        <p:nvSpPr>
          <p:cNvPr id="13" name="Text 11"/>
          <p:cNvSpPr txBox="1"/>
          <p:nvPr/>
        </p:nvSpPr>
        <p:spPr>
          <a:xfrm>
            <a:off x="1316736" y="2761488"/>
            <a:ext cx="4754880" cy="292608"/>
          </a:xfrm>
          <a:prstGeom prst="rect">
            <a:avLst/>
          </a:prstGeom>
          <a:noFill/>
          <a:ln/>
        </p:spPr>
        <p:txBody>
          <a:bodyPr wrap="square" lIns="0" tIns="0" rIns="0" bIns="0" rtlCol="0" anchor="ctr"/>
          <a:lstStyle/>
          <a:p>
            <a:pPr indent="0" marL="0">
              <a:buNone/>
            </a:pPr>
            <a:r>
              <a:rPr lang="en-US" sz="1050" dirty="0">
                <a:solidFill>
                  <a:srgbClr val="5C6B6E"/>
                </a:solidFill>
                <a:latin typeface="Calibri" pitchFamily="34" charset="0"/>
                <a:ea typeface="Calibri" pitchFamily="34" charset="-122"/>
                <a:cs typeface="Calibri" pitchFamily="34" charset="-120"/>
              </a:rPr>
              <a:t>11 pull requests · small enough to actually read</a:t>
            </a:r>
            <a:endParaRPr lang="en-US" sz="1050" dirty="0"/>
          </a:p>
        </p:txBody>
      </p:sp>
      <p:sp>
        <p:nvSpPr>
          <p:cNvPr id="14" name="Shape 12"/>
          <p:cNvSpPr/>
          <p:nvPr/>
        </p:nvSpPr>
        <p:spPr>
          <a:xfrm>
            <a:off x="566928" y="3218688"/>
            <a:ext cx="5669280" cy="731520"/>
          </a:xfrm>
          <a:prstGeom prst="roundRect">
            <a:avLst>
              <a:gd name="adj" fmla="val 7500"/>
            </a:avLst>
          </a:prstGeom>
          <a:solidFill>
            <a:srgbClr val="EEF4F4"/>
          </a:solidFill>
          <a:ln w="9525">
            <a:solidFill>
              <a:srgbClr val="D7E2E2"/>
            </a:solidFill>
            <a:prstDash val="solid"/>
          </a:ln>
        </p:spPr>
      </p:sp>
      <p:sp>
        <p:nvSpPr>
          <p:cNvPr id="15" name="Shape 13"/>
          <p:cNvSpPr/>
          <p:nvPr/>
        </p:nvSpPr>
        <p:spPr>
          <a:xfrm>
            <a:off x="768096" y="3392424"/>
            <a:ext cx="384048" cy="384048"/>
          </a:xfrm>
          <a:prstGeom prst="ellipse">
            <a:avLst/>
          </a:prstGeom>
          <a:solidFill>
            <a:srgbClr val="028090"/>
          </a:solidFill>
          <a:ln/>
        </p:spPr>
      </p:sp>
      <p:sp>
        <p:nvSpPr>
          <p:cNvPr id="16" name="Text 14"/>
          <p:cNvSpPr txBox="1"/>
          <p:nvPr/>
        </p:nvSpPr>
        <p:spPr>
          <a:xfrm>
            <a:off x="768096" y="3442716"/>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316736" y="3328416"/>
            <a:ext cx="4754880" cy="256032"/>
          </a:xfrm>
          <a:prstGeom prst="rect">
            <a:avLst/>
          </a:prstGeom>
          <a:noFill/>
          <a:ln/>
        </p:spPr>
        <p:txBody>
          <a:bodyPr wrap="square" lIns="0" tIns="0" rIns="0" bIns="0" rtlCol="0" anchor="ctr"/>
          <a:lstStyle/>
          <a:p>
            <a:pPr indent="0" marL="0">
              <a:buNone/>
            </a:pPr>
            <a:r>
              <a:rPr lang="en-US" sz="1250" b="1" dirty="0">
                <a:solidFill>
                  <a:srgbClr val="10262B"/>
                </a:solidFill>
                <a:latin typeface="Calibri" pitchFamily="34" charset="0"/>
                <a:ea typeface="Calibri" pitchFamily="34" charset="-122"/>
                <a:cs typeface="Calibri" pitchFamily="34" charset="-120"/>
              </a:rPr>
              <a:t>Review before merge</a:t>
            </a:r>
            <a:endParaRPr lang="en-US" sz="1250" dirty="0"/>
          </a:p>
        </p:txBody>
      </p:sp>
      <p:sp>
        <p:nvSpPr>
          <p:cNvPr id="18" name="Text 16"/>
          <p:cNvSpPr txBox="1"/>
          <p:nvPr/>
        </p:nvSpPr>
        <p:spPr>
          <a:xfrm>
            <a:off x="1316736" y="3602736"/>
            <a:ext cx="4754880" cy="292608"/>
          </a:xfrm>
          <a:prstGeom prst="rect">
            <a:avLst/>
          </a:prstGeom>
          <a:noFill/>
          <a:ln/>
        </p:spPr>
        <p:txBody>
          <a:bodyPr wrap="square" lIns="0" tIns="0" rIns="0" bIns="0" rtlCol="0" anchor="ctr"/>
          <a:lstStyle/>
          <a:p>
            <a:pPr indent="0" marL="0">
              <a:buNone/>
            </a:pPr>
            <a:r>
              <a:rPr lang="en-US" sz="1050" dirty="0">
                <a:solidFill>
                  <a:srgbClr val="5C6B6E"/>
                </a:solidFill>
                <a:latin typeface="Calibri" pitchFamily="34" charset="0"/>
                <a:ea typeface="Calibri" pitchFamily="34" charset="-122"/>
                <a:cs typeface="Calibri" pitchFamily="34" charset="-120"/>
              </a:rPr>
              <a:t>one approval, then squash — after the early PRs went in unreviewed</a:t>
            </a:r>
            <a:endParaRPr lang="en-US" sz="1050" dirty="0"/>
          </a:p>
        </p:txBody>
      </p:sp>
      <p:sp>
        <p:nvSpPr>
          <p:cNvPr id="19" name="Shape 17"/>
          <p:cNvSpPr/>
          <p:nvPr/>
        </p:nvSpPr>
        <p:spPr>
          <a:xfrm>
            <a:off x="566928" y="4059936"/>
            <a:ext cx="5669280" cy="731520"/>
          </a:xfrm>
          <a:prstGeom prst="roundRect">
            <a:avLst>
              <a:gd name="adj" fmla="val 7500"/>
            </a:avLst>
          </a:prstGeom>
          <a:solidFill>
            <a:srgbClr val="EEF4F4"/>
          </a:solidFill>
          <a:ln w="9525">
            <a:solidFill>
              <a:srgbClr val="D7E2E2"/>
            </a:solidFill>
            <a:prstDash val="solid"/>
          </a:ln>
        </p:spPr>
      </p:sp>
      <p:sp>
        <p:nvSpPr>
          <p:cNvPr id="20" name="Shape 18"/>
          <p:cNvSpPr/>
          <p:nvPr/>
        </p:nvSpPr>
        <p:spPr>
          <a:xfrm>
            <a:off x="768096" y="4233672"/>
            <a:ext cx="384048" cy="384048"/>
          </a:xfrm>
          <a:prstGeom prst="ellipse">
            <a:avLst/>
          </a:prstGeom>
          <a:solidFill>
            <a:srgbClr val="028090"/>
          </a:solidFill>
          <a:ln/>
        </p:spPr>
      </p:sp>
      <p:sp>
        <p:nvSpPr>
          <p:cNvPr id="21" name="Text 19"/>
          <p:cNvSpPr txBox="1"/>
          <p:nvPr/>
        </p:nvSpPr>
        <p:spPr>
          <a:xfrm>
            <a:off x="768096" y="4283964"/>
            <a:ext cx="38404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316736" y="4169664"/>
            <a:ext cx="4754880" cy="256032"/>
          </a:xfrm>
          <a:prstGeom prst="rect">
            <a:avLst/>
          </a:prstGeom>
          <a:noFill/>
          <a:ln/>
        </p:spPr>
        <p:txBody>
          <a:bodyPr wrap="square" lIns="0" tIns="0" rIns="0" bIns="0" rtlCol="0" anchor="ctr"/>
          <a:lstStyle/>
          <a:p>
            <a:pPr indent="0" marL="0">
              <a:buNone/>
            </a:pPr>
            <a:r>
              <a:rPr lang="en-US" sz="1250" b="1" dirty="0">
                <a:solidFill>
                  <a:srgbClr val="10262B"/>
                </a:solidFill>
                <a:latin typeface="Calibri" pitchFamily="34" charset="0"/>
                <a:ea typeface="Calibri" pitchFamily="34" charset="-122"/>
                <a:cs typeface="Calibri" pitchFamily="34" charset="-120"/>
              </a:rPr>
              <a:t>Ownership in writing</a:t>
            </a:r>
            <a:endParaRPr lang="en-US" sz="1250" dirty="0"/>
          </a:p>
        </p:txBody>
      </p:sp>
      <p:sp>
        <p:nvSpPr>
          <p:cNvPr id="23" name="Text 21"/>
          <p:cNvSpPr txBox="1"/>
          <p:nvPr/>
        </p:nvSpPr>
        <p:spPr>
          <a:xfrm>
            <a:off x="1316736" y="4443984"/>
            <a:ext cx="4754880" cy="292608"/>
          </a:xfrm>
          <a:prstGeom prst="rect">
            <a:avLst/>
          </a:prstGeom>
          <a:noFill/>
          <a:ln/>
        </p:spPr>
        <p:txBody>
          <a:bodyPr wrap="square" lIns="0" tIns="0" rIns="0" bIns="0" rtlCol="0" anchor="ctr"/>
          <a:lstStyle/>
          <a:p>
            <a:pPr indent="0" marL="0">
              <a:buNone/>
            </a:pPr>
            <a:r>
              <a:rPr lang="en-US" sz="1050" dirty="0">
                <a:solidFill>
                  <a:srgbClr val="5C6B6E"/>
                </a:solidFill>
                <a:latin typeface="Calibri" pitchFamily="34" charset="0"/>
                <a:ea typeface="Calibri" pitchFamily="34" charset="-122"/>
                <a:cs typeface="Calibri" pitchFamily="34" charset="-120"/>
              </a:rPr>
              <a:t>two files were built twice before we fixed how work was assigned</a:t>
            </a:r>
            <a:endParaRPr lang="en-US" sz="1050" dirty="0"/>
          </a:p>
        </p:txBody>
      </p:sp>
      <p:sp>
        <p:nvSpPr>
          <p:cNvPr id="24" name="Shape 22"/>
          <p:cNvSpPr/>
          <p:nvPr/>
        </p:nvSpPr>
        <p:spPr>
          <a:xfrm>
            <a:off x="6675120" y="1536192"/>
            <a:ext cx="4937760" cy="2011680"/>
          </a:xfrm>
          <a:prstGeom prst="roundRect">
            <a:avLst>
              <a:gd name="adj" fmla="val 2727"/>
            </a:avLst>
          </a:prstGeom>
          <a:solidFill>
            <a:srgbClr val="10262B"/>
          </a:solidFill>
          <a:ln w="9525">
            <a:solidFill>
              <a:srgbClr val="D7E2E2"/>
            </a:solidFill>
            <a:prstDash val="solid"/>
          </a:ln>
        </p:spPr>
      </p:sp>
      <p:sp>
        <p:nvSpPr>
          <p:cNvPr id="25" name="Text 23"/>
          <p:cNvSpPr txBox="1"/>
          <p:nvPr/>
        </p:nvSpPr>
        <p:spPr>
          <a:xfrm>
            <a:off x="6949440" y="1719072"/>
            <a:ext cx="4389120" cy="228600"/>
          </a:xfrm>
          <a:prstGeom prst="rect">
            <a:avLst/>
          </a:prstGeom>
          <a:noFill/>
          <a:ln/>
        </p:spPr>
        <p:txBody>
          <a:bodyPr wrap="square" lIns="0" tIns="0" rIns="0" bIns="0" rtlCol="0" anchor="ctr"/>
          <a:lstStyle/>
          <a:p>
            <a:pPr indent="0" marL="0">
              <a:buNone/>
            </a:pPr>
            <a:r>
              <a:rPr lang="en-US" sz="950" spc="150" kern="0" dirty="0">
                <a:solidFill>
                  <a:srgbClr val="02C39A"/>
                </a:solidFill>
                <a:latin typeface="Courier New" pitchFamily="34" charset="0"/>
                <a:ea typeface="Courier New" pitchFamily="34" charset="-122"/>
                <a:cs typeface="Courier New" pitchFamily="34" charset="-120"/>
              </a:rPr>
              <a:t>WHAT WE WOULD DO DIFFERENTLY</a:t>
            </a:r>
            <a:endParaRPr lang="en-US" sz="950" dirty="0"/>
          </a:p>
        </p:txBody>
      </p:sp>
      <p:sp>
        <p:nvSpPr>
          <p:cNvPr id="26" name="Text 24"/>
          <p:cNvSpPr txBox="1"/>
          <p:nvPr/>
        </p:nvSpPr>
        <p:spPr>
          <a:xfrm>
            <a:off x="6949440" y="2057400"/>
            <a:ext cx="4389120" cy="1280160"/>
          </a:xfrm>
          <a:prstGeom prst="rect">
            <a:avLst/>
          </a:prstGeom>
          <a:noFill/>
          <a:ln/>
        </p:spPr>
        <p:txBody>
          <a:bodyPr wrap="square" lIns="0" tIns="0" rIns="0" bIns="0" rtlCol="0" anchor="ctr"/>
          <a:lstStyle/>
          <a:p>
            <a:pPr indent="0" marL="0">
              <a:lnSpc>
                <a:spcPts val="2000"/>
              </a:lnSpc>
              <a:buNone/>
            </a:pPr>
            <a:r>
              <a:rPr lang="en-US" sz="1300" dirty="0">
                <a:solidFill>
                  <a:srgbClr val="FFFFFF"/>
                </a:solidFill>
                <a:latin typeface="Calibri" pitchFamily="34" charset="0"/>
                <a:ea typeface="Calibri" pitchFamily="34" charset="-122"/>
                <a:cs typeface="Calibri" pitchFamily="34" charset="-120"/>
              </a:rPr>
              <a:t>Agree ownership in writing before anyone opens an editor, and require a reviewer from the first pull request rather than the fourth.</a:t>
            </a:r>
            <a:endParaRPr lang="en-US" sz="1300" dirty="0"/>
          </a:p>
        </p:txBody>
      </p:sp>
      <p:sp>
        <p:nvSpPr>
          <p:cNvPr id="27" name="Text 25"/>
          <p:cNvSpPr txBox="1"/>
          <p:nvPr/>
        </p:nvSpPr>
        <p:spPr>
          <a:xfrm>
            <a:off x="6675120" y="3703320"/>
            <a:ext cx="4572000" cy="228600"/>
          </a:xfrm>
          <a:prstGeom prst="rect">
            <a:avLst/>
          </a:prstGeom>
          <a:noFill/>
          <a:ln/>
        </p:spPr>
        <p:txBody>
          <a:bodyPr wrap="square" lIns="0" tIns="0" rIns="0" bIns="0" rtlCol="0" anchor="ctr"/>
          <a:lstStyle/>
          <a:p>
            <a:pPr indent="0" marL="0">
              <a:buNone/>
            </a:pPr>
            <a:r>
              <a:rPr lang="en-US" sz="950" spc="150" kern="0" dirty="0">
                <a:solidFill>
                  <a:srgbClr val="B85042"/>
                </a:solidFill>
                <a:latin typeface="Courier New" pitchFamily="34" charset="0"/>
                <a:ea typeface="Courier New" pitchFamily="34" charset="-122"/>
                <a:cs typeface="Courier New" pitchFamily="34" charset="-120"/>
              </a:rPr>
              <a:t>STILL TO FINISH</a:t>
            </a:r>
            <a:endParaRPr lang="en-US" sz="950" dirty="0"/>
          </a:p>
        </p:txBody>
      </p:sp>
      <p:sp>
        <p:nvSpPr>
          <p:cNvPr id="28" name="Shape 26"/>
          <p:cNvSpPr/>
          <p:nvPr/>
        </p:nvSpPr>
        <p:spPr>
          <a:xfrm>
            <a:off x="6675120" y="4041648"/>
            <a:ext cx="4937760" cy="512064"/>
          </a:xfrm>
          <a:prstGeom prst="roundRect">
            <a:avLst>
              <a:gd name="adj" fmla="val 10714"/>
            </a:avLst>
          </a:prstGeom>
          <a:solidFill>
            <a:srgbClr val="F7EAE6"/>
          </a:solidFill>
          <a:ln w="9525">
            <a:solidFill>
              <a:srgbClr val="D7E2E2"/>
            </a:solidFill>
            <a:prstDash val="solid"/>
          </a:ln>
        </p:spPr>
      </p:sp>
      <p:sp>
        <p:nvSpPr>
          <p:cNvPr id="29" name="Text 27"/>
          <p:cNvSpPr txBox="1"/>
          <p:nvPr/>
        </p:nvSpPr>
        <p:spPr>
          <a:xfrm>
            <a:off x="6931152" y="4160520"/>
            <a:ext cx="1920240" cy="256032"/>
          </a:xfrm>
          <a:prstGeom prst="rect">
            <a:avLst/>
          </a:prstGeom>
          <a:noFill/>
          <a:ln/>
        </p:spPr>
        <p:txBody>
          <a:bodyPr wrap="square" lIns="0" tIns="0" rIns="0" bIns="0" rtlCol="0" anchor="ctr"/>
          <a:lstStyle/>
          <a:p>
            <a:pPr indent="0" marL="0">
              <a:buNone/>
            </a:pPr>
            <a:r>
              <a:rPr lang="en-US" sz="1150" b="1" dirty="0">
                <a:solidFill>
                  <a:srgbClr val="B85042"/>
                </a:solidFill>
                <a:latin typeface="Calibri" pitchFamily="34" charset="0"/>
                <a:ea typeface="Calibri" pitchFamily="34" charset="-122"/>
                <a:cs typeface="Calibri" pitchFamily="34" charset="-120"/>
              </a:rPr>
              <a:t>Benchmark script</a:t>
            </a:r>
            <a:endParaRPr lang="en-US" sz="1150" dirty="0"/>
          </a:p>
        </p:txBody>
      </p:sp>
      <p:sp>
        <p:nvSpPr>
          <p:cNvPr id="30" name="Text 28"/>
          <p:cNvSpPr txBox="1"/>
          <p:nvPr/>
        </p:nvSpPr>
        <p:spPr>
          <a:xfrm>
            <a:off x="8915400" y="4169664"/>
            <a:ext cx="2560320" cy="256032"/>
          </a:xfrm>
          <a:prstGeom prst="rect">
            <a:avLst/>
          </a:prstGeom>
          <a:noFill/>
          <a:ln/>
        </p:spPr>
        <p:txBody>
          <a:bodyPr wrap="square" lIns="0" tIns="0" rIns="0" bIns="0" rtlCol="0" anchor="ctr"/>
          <a:lstStyle/>
          <a:p>
            <a:pPr indent="0" marL="0">
              <a:buNone/>
            </a:pPr>
            <a:r>
              <a:rPr lang="en-US" sz="1050" dirty="0">
                <a:solidFill>
                  <a:srgbClr val="5C6B6E"/>
                </a:solidFill>
                <a:latin typeface="Calibri" pitchFamily="34" charset="0"/>
                <a:ea typeface="Calibri" pitchFamily="34" charset="-122"/>
                <a:cs typeface="Calibri" pitchFamily="34" charset="-120"/>
              </a:rPr>
              <a:t>the results slide depends on it</a:t>
            </a:r>
            <a:endParaRPr lang="en-US" sz="1050" dirty="0"/>
          </a:p>
        </p:txBody>
      </p:sp>
      <p:sp>
        <p:nvSpPr>
          <p:cNvPr id="31" name="Shape 29"/>
          <p:cNvSpPr/>
          <p:nvPr/>
        </p:nvSpPr>
        <p:spPr>
          <a:xfrm>
            <a:off x="6675120" y="4645152"/>
            <a:ext cx="4937760" cy="512064"/>
          </a:xfrm>
          <a:prstGeom prst="roundRect">
            <a:avLst>
              <a:gd name="adj" fmla="val 10714"/>
            </a:avLst>
          </a:prstGeom>
          <a:solidFill>
            <a:srgbClr val="F7EAE6"/>
          </a:solidFill>
          <a:ln w="9525">
            <a:solidFill>
              <a:srgbClr val="D7E2E2"/>
            </a:solidFill>
            <a:prstDash val="solid"/>
          </a:ln>
        </p:spPr>
      </p:sp>
      <p:sp>
        <p:nvSpPr>
          <p:cNvPr id="32" name="Text 30"/>
          <p:cNvSpPr txBox="1"/>
          <p:nvPr/>
        </p:nvSpPr>
        <p:spPr>
          <a:xfrm>
            <a:off x="6931152" y="4764024"/>
            <a:ext cx="1920240" cy="256032"/>
          </a:xfrm>
          <a:prstGeom prst="rect">
            <a:avLst/>
          </a:prstGeom>
          <a:noFill/>
          <a:ln/>
        </p:spPr>
        <p:txBody>
          <a:bodyPr wrap="square" lIns="0" tIns="0" rIns="0" bIns="0" rtlCol="0" anchor="ctr"/>
          <a:lstStyle/>
          <a:p>
            <a:pPr indent="0" marL="0">
              <a:buNone/>
            </a:pPr>
            <a:r>
              <a:rPr lang="en-US" sz="1150" b="1" dirty="0">
                <a:solidFill>
                  <a:srgbClr val="B85042"/>
                </a:solidFill>
                <a:latin typeface="Calibri" pitchFamily="34" charset="0"/>
                <a:ea typeface="Calibri" pitchFamily="34" charset="-122"/>
                <a:cs typeface="Calibri" pitchFamily="34" charset="-120"/>
              </a:rPr>
              <a:t>README</a:t>
            </a:r>
            <a:endParaRPr lang="en-US" sz="1150" dirty="0"/>
          </a:p>
        </p:txBody>
      </p:sp>
      <p:sp>
        <p:nvSpPr>
          <p:cNvPr id="33" name="Text 31"/>
          <p:cNvSpPr txBox="1"/>
          <p:nvPr/>
        </p:nvSpPr>
        <p:spPr>
          <a:xfrm>
            <a:off x="8915400" y="4773168"/>
            <a:ext cx="2560320" cy="256032"/>
          </a:xfrm>
          <a:prstGeom prst="rect">
            <a:avLst/>
          </a:prstGeom>
          <a:noFill/>
          <a:ln/>
        </p:spPr>
        <p:txBody>
          <a:bodyPr wrap="square" lIns="0" tIns="0" rIns="0" bIns="0" rtlCol="0" anchor="ctr"/>
          <a:lstStyle/>
          <a:p>
            <a:pPr indent="0" marL="0">
              <a:buNone/>
            </a:pPr>
            <a:r>
              <a:rPr lang="en-US" sz="1050" dirty="0">
                <a:solidFill>
                  <a:srgbClr val="5C6B6E"/>
                </a:solidFill>
                <a:latin typeface="Calibri" pitchFamily="34" charset="0"/>
                <a:ea typeface="Calibri" pitchFamily="34" charset="-122"/>
                <a:cs typeface="Calibri" pitchFamily="34" charset="-120"/>
              </a:rPr>
              <a:t>currently one line</a:t>
            </a:r>
            <a:endParaRPr lang="en-US" sz="1050" dirty="0"/>
          </a:p>
        </p:txBody>
      </p:sp>
      <p:sp>
        <p:nvSpPr>
          <p:cNvPr id="34" name="Shape 32"/>
          <p:cNvSpPr/>
          <p:nvPr/>
        </p:nvSpPr>
        <p:spPr>
          <a:xfrm>
            <a:off x="6675120" y="5248656"/>
            <a:ext cx="4937760" cy="512064"/>
          </a:xfrm>
          <a:prstGeom prst="roundRect">
            <a:avLst>
              <a:gd name="adj" fmla="val 10714"/>
            </a:avLst>
          </a:prstGeom>
          <a:solidFill>
            <a:srgbClr val="F7EAE6"/>
          </a:solidFill>
          <a:ln w="9525">
            <a:solidFill>
              <a:srgbClr val="D7E2E2"/>
            </a:solidFill>
            <a:prstDash val="solid"/>
          </a:ln>
        </p:spPr>
      </p:sp>
      <p:sp>
        <p:nvSpPr>
          <p:cNvPr id="35" name="Text 33"/>
          <p:cNvSpPr txBox="1"/>
          <p:nvPr/>
        </p:nvSpPr>
        <p:spPr>
          <a:xfrm>
            <a:off x="6931152" y="5367528"/>
            <a:ext cx="1920240" cy="256032"/>
          </a:xfrm>
          <a:prstGeom prst="rect">
            <a:avLst/>
          </a:prstGeom>
          <a:noFill/>
          <a:ln/>
        </p:spPr>
        <p:txBody>
          <a:bodyPr wrap="square" lIns="0" tIns="0" rIns="0" bIns="0" rtlCol="0" anchor="ctr"/>
          <a:lstStyle/>
          <a:p>
            <a:pPr indent="0" marL="0">
              <a:buNone/>
            </a:pPr>
            <a:r>
              <a:rPr lang="en-US" sz="1150" b="1" dirty="0">
                <a:solidFill>
                  <a:srgbClr val="B85042"/>
                </a:solidFill>
                <a:latin typeface="Calibri" pitchFamily="34" charset="0"/>
                <a:ea typeface="Calibri" pitchFamily="34" charset="-122"/>
                <a:cs typeface="Calibri" pitchFamily="34" charset="-120"/>
              </a:rPr>
              <a:t>respx suite</a:t>
            </a:r>
            <a:endParaRPr lang="en-US" sz="1150" dirty="0"/>
          </a:p>
        </p:txBody>
      </p:sp>
      <p:sp>
        <p:nvSpPr>
          <p:cNvPr id="36" name="Text 34"/>
          <p:cNvSpPr txBox="1"/>
          <p:nvPr/>
        </p:nvSpPr>
        <p:spPr>
          <a:xfrm>
            <a:off x="8915400" y="5376672"/>
            <a:ext cx="2560320" cy="256032"/>
          </a:xfrm>
          <a:prstGeom prst="rect">
            <a:avLst/>
          </a:prstGeom>
          <a:noFill/>
          <a:ln/>
        </p:spPr>
        <p:txBody>
          <a:bodyPr wrap="square" lIns="0" tIns="0" rIns="0" bIns="0" rtlCol="0" anchor="ctr"/>
          <a:lstStyle/>
          <a:p>
            <a:pPr indent="0" marL="0">
              <a:buNone/>
            </a:pPr>
            <a:r>
              <a:rPr lang="en-US" sz="1050" dirty="0">
                <a:solidFill>
                  <a:srgbClr val="5C6B6E"/>
                </a:solidFill>
                <a:latin typeface="Calibri" pitchFamily="34" charset="0"/>
                <a:ea typeface="Calibri" pitchFamily="34" charset="-122"/>
                <a:cs typeface="Calibri" pitchFamily="34" charset="-120"/>
              </a:rPr>
              <a:t>installed, not yet used</a:t>
            </a:r>
            <a:endParaRPr lang="en-US" sz="1050" dirty="0"/>
          </a:p>
        </p:txBody>
      </p:sp>
      <p:sp>
        <p:nvSpPr>
          <p:cNvPr id="37" name="Shape 35"/>
          <p:cNvSpPr/>
          <p:nvPr/>
        </p:nvSpPr>
        <p:spPr>
          <a:xfrm>
            <a:off x="6675120" y="5852160"/>
            <a:ext cx="4937760" cy="512064"/>
          </a:xfrm>
          <a:prstGeom prst="roundRect">
            <a:avLst>
              <a:gd name="adj" fmla="val 10714"/>
            </a:avLst>
          </a:prstGeom>
          <a:solidFill>
            <a:srgbClr val="F7EAE6"/>
          </a:solidFill>
          <a:ln w="9525">
            <a:solidFill>
              <a:srgbClr val="D7E2E2"/>
            </a:solidFill>
            <a:prstDash val="solid"/>
          </a:ln>
        </p:spPr>
      </p:sp>
      <p:sp>
        <p:nvSpPr>
          <p:cNvPr id="38" name="Text 36"/>
          <p:cNvSpPr txBox="1"/>
          <p:nvPr/>
        </p:nvSpPr>
        <p:spPr>
          <a:xfrm>
            <a:off x="6931152" y="5971032"/>
            <a:ext cx="1920240" cy="256032"/>
          </a:xfrm>
          <a:prstGeom prst="rect">
            <a:avLst/>
          </a:prstGeom>
          <a:noFill/>
          <a:ln/>
        </p:spPr>
        <p:txBody>
          <a:bodyPr wrap="square" lIns="0" tIns="0" rIns="0" bIns="0" rtlCol="0" anchor="ctr"/>
          <a:lstStyle/>
          <a:p>
            <a:pPr indent="0" marL="0">
              <a:buNone/>
            </a:pPr>
            <a:r>
              <a:rPr lang="en-US" sz="1150" b="1" dirty="0">
                <a:solidFill>
                  <a:srgbClr val="B85042"/>
                </a:solidFill>
                <a:latin typeface="Calibri" pitchFamily="34" charset="0"/>
                <a:ea typeface="Calibri" pitchFamily="34" charset="-122"/>
                <a:cs typeface="Calibri" pitchFamily="34" charset="-120"/>
              </a:rPr>
              <a:t>Docker CMD</a:t>
            </a:r>
            <a:endParaRPr lang="en-US" sz="1150" dirty="0"/>
          </a:p>
        </p:txBody>
      </p:sp>
      <p:sp>
        <p:nvSpPr>
          <p:cNvPr id="39" name="Text 37"/>
          <p:cNvSpPr txBox="1"/>
          <p:nvPr/>
        </p:nvSpPr>
        <p:spPr>
          <a:xfrm>
            <a:off x="8915400" y="5980176"/>
            <a:ext cx="2560320" cy="256032"/>
          </a:xfrm>
          <a:prstGeom prst="rect">
            <a:avLst/>
          </a:prstGeom>
          <a:noFill/>
          <a:ln/>
        </p:spPr>
        <p:txBody>
          <a:bodyPr wrap="square" lIns="0" tIns="0" rIns="0" bIns="0" rtlCol="0" anchor="ctr"/>
          <a:lstStyle/>
          <a:p>
            <a:pPr indent="0" marL="0">
              <a:buNone/>
            </a:pPr>
            <a:r>
              <a:rPr lang="en-US" sz="1050" dirty="0">
                <a:solidFill>
                  <a:srgbClr val="5C6B6E"/>
                </a:solidFill>
                <a:latin typeface="Calibri" pitchFamily="34" charset="0"/>
                <a:ea typeface="Calibri" pitchFamily="34" charset="-122"/>
                <a:cs typeface="Calibri" pitchFamily="34" charset="-120"/>
              </a:rPr>
              <a:t>runs pytest, not the CLI end to end</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262B"/>
        </a:solidFill>
      </p:bgPr>
    </p:bg>
    <p:spTree>
      <p:nvGrpSpPr>
        <p:cNvPr id="1" name=""/>
        <p:cNvGrpSpPr/>
        <p:nvPr/>
      </p:nvGrpSpPr>
      <p:grpSpPr>
        <a:xfrm>
          <a:off x="0" y="0"/>
          <a:ext cx="0" cy="0"/>
          <a:chOff x="0" y="0"/>
          <a:chExt cx="0" cy="0"/>
        </a:xfrm>
      </p:grpSpPr>
      <p:sp>
        <p:nvSpPr>
          <p:cNvPr id="2" name="Text 0"/>
          <p:cNvSpPr txBox="1"/>
          <p:nvPr/>
        </p:nvSpPr>
        <p:spPr>
          <a:xfrm>
            <a:off x="566928" y="1463040"/>
            <a:ext cx="10058400" cy="274320"/>
          </a:xfrm>
          <a:prstGeom prst="rect">
            <a:avLst/>
          </a:prstGeom>
          <a:noFill/>
          <a:ln/>
        </p:spPr>
        <p:txBody>
          <a:bodyPr wrap="square" lIns="0" tIns="0" rIns="0" bIns="0" rtlCol="0" anchor="ctr"/>
          <a:lstStyle/>
          <a:p>
            <a:pPr indent="0" marL="0">
              <a:buNone/>
            </a:pPr>
            <a:r>
              <a:rPr lang="en-US" sz="1100" spc="200" kern="0" dirty="0">
                <a:solidFill>
                  <a:srgbClr val="02C39A"/>
                </a:solidFill>
                <a:latin typeface="Courier New" pitchFamily="34" charset="0"/>
                <a:ea typeface="Courier New" pitchFamily="34" charset="-122"/>
                <a:cs typeface="Courier New" pitchFamily="34" charset="-120"/>
              </a:rPr>
              <a:t>WHERE WE STAND</a:t>
            </a:r>
            <a:endParaRPr lang="en-US" sz="1100" dirty="0"/>
          </a:p>
        </p:txBody>
      </p:sp>
      <p:sp>
        <p:nvSpPr>
          <p:cNvPr id="3" name="Text 1"/>
          <p:cNvSpPr txBox="1"/>
          <p:nvPr/>
        </p:nvSpPr>
        <p:spPr>
          <a:xfrm>
            <a:off x="566928" y="1828800"/>
            <a:ext cx="1060704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It runs, end to end.</a:t>
            </a:r>
            <a:endParaRPr lang="en-US" sz="4400" dirty="0"/>
          </a:p>
        </p:txBody>
      </p:sp>
      <p:sp>
        <p:nvSpPr>
          <p:cNvPr id="4" name="Text 2"/>
          <p:cNvSpPr txBox="1"/>
          <p:nvPr/>
        </p:nvSpPr>
        <p:spPr>
          <a:xfrm>
            <a:off x="566928" y="2697480"/>
            <a:ext cx="10607040" cy="365760"/>
          </a:xfrm>
          <a:prstGeom prst="rect">
            <a:avLst/>
          </a:prstGeom>
          <a:noFill/>
          <a:ln/>
        </p:spPr>
        <p:txBody>
          <a:bodyPr wrap="square" lIns="0" tIns="0" rIns="0" bIns="0" rtlCol="0" anchor="ctr"/>
          <a:lstStyle/>
          <a:p>
            <a:pPr indent="0" marL="0">
              <a:buNone/>
            </a:pPr>
            <a:r>
              <a:rPr lang="en-US" sz="1300" dirty="0">
                <a:solidFill>
                  <a:srgbClr val="9FBCBC"/>
                </a:solidFill>
                <a:latin typeface="Courier New" pitchFamily="34" charset="0"/>
                <a:ea typeface="Courier New" pitchFamily="34" charset="-122"/>
                <a:cs typeface="Courier New" pitchFamily="34" charset="-120"/>
              </a:rPr>
              <a:t>python -m researcher ask "What is photosynthesis?"  →  a cited answer, with any dead source named</a:t>
            </a:r>
            <a:endParaRPr lang="en-US" sz="1300" dirty="0"/>
          </a:p>
        </p:txBody>
      </p:sp>
      <p:sp>
        <p:nvSpPr>
          <p:cNvPr id="5" name="Shape 3"/>
          <p:cNvSpPr/>
          <p:nvPr/>
        </p:nvSpPr>
        <p:spPr>
          <a:xfrm>
            <a:off x="566928" y="3429000"/>
            <a:ext cx="2606040" cy="1143000"/>
          </a:xfrm>
          <a:prstGeom prst="roundRect">
            <a:avLst>
              <a:gd name="adj" fmla="val 4800"/>
            </a:avLst>
          </a:prstGeom>
          <a:solidFill>
            <a:srgbClr val="17343C"/>
          </a:solidFill>
          <a:ln w="9525">
            <a:solidFill>
              <a:srgbClr val="2A4A53"/>
            </a:solidFill>
            <a:prstDash val="solid"/>
          </a:ln>
        </p:spPr>
      </p:sp>
      <p:sp>
        <p:nvSpPr>
          <p:cNvPr id="6" name="Text 4"/>
          <p:cNvSpPr txBox="1"/>
          <p:nvPr/>
        </p:nvSpPr>
        <p:spPr>
          <a:xfrm>
            <a:off x="795528" y="3566160"/>
            <a:ext cx="2194560" cy="566928"/>
          </a:xfrm>
          <a:prstGeom prst="rect">
            <a:avLst/>
          </a:prstGeom>
          <a:noFill/>
          <a:ln/>
        </p:spPr>
        <p:txBody>
          <a:bodyPr wrap="square" lIns="0" tIns="0" rIns="0" bIns="0" rtlCol="0" anchor="ctr"/>
          <a:lstStyle/>
          <a:p>
            <a:pPr indent="0" marL="0">
              <a:buNone/>
            </a:pPr>
            <a:r>
              <a:rPr lang="en-US" sz="3200" b="1" dirty="0">
                <a:solidFill>
                  <a:srgbClr val="02C39A"/>
                </a:solidFill>
                <a:latin typeface="Cambria" pitchFamily="34" charset="0"/>
                <a:ea typeface="Cambria" pitchFamily="34" charset="-122"/>
                <a:cs typeface="Cambria" pitchFamily="34" charset="-120"/>
              </a:rPr>
              <a:t>139</a:t>
            </a:r>
            <a:endParaRPr lang="en-US" sz="3200" dirty="0"/>
          </a:p>
        </p:txBody>
      </p:sp>
      <p:sp>
        <p:nvSpPr>
          <p:cNvPr id="7" name="Text 5"/>
          <p:cNvSpPr txBox="1"/>
          <p:nvPr/>
        </p:nvSpPr>
        <p:spPr>
          <a:xfrm>
            <a:off x="822960" y="4160520"/>
            <a:ext cx="2194560" cy="274320"/>
          </a:xfrm>
          <a:prstGeom prst="rect">
            <a:avLst/>
          </a:prstGeom>
          <a:noFill/>
          <a:ln/>
        </p:spPr>
        <p:txBody>
          <a:bodyPr wrap="square" lIns="0" tIns="0" rIns="0" bIns="0" rtlCol="0" anchor="ctr"/>
          <a:lstStyle/>
          <a:p>
            <a:pPr indent="0" marL="0">
              <a:buNone/>
            </a:pPr>
            <a:r>
              <a:rPr lang="en-US" sz="1150" dirty="0">
                <a:solidFill>
                  <a:srgbClr val="BBD4D4"/>
                </a:solidFill>
                <a:latin typeface="Calibri" pitchFamily="34" charset="0"/>
                <a:ea typeface="Calibri" pitchFamily="34" charset="-122"/>
                <a:cs typeface="Calibri" pitchFamily="34" charset="-120"/>
              </a:rPr>
              <a:t>tests offline</a:t>
            </a:r>
            <a:endParaRPr lang="en-US" sz="1150" dirty="0"/>
          </a:p>
        </p:txBody>
      </p:sp>
      <p:sp>
        <p:nvSpPr>
          <p:cNvPr id="8" name="Shape 6"/>
          <p:cNvSpPr/>
          <p:nvPr/>
        </p:nvSpPr>
        <p:spPr>
          <a:xfrm>
            <a:off x="3355848" y="3429000"/>
            <a:ext cx="2606040" cy="1143000"/>
          </a:xfrm>
          <a:prstGeom prst="roundRect">
            <a:avLst>
              <a:gd name="adj" fmla="val 4800"/>
            </a:avLst>
          </a:prstGeom>
          <a:solidFill>
            <a:srgbClr val="17343C"/>
          </a:solidFill>
          <a:ln w="9525">
            <a:solidFill>
              <a:srgbClr val="2A4A53"/>
            </a:solidFill>
            <a:prstDash val="solid"/>
          </a:ln>
        </p:spPr>
      </p:sp>
      <p:sp>
        <p:nvSpPr>
          <p:cNvPr id="9" name="Text 7"/>
          <p:cNvSpPr txBox="1"/>
          <p:nvPr/>
        </p:nvSpPr>
        <p:spPr>
          <a:xfrm>
            <a:off x="3584448" y="3566160"/>
            <a:ext cx="2194560" cy="566928"/>
          </a:xfrm>
          <a:prstGeom prst="rect">
            <a:avLst/>
          </a:prstGeom>
          <a:noFill/>
          <a:ln/>
        </p:spPr>
        <p:txBody>
          <a:bodyPr wrap="square" lIns="0" tIns="0" rIns="0" bIns="0" rtlCol="0" anchor="ctr"/>
          <a:lstStyle/>
          <a:p>
            <a:pPr indent="0" marL="0">
              <a:buNone/>
            </a:pPr>
            <a:r>
              <a:rPr lang="en-US" sz="3200" b="1" dirty="0">
                <a:solidFill>
                  <a:srgbClr val="02C39A"/>
                </a:solidFill>
                <a:latin typeface="Cambria" pitchFamily="34" charset="0"/>
                <a:ea typeface="Cambria" pitchFamily="34" charset="-122"/>
                <a:cs typeface="Cambria" pitchFamily="34" charset="-120"/>
              </a:rPr>
              <a:t>96%</a:t>
            </a:r>
            <a:endParaRPr lang="en-US" sz="3200" dirty="0"/>
          </a:p>
        </p:txBody>
      </p:sp>
      <p:sp>
        <p:nvSpPr>
          <p:cNvPr id="10" name="Text 8"/>
          <p:cNvSpPr txBox="1"/>
          <p:nvPr/>
        </p:nvSpPr>
        <p:spPr>
          <a:xfrm>
            <a:off x="3611880" y="4160520"/>
            <a:ext cx="2194560" cy="274320"/>
          </a:xfrm>
          <a:prstGeom prst="rect">
            <a:avLst/>
          </a:prstGeom>
          <a:noFill/>
          <a:ln/>
        </p:spPr>
        <p:txBody>
          <a:bodyPr wrap="square" lIns="0" tIns="0" rIns="0" bIns="0" rtlCol="0" anchor="ctr"/>
          <a:lstStyle/>
          <a:p>
            <a:pPr indent="0" marL="0">
              <a:buNone/>
            </a:pPr>
            <a:r>
              <a:rPr lang="en-US" sz="1150" dirty="0">
                <a:solidFill>
                  <a:srgbClr val="BBD4D4"/>
                </a:solidFill>
                <a:latin typeface="Calibri" pitchFamily="34" charset="0"/>
                <a:ea typeface="Calibri" pitchFamily="34" charset="-122"/>
                <a:cs typeface="Calibri" pitchFamily="34" charset="-120"/>
              </a:rPr>
              <a:t>coverage</a:t>
            </a:r>
            <a:endParaRPr lang="en-US" sz="1150" dirty="0"/>
          </a:p>
        </p:txBody>
      </p:sp>
      <p:sp>
        <p:nvSpPr>
          <p:cNvPr id="11" name="Shape 9"/>
          <p:cNvSpPr/>
          <p:nvPr/>
        </p:nvSpPr>
        <p:spPr>
          <a:xfrm>
            <a:off x="6144768" y="3429000"/>
            <a:ext cx="2606040" cy="1143000"/>
          </a:xfrm>
          <a:prstGeom prst="roundRect">
            <a:avLst>
              <a:gd name="adj" fmla="val 4800"/>
            </a:avLst>
          </a:prstGeom>
          <a:solidFill>
            <a:srgbClr val="17343C"/>
          </a:solidFill>
          <a:ln w="9525">
            <a:solidFill>
              <a:srgbClr val="2A4A53"/>
            </a:solidFill>
            <a:prstDash val="solid"/>
          </a:ln>
        </p:spPr>
      </p:sp>
      <p:sp>
        <p:nvSpPr>
          <p:cNvPr id="12" name="Text 10"/>
          <p:cNvSpPr txBox="1"/>
          <p:nvPr/>
        </p:nvSpPr>
        <p:spPr>
          <a:xfrm>
            <a:off x="6373368" y="3566160"/>
            <a:ext cx="2194560" cy="566928"/>
          </a:xfrm>
          <a:prstGeom prst="rect">
            <a:avLst/>
          </a:prstGeom>
          <a:noFill/>
          <a:ln/>
        </p:spPr>
        <p:txBody>
          <a:bodyPr wrap="square" lIns="0" tIns="0" rIns="0" bIns="0" rtlCol="0" anchor="ctr"/>
          <a:lstStyle/>
          <a:p>
            <a:pPr indent="0" marL="0">
              <a:buNone/>
            </a:pPr>
            <a:r>
              <a:rPr lang="en-US" sz="3200" b="1" dirty="0">
                <a:solidFill>
                  <a:srgbClr val="02C39A"/>
                </a:solidFill>
                <a:latin typeface="Cambria" pitchFamily="34" charset="0"/>
                <a:ea typeface="Cambria" pitchFamily="34" charset="-122"/>
                <a:cs typeface="Cambria" pitchFamily="34" charset="-120"/>
              </a:rPr>
              <a:t>11</a:t>
            </a:r>
            <a:endParaRPr lang="en-US" sz="3200" dirty="0"/>
          </a:p>
        </p:txBody>
      </p:sp>
      <p:sp>
        <p:nvSpPr>
          <p:cNvPr id="13" name="Text 11"/>
          <p:cNvSpPr txBox="1"/>
          <p:nvPr/>
        </p:nvSpPr>
        <p:spPr>
          <a:xfrm>
            <a:off x="6400800" y="4160520"/>
            <a:ext cx="2194560" cy="274320"/>
          </a:xfrm>
          <a:prstGeom prst="rect">
            <a:avLst/>
          </a:prstGeom>
          <a:noFill/>
          <a:ln/>
        </p:spPr>
        <p:txBody>
          <a:bodyPr wrap="square" lIns="0" tIns="0" rIns="0" bIns="0" rtlCol="0" anchor="ctr"/>
          <a:lstStyle/>
          <a:p>
            <a:pPr indent="0" marL="0">
              <a:buNone/>
            </a:pPr>
            <a:r>
              <a:rPr lang="en-US" sz="1150" dirty="0">
                <a:solidFill>
                  <a:srgbClr val="BBD4D4"/>
                </a:solidFill>
                <a:latin typeface="Calibri" pitchFamily="34" charset="0"/>
                <a:ea typeface="Calibri" pitchFamily="34" charset="-122"/>
                <a:cs typeface="Calibri" pitchFamily="34" charset="-120"/>
              </a:rPr>
              <a:t>pull requests</a:t>
            </a:r>
            <a:endParaRPr lang="en-US" sz="1150" dirty="0"/>
          </a:p>
        </p:txBody>
      </p:sp>
      <p:sp>
        <p:nvSpPr>
          <p:cNvPr id="14" name="Shape 12"/>
          <p:cNvSpPr/>
          <p:nvPr/>
        </p:nvSpPr>
        <p:spPr>
          <a:xfrm>
            <a:off x="8933688" y="3429000"/>
            <a:ext cx="2606040" cy="1143000"/>
          </a:xfrm>
          <a:prstGeom prst="roundRect">
            <a:avLst>
              <a:gd name="adj" fmla="val 4800"/>
            </a:avLst>
          </a:prstGeom>
          <a:solidFill>
            <a:srgbClr val="17343C"/>
          </a:solidFill>
          <a:ln w="9525">
            <a:solidFill>
              <a:srgbClr val="2A4A53"/>
            </a:solidFill>
            <a:prstDash val="solid"/>
          </a:ln>
        </p:spPr>
      </p:sp>
      <p:sp>
        <p:nvSpPr>
          <p:cNvPr id="15" name="Text 13"/>
          <p:cNvSpPr txBox="1"/>
          <p:nvPr/>
        </p:nvSpPr>
        <p:spPr>
          <a:xfrm>
            <a:off x="9162288" y="3566160"/>
            <a:ext cx="2194560" cy="566928"/>
          </a:xfrm>
          <a:prstGeom prst="rect">
            <a:avLst/>
          </a:prstGeom>
          <a:noFill/>
          <a:ln/>
        </p:spPr>
        <p:txBody>
          <a:bodyPr wrap="square" lIns="0" tIns="0" rIns="0" bIns="0" rtlCol="0" anchor="ctr"/>
          <a:lstStyle/>
          <a:p>
            <a:pPr indent="0" marL="0">
              <a:buNone/>
            </a:pPr>
            <a:r>
              <a:rPr lang="en-US" sz="3200" b="1" dirty="0">
                <a:solidFill>
                  <a:srgbClr val="02C39A"/>
                </a:solidFill>
                <a:latin typeface="Cambria" pitchFamily="34" charset="0"/>
                <a:ea typeface="Cambria" pitchFamily="34" charset="-122"/>
                <a:cs typeface="Cambria" pitchFamily="34" charset="-120"/>
              </a:rPr>
              <a:t>39</a:t>
            </a:r>
            <a:endParaRPr lang="en-US" sz="3200" dirty="0"/>
          </a:p>
        </p:txBody>
      </p:sp>
      <p:sp>
        <p:nvSpPr>
          <p:cNvPr id="16" name="Text 14"/>
          <p:cNvSpPr txBox="1"/>
          <p:nvPr/>
        </p:nvSpPr>
        <p:spPr>
          <a:xfrm>
            <a:off x="9189720" y="4160520"/>
            <a:ext cx="2194560" cy="274320"/>
          </a:xfrm>
          <a:prstGeom prst="rect">
            <a:avLst/>
          </a:prstGeom>
          <a:noFill/>
          <a:ln/>
        </p:spPr>
        <p:txBody>
          <a:bodyPr wrap="square" lIns="0" tIns="0" rIns="0" bIns="0" rtlCol="0" anchor="ctr"/>
          <a:lstStyle/>
          <a:p>
            <a:pPr indent="0" marL="0">
              <a:buNone/>
            </a:pPr>
            <a:r>
              <a:rPr lang="en-US" sz="1150" dirty="0">
                <a:solidFill>
                  <a:srgbClr val="BBD4D4"/>
                </a:solidFill>
                <a:latin typeface="Calibri" pitchFamily="34" charset="0"/>
                <a:ea typeface="Calibri" pitchFamily="34" charset="-122"/>
                <a:cs typeface="Calibri" pitchFamily="34" charset="-120"/>
              </a:rPr>
              <a:t>commits</a:t>
            </a:r>
            <a:endParaRPr lang="en-US" sz="1150" dirty="0"/>
          </a:p>
        </p:txBody>
      </p:sp>
      <p:sp>
        <p:nvSpPr>
          <p:cNvPr id="17" name="Text 15"/>
          <p:cNvSpPr txBox="1"/>
          <p:nvPr/>
        </p:nvSpPr>
        <p:spPr>
          <a:xfrm>
            <a:off x="566928" y="5029200"/>
            <a:ext cx="54864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Questions</a:t>
            </a:r>
            <a:endParaRPr lang="en-US" sz="3000" dirty="0"/>
          </a:p>
        </p:txBody>
      </p:sp>
      <p:sp>
        <p:nvSpPr>
          <p:cNvPr id="18" name="Text 16"/>
          <p:cNvSpPr txBox="1"/>
          <p:nvPr/>
        </p:nvSpPr>
        <p:spPr>
          <a:xfrm>
            <a:off x="566928" y="5715000"/>
            <a:ext cx="10607040" cy="320040"/>
          </a:xfrm>
          <a:prstGeom prst="rect">
            <a:avLst/>
          </a:prstGeom>
          <a:noFill/>
          <a:ln/>
        </p:spPr>
        <p:txBody>
          <a:bodyPr wrap="square" lIns="0" tIns="0" rIns="0" bIns="0" rtlCol="0" anchor="ctr"/>
          <a:lstStyle/>
          <a:p>
            <a:pPr indent="0" marL="0">
              <a:buNone/>
            </a:pPr>
            <a:r>
              <a:rPr lang="en-US" sz="1300" dirty="0">
                <a:solidFill>
                  <a:srgbClr val="7FA0A0"/>
                </a:solidFill>
                <a:latin typeface="Calibri" pitchFamily="34" charset="0"/>
                <a:ea typeface="Calibri" pitchFamily="34" charset="-122"/>
                <a:cs typeface="Calibri" pitchFamily="34" charset="-120"/>
              </a:rPr>
              <a:t>Nigar Alimammadova   ·   Sahib Aliyev   ·   Farid Dilaverli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Async Research Assistant</dc:title>
  <dc:subject>PptxGenJS Presentation</dc:subject>
  <dc:creator>Team Researches</dc:creator>
  <cp:lastModifiedBy>Team Researches</cp:lastModifiedBy>
  <cp:revision>1</cp:revision>
  <dcterms:created xsi:type="dcterms:W3CDTF">2026-09-18T15:34:06Z</dcterms:created>
  <dcterms:modified xsi:type="dcterms:W3CDTF">2026-09-18T15:34:06Z</dcterms:modified>
</cp:coreProperties>
</file>